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61" r:id="rId4"/>
    <p:sldId id="266" r:id="rId5"/>
    <p:sldId id="267" r:id="rId6"/>
    <p:sldId id="299" r:id="rId7"/>
    <p:sldId id="305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7" r:id="rId16"/>
    <p:sldId id="278" r:id="rId17"/>
    <p:sldId id="279" r:id="rId18"/>
    <p:sldId id="280" r:id="rId19"/>
    <p:sldId id="281" r:id="rId20"/>
    <p:sldId id="285" r:id="rId21"/>
    <p:sldId id="297" r:id="rId22"/>
    <p:sldId id="298" r:id="rId23"/>
    <p:sldId id="258" r:id="rId24"/>
    <p:sldId id="259" r:id="rId25"/>
    <p:sldId id="295" r:id="rId26"/>
    <p:sldId id="296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832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1강. 코드 실습 없음. 환경 점검만 진행. 완성품 시연으로 목표 결과물을 먼저 보여주고, 장문맥 슬라이드에서 '일정 규모 이하면 전체를 넣어도 된다'는 점을 먼저 인정해야 이후 설명의 신뢰가 유지됨.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환경 점검 결과는 2강 시작 때 거수로 확인. 실패자는 cp1.zip으로 폴더 교체 후 재실행.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개념 정의와 이 강의의 형태가 다르다는 점을 한 문장으로 짚고 넘어갈 것: 원 논문은 모델 학습 방식, 지금의 RAG는 프롬프트 구성.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RAG 전체 흐름. 이후 슬라이드에서 ①~⑥을 단계별로 설명함. 준비 단계는 2강, 질문 단계는 3강에서 구현.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R·A·G와 단계의 대응 정리. 가운데 상자(앞 단계의 손실은 뒤에서 복구되지 않음)를 짚은 뒤 다음 장(2023년식 vs 2026년식)으로 연결.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청중이 이미 아는 경험(논문 100편에서 근거 찾기)에서 출발. 세 번째 이유(출처)를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대비가 6편 전체를 관통하는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편의 중심 슬라이드. '일정 규모 이하면 전체를 넣어도 된다'를 먼저 인정하는 것이 강의 신뢰도의 출발점. 2024년 20만 토큰 기준은 현재 모델의 컨텍스트 확대로 느슨해졌지만, 비용·지연·정확도 문제는 그대로임.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2025~26년에 '벡터 DB 없이 grep으로 충분하다'는 주장이 코딩 에이전트 사례로 널리 퍼짐. 논문 코퍼스는 구조가 없고 규모가 커지므로 색인 검색이 필요하지만, 검색을 도구로 노출하는 방식은 그대로 가져옴.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첫 구축과 내부 동작 이해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852160" y="2651760"/>
            <a:ext cx="50292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8346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RAG 기술 현황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r>
              <a:rPr lang="en-US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개념과 </a:t>
            </a:r>
            <a:r>
              <a:rPr lang="en-US" altLang="ko-KR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</a:t>
            </a:r>
            <a:r>
              <a:rPr lang="en-US" altLang="ko-KR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r>
              <a:rPr lang="en-US" altLang="ko-KR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알아보기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1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979295" y="598932"/>
            <a:ext cx="938944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시작 전 준비 사항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148072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93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강의자료 다운로드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88336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신청 시 등록한 개인 이메일로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148072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993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 설치 · 로그인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37376" y="2688336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구글에서 'claude desktop download' 검색 후 다운로드 및 설치. 유료 계정 로그인 필수.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48F309CD-D81F-6709-9B56-2D8954DD5DB1}"/>
              </a:ext>
            </a:extLst>
          </p:cNvPr>
          <p:cNvSpPr/>
          <p:nvPr/>
        </p:nvSpPr>
        <p:spPr>
          <a:xfrm>
            <a:off x="822960" y="4351867"/>
            <a:ext cx="5148072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59A945DD-EE53-0789-9224-3B42297E267B}"/>
              </a:ext>
            </a:extLst>
          </p:cNvPr>
          <p:cNvSpPr/>
          <p:nvPr/>
        </p:nvSpPr>
        <p:spPr>
          <a:xfrm>
            <a:off x="1042416" y="4516459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</a:t>
            </a: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58B43D7-806E-D94F-E5FC-F980ED79F8AE}"/>
              </a:ext>
            </a:extLst>
          </p:cNvPr>
          <p:cNvSpPr/>
          <p:nvPr/>
        </p:nvSpPr>
        <p:spPr>
          <a:xfrm>
            <a:off x="1042416" y="4827355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</a:t>
            </a: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설치 및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CLI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96BDE347-A6A9-4BF7-04CA-9D08BF0AA1C0}"/>
              </a:ext>
            </a:extLst>
          </p:cNvPr>
          <p:cNvSpPr/>
          <p:nvPr/>
        </p:nvSpPr>
        <p:spPr>
          <a:xfrm>
            <a:off x="1042416" y="5211403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CLI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 익숙하지 않은 분들을 위해 같이 설치 예정</a:t>
            </a:r>
            <a:endParaRPr lang="en-US" altLang="ko-KR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실습자료 폴더에서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CMD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후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후 로그인</a:t>
            </a:r>
            <a:endParaRPr lang="ko-KR" altLang="en-US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프롬프트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</a:t>
            </a:r>
            <a:r>
              <a:rPr lang="en-US" sz="15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탭에</a:t>
            </a:r>
            <a:r>
              <a:rPr lang="ko-KR" alt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</a:t>
            </a:r>
            <a:r>
              <a:rPr lang="en-US" altLang="ko-KR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paper-rag/ </a:t>
            </a:r>
            <a:r>
              <a:rPr lang="ko-KR" alt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지정하고 </a:t>
            </a:r>
            <a:r>
              <a:rPr lang="en-US" sz="15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</a:t>
            </a:r>
            <a:r>
              <a:rPr 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</a:t>
            </a:r>
            <a:r>
              <a:rPr 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붙여넣기</a:t>
            </a:r>
            <a:r>
              <a:rPr 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– ctrl + shift + v    </a:t>
            </a:r>
            <a:r>
              <a:rPr lang="en-US" altLang="ko-KR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10~15</a:t>
            </a:r>
            <a:r>
              <a:rPr lang="ko-KR" alt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 소요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45775" cy="518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667934"/>
            <a:ext cx="9905695" cy="5113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paper-rag/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pyproject.toml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uv.lock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.python-version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있어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순서대로 </a:t>
            </a:r>
            <a:r>
              <a:rPr lang="ko-KR" alt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환경세팅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진행해</a:t>
            </a:r>
            <a:endParaRPr lang="en-US" altLang="ko-KR" sz="105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spcAft>
                <a:spcPts val="800"/>
              </a:spcAft>
            </a:pP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</a:p>
          <a:p>
            <a:pPr>
              <a:spcAft>
                <a:spcPts val="800"/>
              </a:spcAft>
            </a:pP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--version`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공식 설치 스크립트로 설치하고 새 터미널에서 인식되는지 확인해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macOS/Linux: curl -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LsSf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https://astral.sh/uv/install.sh | 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Windows:     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powershell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-c "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irm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https://astral.sh/uv/install.ps1 | 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iex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</a:p>
          <a:p>
            <a:pPr>
              <a:spcAft>
                <a:spcPts val="800"/>
              </a:spcAft>
            </a:pP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환경 구성</a:t>
            </a:r>
          </a:p>
          <a:p>
            <a:pPr>
              <a:spcAft>
                <a:spcPts val="800"/>
              </a:spcAft>
            </a:pP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paper-rag/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sync --locked`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 Python 3.14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없으면 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자동으로 받음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pyproject.toml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uv.lock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수정하지 마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다운로드</a:t>
            </a:r>
            <a:endParaRPr lang="en-US" altLang="ko-KR" sz="105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spcAft>
                <a:spcPts val="800"/>
              </a:spcAft>
            </a:pP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아래 두 명령을 하나씩 순서대로 실행해. 각각 수 분~수십 분 걸리니 타임아웃을 최대로 잡고, 중간에 끊기면 같은 명령을 다시 실행해 (이어받기 됨). 둘 다 끝난 뒤 다음 단계로 넘어가.</a:t>
            </a:r>
          </a:p>
          <a:p>
            <a:pPr>
              <a:spcAft>
                <a:spcPts val="800"/>
              </a:spcAft>
            </a:pP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uv run hf download intfloat/multilingual-e5-small</a:t>
            </a:r>
          </a:p>
          <a:p>
            <a:pPr>
              <a:spcAft>
                <a:spcPts val="800"/>
              </a:spcAft>
            </a:pP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uv run hf download BAAI/bge-reranker-v2-m3</a:t>
            </a:r>
          </a:p>
          <a:p>
            <a:pPr>
              <a:spcAft>
                <a:spcPts val="800"/>
              </a:spcAft>
            </a:pP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로드 확인</a:t>
            </a:r>
          </a:p>
          <a:p>
            <a:pPr>
              <a:spcAft>
                <a:spcPts val="800"/>
              </a:spcAft>
            </a:pP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uv run python -c "from sentence_transformers import SentenceTransformer, CrossEncoder; SentenceTransformer('intfloat/multilingual-e5-small'); CrossEncoder('BAAI/bge-reranker-v2-m3'); print('MODELS CACHED')"</a:t>
            </a:r>
          </a:p>
          <a:p>
            <a:pPr>
              <a:spcAft>
                <a:spcPts val="800"/>
              </a:spcAft>
            </a:pP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점검 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아래를 실행하고 전체 출력을 보여줘</a:t>
            </a:r>
          </a:p>
          <a:p>
            <a:pPr>
              <a:spcAft>
                <a:spcPts val="800"/>
              </a:spcAft>
            </a:pP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run python -c "import sys,pathlib,pymupdf,numpy,rank_bm25,sentence_transformers,langgraph,chromadb; print('python',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sys.version.split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()[0]); print('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venv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',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sys.executable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); print('corpus PDF',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len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(list(</a:t>
            </a:r>
            <a:r>
              <a:rPr lang="en-US" altLang="ko-KR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pathlib.Path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('corpus').glob('*.pdf'))),'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'); print('READY')"</a:t>
            </a:r>
          </a:p>
          <a:p>
            <a:pPr>
              <a:spcAft>
                <a:spcPts val="800"/>
              </a:spcAft>
            </a:pP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조건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</a:p>
          <a:p>
            <a:pPr>
              <a:spcAft>
                <a:spcPts val="800"/>
              </a:spcAft>
            </a:pP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 출력 마지막 줄이 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MODELS CACHED - 5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 출력 마지막 줄이 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-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어긋나면 각 항목의 원인과 해결 방법을 설명해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임의로 수정하지는 마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88920"/>
            <a:ext cx="640080" cy="0"/>
          </a:xfrm>
          <a:prstGeom prst="line">
            <a:avLst/>
          </a:prstGeom>
          <a:noFill/>
          <a:ln w="25400">
            <a:solidFill>
              <a:srgbClr val="FFD7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9260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RAG란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RAG란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457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정의: 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모델의 파라미터에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(파라메트릭 기억) 외에, </a:t>
            </a: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시점에 외부 지식 소스(비파라메트릭 기억)에서 입력과 관련된 정보를 </a:t>
            </a:r>
            <a:r>
              <a:rPr lang="en-US" sz="16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검색해</a:t>
            </a: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답변하는</a:t>
            </a: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방법</a:t>
            </a:r>
            <a:endParaRPr lang="en-US" sz="1600" dirty="0"/>
          </a:p>
          <a:p>
            <a:pPr marL="254000" indent="-254000" algn="l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강의에서 다루는 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문서 저장소에서 검색한 관련 문서를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프롬프트로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LLM</a:t>
            </a:r>
            <a:r>
              <a:rPr lang="ko-KR" alt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공급하는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구성. </a:t>
            </a:r>
            <a:endParaRPr lang="en-US" sz="1600" dirty="0"/>
          </a:p>
          <a:p>
            <a:pPr marL="254000" indent="-254000" algn="l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endParaRPr lang="en-US" sz="16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54000" indent="-254000" algn="l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과정에서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기억한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내용이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아니라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</a:t>
            </a: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</a:t>
            </a: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근거로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답하게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66928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DB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출처: Lewis et al., "Retrieval-Augmented Generation for Knowledge-Intensive NLP Tasks", NeurIPS 2020 (arXiv:2005.11401). 원 논문은 리트리버와 생성기를 함께 학습하는 모델이었고, 현재 업계의 RAG는 학습 없이 프롬프트로 공급하는 파생 형태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502920"/>
            <a:ext cx="10543032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RAG 전체 흐름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59" y="1298448"/>
            <a:ext cx="11106573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b="0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RAG는</a:t>
            </a:r>
            <a:r>
              <a:rPr lang="ko-KR" altLang="en-US" sz="140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 크게 두 단계로 동작함. </a:t>
            </a:r>
            <a:endParaRPr lang="en-US" altLang="ko-KR" sz="1400" b="0" dirty="0">
              <a:solidFill>
                <a:srgbClr val="FFD733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준비 단계에서 문서를 검색 가능한 형태로 가공해 저장해 두고, 질문 단계에서 질문과 관련된 청크를 찾아 LLM이 그 청크를 근거로 답변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2057400"/>
            <a:ext cx="13258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15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준비 단계</a:t>
            </a:r>
          </a:p>
          <a:p>
            <a:pPr marL="0" indent="0" algn="l">
              <a:buNone/>
            </a:pPr>
            <a:r>
              <a:rPr lang="ko-KR" altLang="en-US" sz="1150" b="0" dirty="0">
                <a:solidFill>
                  <a:srgbClr val="BDBDB5"/>
                </a:solidFill>
                <a:latin typeface="Malgun Gothic"/>
                <a:ea typeface="Malgun Gothic"/>
                <a:cs typeface="Malgun Gothic"/>
              </a:rPr>
              <a:t>질문 전 미리 수행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4297680"/>
            <a:ext cx="13258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15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질문 단계</a:t>
            </a:r>
          </a:p>
          <a:p>
            <a:pPr marL="0" indent="0" algn="l">
              <a:buNone/>
            </a:pPr>
            <a:r>
              <a:rPr lang="ko-KR" altLang="en-US" sz="1150" b="0" dirty="0">
                <a:solidFill>
                  <a:srgbClr val="BDBDB5"/>
                </a:solidFill>
                <a:latin typeface="Malgun Gothic"/>
                <a:ea typeface="Malgun Gothic"/>
                <a:cs typeface="Malgun Gothic"/>
              </a:rPr>
              <a:t>질문마다 수행</a:t>
            </a:r>
          </a:p>
        </p:txBody>
      </p:sp>
      <p:sp>
        <p:nvSpPr>
          <p:cNvPr id="6" name="Shape 6"/>
          <p:cNvSpPr/>
          <p:nvPr/>
        </p:nvSpPr>
        <p:spPr>
          <a:xfrm>
            <a:off x="2194560" y="2057400"/>
            <a:ext cx="2018538" cy="9144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altLang="en-US" sz="15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문서</a:t>
            </a:r>
          </a:p>
          <a:p>
            <a:pPr marL="0" indent="0" algn="ctr">
              <a:buNone/>
            </a:pPr>
            <a:r>
              <a:rPr lang="ko-KR" altLang="en-US" sz="1200" b="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PDF·보고서 등 원본 파일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4258818" y="2514600"/>
            <a:ext cx="27432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 w="med" len="med"/>
          </a:ln>
        </p:spPr>
      </p:cxnSp>
      <p:sp>
        <p:nvSpPr>
          <p:cNvPr id="8" name="Shape 8"/>
          <p:cNvSpPr/>
          <p:nvPr/>
        </p:nvSpPr>
        <p:spPr>
          <a:xfrm>
            <a:off x="4578858" y="2057400"/>
            <a:ext cx="2018538" cy="9144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altLang="en-US" sz="15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① 파싱</a:t>
            </a:r>
          </a:p>
          <a:p>
            <a:pPr marL="0" indent="0" algn="ctr">
              <a:buNone/>
            </a:pPr>
            <a:r>
              <a:rPr lang="ko-KR" altLang="en-US" sz="1200" b="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파일에서 텍스트 추출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6643116" y="2514600"/>
            <a:ext cx="27432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 w="med" len="med"/>
          </a:ln>
        </p:spPr>
      </p:cxnSp>
      <p:sp>
        <p:nvSpPr>
          <p:cNvPr id="10" name="Shape 10"/>
          <p:cNvSpPr/>
          <p:nvPr/>
        </p:nvSpPr>
        <p:spPr>
          <a:xfrm>
            <a:off x="6963156" y="2057400"/>
            <a:ext cx="2018538" cy="9144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altLang="en-US" sz="15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② 청킹</a:t>
            </a:r>
          </a:p>
          <a:p>
            <a:pPr marL="0" indent="0" algn="ctr">
              <a:buNone/>
            </a:pPr>
            <a:r>
              <a:rPr lang="ko-KR" altLang="en-US" sz="1200" b="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텍스트를 청크 단위로 분할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9027414" y="2514600"/>
            <a:ext cx="27432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 w="med" len="med"/>
          </a:ln>
        </p:spPr>
      </p:cxnSp>
      <p:sp>
        <p:nvSpPr>
          <p:cNvPr id="12" name="Shape 12"/>
          <p:cNvSpPr/>
          <p:nvPr/>
        </p:nvSpPr>
        <p:spPr>
          <a:xfrm>
            <a:off x="9347453" y="2057400"/>
            <a:ext cx="2480473" cy="9144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altLang="en-US" sz="15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③ 임베딩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ko-KR" altLang="en-US" sz="1200" b="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청크를 벡터(숫자 배열)로 변환</a:t>
            </a:r>
            <a:endParaRPr lang="en-US" altLang="ko-KR" sz="1200" b="0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의미가 비슷한 텍스트일수록 가까운 벡터가 나옴</a:t>
            </a:r>
            <a:endParaRPr lang="ko-KR" altLang="en-US" sz="1200" b="0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2194560" y="4297680"/>
            <a:ext cx="2018538" cy="9144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altLang="en-US" sz="15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  <a:p>
            <a:pPr marL="0" indent="0" algn="ctr">
              <a:buNone/>
            </a:pPr>
            <a:r>
              <a:rPr lang="ko-KR" altLang="en-US" sz="1200" b="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사용자 입력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4258818" y="4754880"/>
            <a:ext cx="27432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 w="med" len="med"/>
          </a:ln>
        </p:spPr>
      </p:cxnSp>
      <p:sp>
        <p:nvSpPr>
          <p:cNvPr id="15" name="Shape 15"/>
          <p:cNvSpPr/>
          <p:nvPr/>
        </p:nvSpPr>
        <p:spPr>
          <a:xfrm>
            <a:off x="4578858" y="4297680"/>
            <a:ext cx="2018538" cy="9144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altLang="en-US" sz="15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⑤ 검색</a:t>
            </a:r>
          </a:p>
          <a:p>
            <a:pPr marL="0" indent="0" algn="ctr">
              <a:buNone/>
            </a:pPr>
            <a:r>
              <a:rPr lang="ko-KR" altLang="en-US" sz="1200" b="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질문을 벡터로 바꿔 질문과 유사한 청크 k개 선택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6643116" y="4754880"/>
            <a:ext cx="27432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 w="med" len="med"/>
          </a:ln>
        </p:spPr>
      </p:cxnSp>
      <p:sp>
        <p:nvSpPr>
          <p:cNvPr id="17" name="Shape 17"/>
          <p:cNvSpPr/>
          <p:nvPr/>
        </p:nvSpPr>
        <p:spPr>
          <a:xfrm>
            <a:off x="6963156" y="4297680"/>
            <a:ext cx="2018538" cy="9144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altLang="en-US" sz="15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⑥ 답변 생성</a:t>
            </a:r>
          </a:p>
          <a:p>
            <a:pPr marL="0" indent="0" algn="ctr">
              <a:buNone/>
            </a:pPr>
            <a:r>
              <a:rPr lang="ko-KR" altLang="en-US" sz="1200" b="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선택된 청크 원문과 질문을 LLM에 전달</a:t>
            </a:r>
          </a:p>
        </p:txBody>
      </p:sp>
      <p:cxnSp>
        <p:nvCxnSpPr>
          <p:cNvPr id="18" name="Connector 18"/>
          <p:cNvCxnSpPr/>
          <p:nvPr/>
        </p:nvCxnSpPr>
        <p:spPr>
          <a:xfrm>
            <a:off x="9027414" y="4754880"/>
            <a:ext cx="27432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 w="med" len="med"/>
          </a:ln>
        </p:spPr>
      </p:cxnSp>
      <p:sp>
        <p:nvSpPr>
          <p:cNvPr id="19" name="Shape 19"/>
          <p:cNvSpPr/>
          <p:nvPr/>
        </p:nvSpPr>
        <p:spPr>
          <a:xfrm>
            <a:off x="9347454" y="4297680"/>
            <a:ext cx="2018538" cy="9144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altLang="en-US" sz="15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답변</a:t>
            </a:r>
          </a:p>
          <a:p>
            <a:pPr marL="0" indent="0" algn="ctr">
              <a:buNone/>
            </a:pPr>
            <a:r>
              <a:rPr lang="ko-KR" altLang="en-US" sz="1200" b="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청크 내용을 근거로 한 답변 + 출처</a:t>
            </a:r>
          </a:p>
        </p:txBody>
      </p:sp>
      <p:sp>
        <p:nvSpPr>
          <p:cNvPr id="20" name="Shape 20"/>
          <p:cNvSpPr/>
          <p:nvPr/>
        </p:nvSpPr>
        <p:spPr>
          <a:xfrm>
            <a:off x="2194560" y="3310128"/>
            <a:ext cx="9171432" cy="658368"/>
          </a:xfrm>
          <a:prstGeom prst="rect">
            <a:avLst/>
          </a:prstGeom>
          <a:solidFill>
            <a:srgbClr val="2A2818"/>
          </a:solidFill>
          <a:ln w="19050">
            <a:solidFill>
              <a:srgbClr val="FFD733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④ 색인 저장    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청크마다 벡터 + 원문 + 출처 정보를 같은 ID로 묶어 저장</a:t>
            </a:r>
          </a:p>
        </p:txBody>
      </p:sp>
      <p:cxnSp>
        <p:nvCxnSpPr>
          <p:cNvPr id="21" name="Connector 21"/>
          <p:cNvCxnSpPr/>
          <p:nvPr/>
        </p:nvCxnSpPr>
        <p:spPr>
          <a:xfrm>
            <a:off x="10356723" y="2990088"/>
            <a:ext cx="0" cy="301752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 w="med" len="med"/>
          </a:ln>
        </p:spPr>
      </p:cxnSp>
      <p:cxnSp>
        <p:nvCxnSpPr>
          <p:cNvPr id="22" name="Connector 22"/>
          <p:cNvCxnSpPr/>
          <p:nvPr/>
        </p:nvCxnSpPr>
        <p:spPr>
          <a:xfrm>
            <a:off x="5588127" y="3986784"/>
            <a:ext cx="0" cy="292608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 w="med" len="med"/>
          </a:ln>
        </p:spPr>
      </p:cxnSp>
      <p:sp>
        <p:nvSpPr>
          <p:cNvPr id="23" name="Text 23"/>
          <p:cNvSpPr txBox="1"/>
          <p:nvPr/>
        </p:nvSpPr>
        <p:spPr>
          <a:xfrm>
            <a:off x="5725287" y="39959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15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색인의 청크 벡터와 비교해 선택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822960" y="5440680"/>
            <a:ext cx="10543032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1168" indent="-201168" algn="l">
              <a:spcAft>
                <a:spcPts val="300"/>
              </a:spcAft>
              <a:buClr>
                <a:srgbClr val="FFD733"/>
              </a:buClr>
              <a:buSzPct val="100000"/>
              <a:buFont typeface="Arial"/>
              <a:buChar char="•"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준비 단계는 질문과 무관하게 미리 수행. 문서가 추가되면 해당 문서만 ①~④를 거쳐 색인에 추가</a:t>
            </a:r>
          </a:p>
          <a:p>
            <a:pPr marL="201168" indent="-201168" algn="l">
              <a:spcAft>
                <a:spcPts val="300"/>
              </a:spcAft>
              <a:buClr>
                <a:srgbClr val="FFD733"/>
              </a:buClr>
              <a:buSzPct val="100000"/>
              <a:buFont typeface="Arial"/>
              <a:buChar char="•"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③과 ⑤는 같은 임베딩 모델을 사용. 같은 모델로 만든 벡터끼리만 유사도 비교가 성립함</a:t>
            </a:r>
          </a:p>
          <a:p>
            <a:pPr marL="201168" indent="-201168" algn="l">
              <a:spcAft>
                <a:spcPts val="300"/>
              </a:spcAft>
              <a:buClr>
                <a:srgbClr val="FFD733"/>
              </a:buClr>
              <a:buSzPct val="100000"/>
              <a:buFont typeface="Arial"/>
              <a:buChar char="•"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LLM은 ⑥에서만 사용. LLM을 재학습하지 않고, 검색된 청크를 프롬프트에 넣어 답변 근거로 제공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502920"/>
            <a:ext cx="10543032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RAG 전체 흐름</a:t>
            </a:r>
          </a:p>
        </p:txBody>
      </p:sp>
      <p:sp>
        <p:nvSpPr>
          <p:cNvPr id="3" name="Shape 3"/>
          <p:cNvSpPr/>
          <p:nvPr/>
        </p:nvSpPr>
        <p:spPr>
          <a:xfrm>
            <a:off x="822960" y="1481328"/>
            <a:ext cx="3273552" cy="1481328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  <p:txBody>
          <a:bodyPr wrap="square" lIns="201168" tIns="91440" rIns="182880" bIns="73152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R</a:t>
            </a:r>
            <a:r>
              <a:rPr lang="ko-KR" altLang="en-US" sz="15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 Retrieval · 검색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질문과 유사한 청크를 색인에서 찾는 단계(⑤). ①~④는 이 검색을 위한 준비 작업</a:t>
            </a:r>
          </a:p>
        </p:txBody>
      </p:sp>
      <p:sp>
        <p:nvSpPr>
          <p:cNvPr id="4" name="Shape 4"/>
          <p:cNvSpPr/>
          <p:nvPr/>
        </p:nvSpPr>
        <p:spPr>
          <a:xfrm>
            <a:off x="4462272" y="1481328"/>
            <a:ext cx="3273552" cy="1481328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  <p:txBody>
          <a:bodyPr wrap="square" lIns="201168" tIns="91440" rIns="182880" bIns="73152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A</a:t>
            </a:r>
            <a:r>
              <a:rPr lang="ko-KR" altLang="en-US" sz="15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 Augmented · 증강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검색된 청크의 원문을 프롬프트에 추가하는 단계(⑥). LLM에 전달할 근거를 검색 결과로 정함</a:t>
            </a:r>
          </a:p>
        </p:txBody>
      </p:sp>
      <p:sp>
        <p:nvSpPr>
          <p:cNvPr id="5" name="Shape 5"/>
          <p:cNvSpPr/>
          <p:nvPr/>
        </p:nvSpPr>
        <p:spPr>
          <a:xfrm>
            <a:off x="8101584" y="1481328"/>
            <a:ext cx="3273552" cy="1481328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  <p:txBody>
          <a:bodyPr wrap="square" lIns="201168" tIns="91440" rIns="182880" bIns="73152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G</a:t>
            </a:r>
            <a:r>
              <a:rPr lang="ko-KR" altLang="en-US" sz="15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 Generation · 생성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LLM이 추가된 청크를 근거로 답변을 작성하는 단계(⑥). 문장별 출처로 검증 가능</a:t>
            </a:r>
          </a:p>
        </p:txBody>
      </p:sp>
      <p:sp>
        <p:nvSpPr>
          <p:cNvPr id="6" name="Shape 6"/>
          <p:cNvSpPr/>
          <p:nvPr/>
        </p:nvSpPr>
        <p:spPr>
          <a:xfrm>
            <a:off x="822960" y="3127248"/>
            <a:ext cx="10543032" cy="896112"/>
          </a:xfrm>
          <a:prstGeom prst="rect">
            <a:avLst/>
          </a:prstGeom>
          <a:solidFill>
            <a:srgbClr val="2A2818"/>
          </a:solidFill>
          <a:ln w="19050">
            <a:solidFill>
              <a:srgbClr val="FFD733"/>
            </a:solidFill>
            <a:prstDash val="solid"/>
          </a:ln>
        </p:spPr>
        <p:txBody>
          <a:bodyPr wrap="square" lIns="201168" tIns="54864" rIns="182880" bIns="54864" rtlCol="0" anchor="ctr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altLang="en-US" sz="15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각 단계의 출력이 다음 단계의 입력이 됨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파싱에서 손상된 텍스트, 청킹에서 끊긴 문맥, 검색에서 선택되지 않은 청크는 이후 단계에서 복구되지 않음. 청크만 근거로 답하게 하면 검색 결과가 답변 품질의 상한이 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RAG가 필요한 세 가지 이유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3271418" cy="27432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96596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시점 이후 데이터 필요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468880"/>
            <a:ext cx="27227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학습 데이터 수집 시점 이후에 나온 내용을 알지 못함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460138" y="1737360"/>
            <a:ext cx="3271418" cy="27432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34458" y="196596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문서를 모름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734458" y="2468880"/>
            <a:ext cx="27227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우리 기관 내부 문서·비공개 자료를 알지 못함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97317" y="1737360"/>
            <a:ext cx="3271418" cy="27432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71637" y="196596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출처가 명확함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371637" y="2468880"/>
            <a:ext cx="27227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문서는 </a:t>
            </a:r>
            <a:r>
              <a:rPr lang="en-US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출처를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비교적 정확히 </a:t>
            </a:r>
            <a:r>
              <a:rPr lang="en-US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제시할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있음. 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2023년식 RAG와 2026년식 RAG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5090008" cy="4908972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965960"/>
            <a:ext cx="454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NAIVE RAG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24028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2023년식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743200"/>
            <a:ext cx="45413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spcAft>
                <a:spcPts val="60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 자르고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→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</a:t>
            </a: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청크를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벡터로 바꿔 저장하고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인덱싱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)→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질문도 벡터로 바꿔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가장 가까운 </a:t>
            </a: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개를 찾아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(top-k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)→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</a:t>
            </a: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청크의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원문을 프롬프트에 넣기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8728" y="1737359"/>
            <a:ext cx="5090008" cy="4908973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3048" y="1965960"/>
            <a:ext cx="454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PRODUCTION RAG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24028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2026년식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743199"/>
            <a:ext cx="4541368" cy="394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단계는 같지만 </a:t>
            </a:r>
            <a:r>
              <a:rPr lang="en-US" sz="1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</a:t>
            </a: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리랭킹</a:t>
            </a: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r>
              <a:rPr 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기본 </a:t>
            </a:r>
            <a:r>
              <a:rPr 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구성으로</a:t>
            </a: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포함됨</a:t>
            </a:r>
            <a:endParaRPr lang="en-US" sz="15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하이브리드 검색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: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‘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키워드 검색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+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벡터 검색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’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모두 이용해 필요한 </a:t>
            </a: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청크를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더 잘 찾음</a:t>
            </a:r>
            <a:endParaRPr lang="en-US" altLang="ko-KR" sz="15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리랭킹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: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후보 중 진짜 관련 있는 것을 고름</a:t>
            </a:r>
            <a:endParaRPr lang="en-US" altLang="ko-KR" sz="15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평가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: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RAG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시스템의 품질을 검색과 생성으로 나눠서 측정</a:t>
            </a:r>
            <a:endParaRPr lang="en-US" sz="1500" dirty="0"/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년식은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코드가 정한 순서대로 검색을 한 번 실행했지만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지금은모델이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검색 여부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횟수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검색어를 직접 정함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(Agentic RAG)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두 방식의 파이프라인 비교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2023년식 · NAIVE RAG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2362124" cy="6858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20878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30804" y="2212848"/>
            <a:ext cx="27432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50844" y="1874520"/>
            <a:ext cx="2362124" cy="6858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88004" y="1965960"/>
            <a:ext cx="20878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58688" y="2212848"/>
            <a:ext cx="27432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78728" y="1874520"/>
            <a:ext cx="2362124" cy="6858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1965960"/>
            <a:ext cx="20878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k개</a:t>
            </a: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571" y="2212848"/>
            <a:ext cx="27432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06611" y="1874520"/>
            <a:ext cx="2362124" cy="6858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3771" y="1965960"/>
            <a:ext cx="20878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투입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2026년식 · PRODUCTION RAG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246120"/>
            <a:ext cx="1529029" cy="6858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337560"/>
            <a:ext cx="12547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388565" y="3584448"/>
            <a:ext cx="20116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626309" y="3246120"/>
            <a:ext cx="1529029" cy="6858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63469" y="3337560"/>
            <a:ext cx="12547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91914" y="3584448"/>
            <a:ext cx="20116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29658" y="3246120"/>
            <a:ext cx="1529029" cy="685800"/>
          </a:xfrm>
          <a:prstGeom prst="rect">
            <a:avLst/>
          </a:prstGeom>
          <a:solidFill>
            <a:srgbClr val="2A2818"/>
          </a:solidFill>
          <a:ln w="9525">
            <a:solidFill>
              <a:srgbClr val="FFD7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66818" y="3337560"/>
            <a:ext cx="12547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95264" y="3584448"/>
            <a:ext cx="20116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33008" y="3246120"/>
            <a:ext cx="1529029" cy="685800"/>
          </a:xfrm>
          <a:prstGeom prst="rect">
            <a:avLst/>
          </a:prstGeom>
          <a:solidFill>
            <a:srgbClr val="2A2818"/>
          </a:solidFill>
          <a:ln w="9525">
            <a:solidFill>
              <a:srgbClr val="FFD7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70168" y="3337560"/>
            <a:ext cx="12547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리랭킹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98613" y="3584448"/>
            <a:ext cx="20116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36357" y="3246120"/>
            <a:ext cx="1529029" cy="6858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73517" y="3337560"/>
            <a:ext cx="12547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생성</a:t>
            </a:r>
            <a:endParaRPr lang="en-US" altLang="ko-KR" sz="14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lnSpc>
                <a:spcPct val="135000"/>
              </a:lnSpc>
              <a:buNone/>
            </a:pP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참조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601962" y="3584448"/>
            <a:ext cx="20116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839706" y="3246120"/>
            <a:ext cx="1529029" cy="685800"/>
          </a:xfrm>
          <a:prstGeom prst="rect">
            <a:avLst/>
          </a:prstGeom>
          <a:solidFill>
            <a:srgbClr val="2A2818"/>
          </a:solidFill>
          <a:ln w="9525">
            <a:solidFill>
              <a:srgbClr val="FFD7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976866" y="3337560"/>
            <a:ext cx="12547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800871" y="3931920"/>
            <a:ext cx="0" cy="32004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94173" y="4251960"/>
            <a:ext cx="360669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5194173" y="3959352"/>
            <a:ext cx="0" cy="292608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429658" y="4297680"/>
            <a:ext cx="513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</a:t>
            </a:r>
            <a:r>
              <a:rPr lang="en-US" sz="1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판단하여 질문 내용 재작성</a:t>
            </a:r>
            <a:r>
              <a:rPr lang="en-US" altLang="ko-KR" sz="1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(</a:t>
            </a:r>
            <a:r>
              <a:rPr lang="ko-KR" altLang="en-US" sz="1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 부족하면</a:t>
            </a:r>
            <a:r>
              <a:rPr lang="en-US" altLang="ko-KR" sz="1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19"/>
            <a:ext cx="10545775" cy="1029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</a:p>
          <a:p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“RAG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없이 </a:t>
            </a:r>
            <a:r>
              <a:rPr lang="en-US" altLang="ko-KR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필요한 데이터 모두 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넣으면 되지 </a:t>
            </a:r>
            <a:r>
              <a:rPr lang="en-US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않나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?"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맞음, </a:t>
            </a:r>
            <a:r>
              <a:rPr lang="en-US" sz="17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r>
              <a:rPr 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규모까지는</a:t>
            </a:r>
            <a:r>
              <a:rPr 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700" dirty="0"/>
          </a:p>
          <a:p>
            <a:pPr marL="254000" indent="-2540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가이드(2024.9): 지식 베이스가 </a:t>
            </a:r>
            <a:r>
              <a:rPr 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20만 토큰(약 500쪽) 이하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 RAG 없이 전체를 프롬프트에 넣고 프롬프트 캐싱을 쓰는 것이 가장 단순한 해법</a:t>
            </a:r>
            <a:endParaRPr lang="en-US" sz="1700" dirty="0"/>
          </a:p>
          <a:p>
            <a:pPr marL="254000" indent="-2540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현재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7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</a:t>
            </a:r>
            <a:r>
              <a:rPr lang="en-US" sz="17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</a:t>
            </a:r>
            <a:r>
              <a:rPr lang="ko-KR" alt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토큰 컨텍스트 한번에 입력 가능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sz="17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규모가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논문 수십 편에서 수백 편 </a:t>
            </a:r>
            <a:r>
              <a:rPr lang="en-US" sz="17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규모로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커짐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7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</a:t>
            </a:r>
            <a:r>
              <a:rPr lang="en-US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RAG, </a:t>
            </a:r>
            <a:r>
              <a:rPr lang="en-US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사용하면 되나</a:t>
            </a:r>
            <a:r>
              <a:rPr lang="en-US" altLang="ko-KR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수십 편 이하를 한 번 분석하는 일이라면 전체 입력으로 충분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711200" lvl="1" indent="-2540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경우까지 RAG를 만드는 것은 불필요한 구축</a:t>
            </a:r>
            <a:endParaRPr lang="en-US" sz="1700" dirty="0"/>
          </a:p>
          <a:p>
            <a:pPr marL="254000" indent="-2540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r>
              <a:rPr lang="ko-KR" altLang="en-US" sz="17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데이터가 이보다 커지거나</a:t>
            </a:r>
            <a:r>
              <a:rPr lang="en-US" altLang="ko-KR" sz="17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7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자료에 질문이 반복되면 문제 발생 </a:t>
            </a:r>
            <a:endParaRPr lang="en-US" altLang="ko-KR" sz="1700" dirty="0">
              <a:solidFill>
                <a:srgbClr val="FFD7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11200" lvl="1" indent="-2540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전체를 한 번에 입력하는 방식은</a:t>
            </a:r>
            <a:r>
              <a:rPr lang="en-US" altLang="ko-KR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한 번 읽은 자료를 </a:t>
            </a:r>
            <a:r>
              <a:rPr lang="ko-KR" altLang="en-US" sz="17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캐싱으로</a:t>
            </a:r>
            <a:r>
              <a:rPr lang="ko-KR" alt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잠시 기억해 두더라도  질문할 때마다 자료 전체를 다시 보는 요금을 냄</a:t>
            </a:r>
            <a:endParaRPr lang="en-US" altLang="ko-KR" sz="17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11200" lvl="1" indent="-2540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altLang="ko-KR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r>
              <a:rPr lang="ko-KR" alt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찾아보기용 목록</a:t>
            </a:r>
            <a:r>
              <a:rPr lang="en-US" altLang="ko-KR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</a:t>
            </a:r>
            <a:r>
              <a:rPr lang="en-US" altLang="ko-KR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한 번 만들어 두고</a:t>
            </a:r>
            <a:r>
              <a:rPr lang="en-US" altLang="ko-KR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질문마다 필요한 부분만 꺼내 쓰므로  질문이 많아질수록 </a:t>
            </a:r>
            <a:r>
              <a:rPr lang="en-US" altLang="ko-KR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r>
              <a:rPr lang="ko-KR" alt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유리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116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context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방식으로 </a:t>
            </a:r>
            <a:r>
              <a:rPr lang="en-US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크면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발생하는 </a:t>
            </a:r>
            <a:r>
              <a:rPr lang="en-US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59"/>
            <a:ext cx="5090008" cy="3850639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96596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468880"/>
            <a:ext cx="45413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요금은 입력 토큰 수에 비례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제공하는 캐시 읽기 할인이 있어도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토큰을 매 질문마다 넣으면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</a:t>
            </a: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수천 토큰만 넣는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 질문당 수십 배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그나마 </a:t>
            </a: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캐싱도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자료가 바뀌지 않고 짧은 시간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안에 질문이 이어질 때만 적용됨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78728" y="1737360"/>
            <a:ext cx="5090008" cy="385064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96596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53048" y="2468880"/>
            <a:ext cx="45413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답을 시작하기 전에 입력 전체를 먼저 읽어야 하므로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길수록 첫 글자가 나오기까지의 대기 시간이 </a:t>
            </a: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길어짐</a:t>
            </a:r>
            <a:endParaRPr lang="ko-KR" altLang="en-US" sz="15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비교 테스트에서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약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전체 입력은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30~60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(Redis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블로그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인용한 사례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규모는 명시되지 않음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캐시가 없는 상태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질문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경과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변경 후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에서는 실시간 대화형 도구에 쓰기 어려움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8441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context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방식으로 </a:t>
            </a:r>
            <a:r>
              <a:rPr lang="en-US" altLang="ko-KR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</a:t>
            </a:r>
            <a:r>
              <a:rPr lang="en-US" altLang="ko-KR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altLang="ko-KR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크면</a:t>
            </a:r>
            <a:r>
              <a:rPr lang="en-US" altLang="ko-KR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발생하는 </a:t>
            </a:r>
            <a:r>
              <a:rPr lang="en-US" altLang="ko-KR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r>
              <a:rPr lang="en-US" altLang="ko-KR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(2/2)</a:t>
            </a:r>
            <a:endParaRPr lang="en-US" altLang="ko-KR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59"/>
            <a:ext cx="5090008" cy="4617721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96596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468879"/>
            <a:ext cx="4541368" cy="3635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길수록 필요한 정보를 놓치거나 틀리게 답하는 빈도가 늘어남 </a:t>
            </a:r>
            <a:endParaRPr lang="en-US" altLang="ko-KR" sz="15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정보가 긴 입력의 중간에 있으면 앞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뒤에 있을 때보다 정확도가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10~20%p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하락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(Lost in the Middle)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정답이 같은 단어를 쓰지 않으면 하락이 더 가파름 </a:t>
            </a:r>
            <a:endParaRPr lang="en-US" altLang="ko-KR" sz="15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 답하는 길이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길이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)"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회사들이 홍보하는 컨텍스트 길이보다 짧음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(100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토큰처럼 홍보하는 최대 컨텍스트 양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78728" y="1737360"/>
            <a:ext cx="5090008" cy="461772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96596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8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거버넌스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53048" y="2468879"/>
            <a:ext cx="4541368" cy="3771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전체를 넣으면 모델이 전부를 본 상태가 되어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,"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누구에게 무엇을 보여줄지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통제 불가</a:t>
            </a:r>
            <a:endParaRPr lang="en-US" altLang="ko-KR" sz="15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모델에게 넣는 자료 조건을 필터링하고  통제하는 단계를 개발자가 추가 가능</a:t>
            </a:r>
            <a:endParaRPr lang="en-US" altLang="ko-KR" sz="15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권한에 맞는 문서만 검색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인턴에게 급여 문서가 가지 않도록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 문서는 처음부터 검색 대상에서 제외</a:t>
            </a:r>
            <a:endParaRPr lang="en-US" altLang="ko-KR" sz="15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의료처럼 열람 권한이 나뉜 곳에서 유용한 점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88920"/>
            <a:ext cx="640080" cy="0"/>
          </a:xfrm>
          <a:prstGeom prst="line">
            <a:avLst/>
          </a:prstGeom>
          <a:noFill/>
          <a:ln w="25400">
            <a:solidFill>
              <a:srgbClr val="FFD7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9260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노트 — 2026년의 검색 구성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사전 색인 검색과 도구 </a:t>
            </a:r>
            <a:r>
              <a:rPr lang="en-US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용어는 </a:t>
            </a:r>
            <a:r>
              <a:rPr lang="en-US" altLang="ko-KR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59" y="1600200"/>
            <a:ext cx="66292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색인 검색 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(vector search 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데이터 미리 가공해 놓는 방식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59" y="2558621"/>
            <a:ext cx="1889699" cy="73152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19" y="2650061"/>
            <a:ext cx="16153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9234" y="2924381"/>
            <a:ext cx="20116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86978" y="2558621"/>
            <a:ext cx="1889699" cy="73152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24138" y="2650061"/>
            <a:ext cx="16153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청킹·임베딩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13253" y="2924381"/>
            <a:ext cx="20116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50997" y="2558621"/>
            <a:ext cx="1889699" cy="73152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88157" y="2650061"/>
            <a:ext cx="16153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77272" y="2924381"/>
            <a:ext cx="20116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016" y="2558621"/>
            <a:ext cx="1889699" cy="73152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176" y="2650061"/>
            <a:ext cx="16153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검색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241291" y="2924381"/>
            <a:ext cx="20116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79035" y="2558621"/>
            <a:ext cx="1889699" cy="73152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16195" y="2650061"/>
            <a:ext cx="16153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청크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1873671"/>
            <a:ext cx="10545775" cy="594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색인</a:t>
            </a: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 오기 전에 문서를 </a:t>
            </a:r>
            <a:r>
              <a:rPr lang="ko-KR" altLang="en-US" sz="13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청크로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자르고 </a:t>
            </a:r>
            <a:r>
              <a:rPr lang="ko-KR" altLang="en-US" sz="13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임베딩해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색인을 만들어 둠</a:t>
            </a: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시 </a:t>
            </a: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뜻이 비슷한</a:t>
            </a: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</a:t>
            </a:r>
            <a:r>
              <a:rPr lang="ko-KR" altLang="en-US" sz="13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청크를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꺼냄</a:t>
            </a: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데이터 </a:t>
            </a: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300" dirty="0">
              <a:solidFill>
                <a:srgbClr val="FFD733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23112" y="3838781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시점 탐색 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search, Claude Code 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6536" y="4936061"/>
            <a:ext cx="2430704" cy="73152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696" y="5027501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253816" y="5301821"/>
            <a:ext cx="20116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491560" y="4936061"/>
            <a:ext cx="2430704" cy="73152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28720" y="5027501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</a:t>
            </a:r>
            <a:r>
              <a:rPr lang="ko-KR" alt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서칭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선택: 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DB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58840" y="5301821"/>
            <a:ext cx="20116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96584" y="4936061"/>
            <a:ext cx="2430704" cy="73152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33744" y="5027501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시점에 문서 로드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663863" y="5301821"/>
            <a:ext cx="20116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901607" y="4936061"/>
            <a:ext cx="2430704" cy="73152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38767" y="5027501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부족하면 다시 호출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0116959" y="5667581"/>
            <a:ext cx="0" cy="32004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1888" y="5987621"/>
            <a:ext cx="8115071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2001888" y="5695013"/>
            <a:ext cx="0" cy="292608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786536" y="4309697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시점 탐색</a:t>
            </a: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 없이 에이전트가 파일명</a:t>
            </a: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</a:t>
            </a: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DB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필요한 내용을 필요할 때마다 그때그때 찾음</a:t>
            </a: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Claude code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디렉토리</a:t>
            </a: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참조하는 방식</a:t>
            </a:r>
            <a:endParaRPr lang="en-US" sz="1300" dirty="0">
              <a:solidFill>
                <a:srgbClr val="FFD73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각각의 </a:t>
            </a:r>
            <a:r>
              <a:rPr lang="en-US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조건과 한계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59"/>
            <a:ext cx="5090008" cy="4917441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7452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</a:t>
            </a:r>
            <a:r>
              <a:rPr lang="en-US" sz="16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</a:t>
            </a: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377439"/>
            <a:ext cx="4541368" cy="409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적합한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경우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711200" lvl="1" indent="-2540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많거나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 건 이상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정리되어 있지 않을 때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</a:p>
          <a:p>
            <a:pPr marL="711200" lvl="1" indent="-2540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응답이 빨라야 하거나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사용자마다 볼 수 있는 문서가 다를 때</a:t>
            </a:r>
            <a:endParaRPr lang="en-US" altLang="ko-KR" sz="135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54000" indent="-2540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</a:p>
          <a:p>
            <a:pPr marL="711200" lvl="1" indent="-2540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바뀌면 색인을 다시 만들어야 함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 </a:t>
            </a:r>
          </a:p>
          <a:p>
            <a:pPr marL="711200" lvl="1" indent="-2540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</a:t>
            </a:r>
            <a:r>
              <a:rPr lang="ko-KR" alt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청크를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어떻게 </a:t>
            </a:r>
            <a:r>
              <a:rPr lang="ko-KR" alt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잘랐느냐에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따라 검색 품질이 크게 달라짐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78728" y="1737360"/>
            <a:ext cx="5090008" cy="491744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87452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 검색 (에이전틱 서치)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353732"/>
            <a:ext cx="4724552" cy="43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</a:t>
            </a:r>
            <a:r>
              <a:rPr lang="en-US" altLang="ko-KR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단가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하락과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향상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안정화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되며 점점 많이 사용</a:t>
            </a:r>
            <a:endParaRPr lang="en-US" altLang="ko-KR" sz="135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54000" indent="-254000" algn="l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자료의 사본이나 색인을 따로 만들지 않음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 오면 에이전트가 파일 열기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찾기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DB 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등을 실행</a:t>
            </a:r>
            <a:endParaRPr lang="en-US" altLang="ko-KR" sz="135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11200" lvl="1" indent="-2540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보고 부족하면 검색어를 바꿔 다시 찾음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</a:p>
          <a:p>
            <a:pPr marL="254000" indent="-2540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적합한 경우</a:t>
            </a:r>
            <a:endParaRPr lang="en-US" altLang="ko-KR" sz="135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11200" lvl="1" indent="-2540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이미 검색 가능한 시스템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(Drive, SharePoint, DB)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있거나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 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파일명이나 폴더명으로 내용 짐작 가능할 때 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저장소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 </a:t>
            </a:r>
          </a:p>
          <a:p>
            <a:pPr marL="711200" lvl="1" indent="-2540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자주 바뀔 때</a:t>
            </a:r>
            <a:endParaRPr lang="en-US" altLang="ko-KR" sz="135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54000" indent="-2540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</a:p>
          <a:p>
            <a:pPr marL="711200" lvl="1" indent="-2540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질문마다 여러 번 파일 열어보기에 느리고 비용 큼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방식의 두 갈래 — 2026년 실무 구성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1371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실무 구성은 둘의 </a:t>
            </a:r>
            <a:r>
              <a:rPr lang="en-US" sz="17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lang="en-US" sz="17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</a:t>
            </a:r>
            <a:r>
              <a:rPr 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필요하다고 판단할 때 사전 색인</a:t>
            </a:r>
            <a:r>
              <a:rPr lang="en-US" altLang="ko-KR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7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검색을</a:t>
            </a:r>
            <a:r>
              <a:rPr lang="en-US" altLang="ko-KR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r>
              <a:rPr lang="ko-KR" alt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구조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254000" indent="-2540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가이드(2025.9): 일부 데이터는 </a:t>
            </a:r>
            <a:r>
              <a:rPr lang="en-US" sz="17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넣</a:t>
            </a:r>
            <a:r>
              <a:rPr lang="ko-KR" alt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어서 사전 색인 검색 처리하고</a:t>
            </a:r>
            <a:r>
              <a:rPr lang="en-US" altLang="ko-KR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나머지는 실행 시점에 불러오는 혼합 전략을 권장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3931920"/>
            <a:ext cx="2926080" cy="13716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40233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0480" y="4343400"/>
            <a:ext cx="118872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840480" y="4892040"/>
            <a:ext cx="118872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20640" y="3931920"/>
            <a:ext cx="2926080" cy="594360"/>
          </a:xfrm>
          <a:prstGeom prst="rect">
            <a:avLst/>
          </a:prstGeom>
          <a:solidFill>
            <a:srgbClr val="2A2818"/>
          </a:solidFill>
          <a:ln w="9525">
            <a:solidFill>
              <a:srgbClr val="FFD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57800" y="4023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0" y="4709160"/>
            <a:ext cx="2926080" cy="59436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4800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ko-KR" alt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에이전틱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4617720"/>
            <a:ext cx="91440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0" y="4160520"/>
            <a:ext cx="2224735" cy="9144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81160" y="4251960"/>
            <a:ext cx="1950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인용 답변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노트 — 컨텍스트 엔지니어링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엔지니어링이 </a:t>
            </a:r>
            <a:r>
              <a:rPr lang="en-US" altLang="ko-KR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지시문을 잘 쓰는 법</a:t>
            </a:r>
            <a:r>
              <a:rPr lang="en-US" altLang="ko-KR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이었다면</a:t>
            </a:r>
            <a:r>
              <a:rPr lang="en-US" altLang="ko-KR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 </a:t>
            </a:r>
          </a:p>
          <a:p>
            <a:pPr marL="254000" indent="-254000" algn="l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엔지니어링은 지시문을 포함해 프롬프트에 들어가는 모든 것을  무엇을</a:t>
            </a:r>
            <a:r>
              <a:rPr lang="en-US" altLang="ko-KR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형태로</a:t>
            </a:r>
            <a:r>
              <a:rPr lang="en-US" altLang="ko-KR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순서로 넣을지 설계하는 넓은 개념</a:t>
            </a:r>
            <a:endParaRPr lang="en-US" altLang="ko-KR" sz="16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54000" indent="-254000" algn="l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요소: 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프롬프트, 도구 정의, 대화 이력, 메모리,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711200" lvl="1" indent="-254000">
              <a:spcAft>
                <a:spcPts val="1200"/>
              </a:spcAft>
              <a:buSzPct val="100000"/>
              <a:buChar char="•"/>
            </a:pPr>
            <a:r>
              <a:rPr lang="en-US" altLang="ko-KR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r>
              <a:rPr lang="ko-KR" alt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이 중 </a:t>
            </a:r>
            <a:r>
              <a:rPr lang="en-US" altLang="ko-KR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 문서</a:t>
            </a:r>
            <a:r>
              <a:rPr lang="en-US" altLang="ko-KR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</a:t>
            </a:r>
            <a:r>
              <a:rPr lang="ko-KR" alt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부분을 담당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023360"/>
            <a:ext cx="10545775" cy="2103120"/>
          </a:xfrm>
          <a:prstGeom prst="roundRect">
            <a:avLst>
              <a:gd name="adj" fmla="val 6522"/>
            </a:avLst>
          </a:prstGeom>
          <a:solidFill>
            <a:srgbClr val="1A1810"/>
          </a:solidFill>
          <a:ln w="12700">
            <a:solidFill>
              <a:srgbClr val="4A46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DB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창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4434840"/>
            <a:ext cx="1779971" cy="1005840"/>
          </a:xfrm>
          <a:prstGeom prst="rect">
            <a:avLst/>
          </a:prstGeom>
          <a:solidFill>
            <a:srgbClr val="0D0D0A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4526280"/>
            <a:ext cx="150565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프롬프트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1571" y="4434840"/>
            <a:ext cx="1779971" cy="1005840"/>
          </a:xfrm>
          <a:prstGeom prst="rect">
            <a:avLst/>
          </a:prstGeom>
          <a:solidFill>
            <a:srgbClr val="0D0D0A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88731" y="4526280"/>
            <a:ext cx="150565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정의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05862" y="4434840"/>
            <a:ext cx="1779971" cy="1005840"/>
          </a:xfrm>
          <a:prstGeom prst="rect">
            <a:avLst/>
          </a:prstGeom>
          <a:solidFill>
            <a:srgbClr val="0D0D0A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3022" y="4526280"/>
            <a:ext cx="150565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이력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60153" y="4434840"/>
            <a:ext cx="1779971" cy="1005840"/>
          </a:xfrm>
          <a:prstGeom prst="rect">
            <a:avLst/>
          </a:prstGeom>
          <a:solidFill>
            <a:srgbClr val="0D0D0A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97313" y="4526280"/>
            <a:ext cx="150565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14444" y="4434840"/>
            <a:ext cx="1779971" cy="1005840"/>
          </a:xfrm>
          <a:prstGeom prst="rect">
            <a:avLst/>
          </a:prstGeom>
          <a:solidFill>
            <a:srgbClr val="2A2818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51604" y="4526280"/>
            <a:ext cx="150565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 문서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314444" y="5486400"/>
            <a:ext cx="1779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RAG가 공급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88920"/>
            <a:ext cx="640080" cy="0"/>
          </a:xfrm>
          <a:prstGeom prst="line">
            <a:avLst/>
          </a:prstGeom>
          <a:noFill/>
          <a:ln w="25400">
            <a:solidFill>
              <a:srgbClr val="FFD7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9260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노트 — LangChain</a:t>
            </a:r>
            <a:endParaRPr lang="en-US" sz="4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노트 — LangChain과 LangGraph, 무엇인가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4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LLM 앱을 만들 때 쓰는 파이썬·JS 오픈소스 라이브러리. 하는 일이 다르고, 2025년 10월부터 한 세트(1.0)로 묶임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25440" cy="3474720"/>
          </a:xfrm>
          <a:prstGeom prst="rect">
            <a:avLst/>
          </a:prstGeom>
          <a:solidFill>
            <a:srgbClr val="17170F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2480" y="1828800"/>
            <a:ext cx="4998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 — 부품 상자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92480" y="2255520"/>
            <a:ext cx="4998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호출, 프롬프트 템플릿, 문서 읽기, 청킹, 임베딩, 벡터 DB 연결처럼 LLM 앱마다 반복되는 부품을 미리 만들어 둔 것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92480" y="3169920"/>
            <a:ext cx="4998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 defTabSz="1219170">
              <a:spcAft>
                <a:spcPts val="667"/>
              </a:spcAft>
              <a:buSzPct val="100000"/>
              <a:buFontTx/>
              <a:buChar char="•"/>
            </a:pPr>
            <a:r>
              <a:rPr 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장점: 모델 회사·벡터 DB를 바꿔도 코드 형태가 같음 (표준화)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203195" indent="-203195" defTabSz="1219170">
              <a:spcAft>
                <a:spcPts val="667"/>
              </a:spcAft>
              <a:buSzPct val="100000"/>
              <a:buFontTx/>
              <a:buChar char="•"/>
            </a:pPr>
            <a:r>
              <a:rPr 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1.0에서는 create_agent 하나로 "모델 + 도구" 에이전트를 몇 줄로 만듦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203195" indent="-203195" defTabSz="1219170">
              <a:spcAft>
                <a:spcPts val="667"/>
              </a:spcAft>
              <a:buSzPct val="100000"/>
              <a:buFontTx/>
              <a:buChar char="•"/>
            </a:pPr>
            <a:r>
              <a:rPr 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비유: 레고 블록 상자. 블록은 있지만 조립 순서는 내가 정함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425440" cy="3474720"/>
          </a:xfrm>
          <a:prstGeom prst="rect">
            <a:avLst/>
          </a:prstGeom>
          <a:solidFill>
            <a:srgbClr val="17170F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1760" y="1828800"/>
            <a:ext cx="4998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— 흐름도 실행기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61760" y="2255520"/>
            <a:ext cx="4998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부품을 어떤 순서로 돌리고, 언제 되돌아가고, 어디서 멈춰 사람 확인을 받을지를 흐름도(그래프)로 그려 실행하는 엔진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61760" y="3169920"/>
            <a:ext cx="4998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 defTabSz="1219170">
              <a:spcAft>
                <a:spcPts val="667"/>
              </a:spcAft>
              <a:buSzPct val="100000"/>
              <a:buFontTx/>
              <a:buChar char="•"/>
            </a:pPr>
            <a:r>
              <a:rPr 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실행 중 상태를 저장해 두어 중단·재개·되감기가 됨 (durable execution)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203195" indent="-203195" defTabSz="1219170">
              <a:spcAft>
                <a:spcPts val="667"/>
              </a:spcAft>
              <a:buSzPct val="100000"/>
              <a:buFontTx/>
              <a:buChar char="•"/>
            </a:pPr>
            <a:r>
              <a:rPr 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재검색 루프, 여러 에이전트 협업, 사람 승인 단계가 </a:t>
            </a:r>
            <a:r>
              <a:rPr lang="en-US" sz="1467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</a:t>
            </a:r>
            <a:r>
              <a:rPr 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67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앱에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사용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203195" indent="-203195" defTabSz="1219170">
              <a:spcAft>
                <a:spcPts val="667"/>
              </a:spcAft>
              <a:buSzPct val="100000"/>
              <a:buFontTx/>
              <a:buChar char="•"/>
            </a:pPr>
            <a:r>
              <a:rPr 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비유: 조립 설명서 + 어디까지 조립했는지 기록하는 메모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5364480"/>
            <a:ext cx="11094720" cy="853440"/>
          </a:xfrm>
          <a:prstGeom prst="rect">
            <a:avLst/>
          </a:prstGeom>
          <a:solidFill>
            <a:srgbClr val="1F1D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2480" y="5486400"/>
            <a:ext cx="10607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관계: LangChain의 create_agent는 LangGraph 위에서 돌아감. ＂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</a:t>
            </a:r>
            <a:r>
              <a:rPr 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시작은 LangChain, 흐름을 세밀히 통제해야 하면 LangGraph로 내려간다"가 공식 안내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</a:t>
            </a:r>
            <a:r>
              <a:rPr lang="ko-KR" altLang="en-US" sz="29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r>
              <a:rPr lang="en-US" altLang="ko-KR" sz="2933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r>
              <a:rPr lang="ko-KR" altLang="en-US" sz="29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역할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158240"/>
            <a:ext cx="1097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ko-KR" alt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 사용하면 </a:t>
            </a:r>
            <a:r>
              <a:rPr 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</a:t>
            </a:r>
            <a:r>
              <a:rPr lang="ko-KR" alt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전반적인 </a:t>
            </a:r>
            <a:r>
              <a:rPr lang="en-US" sz="1733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r>
              <a:rPr lang="ko-KR" alt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r>
              <a:rPr 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코드를 이용하게 됨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84960"/>
            <a:ext cx="2377440" cy="975360"/>
          </a:xfrm>
          <a:prstGeom prst="rect">
            <a:avLst/>
          </a:prstGeom>
          <a:solidFill>
            <a:srgbClr val="17170F"/>
          </a:solidFill>
          <a:ln w="9525">
            <a:solidFill>
              <a:srgbClr val="4A4622"/>
            </a:solidFill>
          </a:ln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TextSplitter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987040" y="1950720"/>
            <a:ext cx="365760" cy="243840"/>
          </a:xfrm>
          <a:prstGeom prst="rightArrow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13760" y="1584960"/>
            <a:ext cx="2377440" cy="975360"/>
          </a:xfrm>
          <a:prstGeom prst="rect">
            <a:avLst/>
          </a:prstGeom>
          <a:solidFill>
            <a:srgbClr val="17170F"/>
          </a:solidFill>
          <a:ln w="9525">
            <a:solidFill>
              <a:srgbClr val="4A4622"/>
            </a:solidFill>
          </a:ln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임베딩·색인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Embeddings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VectorStore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852160" y="1950720"/>
            <a:ext cx="365760" cy="243840"/>
          </a:xfrm>
          <a:prstGeom prst="rightArrow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78880" y="1584960"/>
            <a:ext cx="2377440" cy="975360"/>
          </a:xfrm>
          <a:prstGeom prst="rect">
            <a:avLst/>
          </a:prstGeom>
          <a:solidFill>
            <a:srgbClr val="17170F"/>
          </a:solidFill>
          <a:ln w="9525">
            <a:solidFill>
              <a:srgbClr val="4A4622"/>
            </a:solidFill>
          </a:ln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Retriever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717280" y="1950720"/>
            <a:ext cx="365760" cy="243840"/>
          </a:xfrm>
          <a:prstGeom prst="rightArrow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0" y="1584960"/>
            <a:ext cx="2377440" cy="975360"/>
          </a:xfrm>
          <a:prstGeom prst="rect">
            <a:avLst/>
          </a:prstGeom>
          <a:solidFill>
            <a:srgbClr val="17170F"/>
          </a:solidFill>
          <a:ln w="9525">
            <a:solidFill>
              <a:srgbClr val="4A4622"/>
            </a:solidFill>
          </a:ln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프롬프트·답변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PromptTemplate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ChatModel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2682240"/>
            <a:ext cx="11094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94" indent="-228594" defTabSz="1219170">
              <a:buFont typeface="Arial" panose="020B0604020202020204" pitchFamily="34" charset="0"/>
              <a:buChar char="•"/>
            </a:pPr>
            <a:r>
              <a:rPr lang="en-US" altLang="ko-KR" sz="1467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1467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표준화된 호출 형태 </a:t>
            </a:r>
            <a:r>
              <a:rPr lang="en-US" altLang="ko-KR" sz="1467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ko-KR" altLang="en-US" sz="1467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많이 쓰여 다듬어진 구현</a:t>
            </a:r>
            <a:r>
              <a:rPr lang="en-US" altLang="ko-KR" sz="1467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467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</a:t>
            </a:r>
            <a:r>
              <a:rPr lang="en-US" altLang="ko-KR" sz="1467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r>
              <a:rPr lang="ko-KR" altLang="en-US" sz="1467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내가 직접 구현할 때 놓칠만한 세부 처리를 이미 해 뒀다는 장점</a:t>
            </a:r>
            <a:r>
              <a:rPr lang="en-US" altLang="ko-KR" sz="1467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67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여러 파일 형식과 벡터 </a:t>
            </a:r>
            <a:r>
              <a:rPr lang="en-US" altLang="ko-KR" sz="1467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r>
              <a:rPr lang="ko-KR" altLang="en-US" sz="1467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대응을 쉽게 할 수 있고</a:t>
            </a:r>
            <a:r>
              <a:rPr lang="en-US" altLang="ko-KR" sz="1467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67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사람들이 고민한 유용한 기능들을 사용 가능함</a:t>
            </a:r>
            <a:r>
              <a:rPr lang="en-US" altLang="ko-KR" sz="1467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67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" y="3413760"/>
            <a:ext cx="1097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2026년에는 </a:t>
            </a:r>
            <a:r>
              <a:rPr lang="ko-KR" alt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이유로 </a:t>
            </a:r>
            <a:r>
              <a:rPr lang="en-US" altLang="ko-KR" sz="1733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</a:t>
            </a:r>
            <a:r>
              <a:rPr lang="en-US" altLang="ko-KR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733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r>
              <a:rPr lang="ko-KR" alt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733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</a:t>
            </a:r>
            <a:r>
              <a:rPr lang="en-US" altLang="ko-KR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이유가 감소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596640" cy="1889760"/>
          </a:xfrm>
          <a:prstGeom prst="rect">
            <a:avLst/>
          </a:prstGeom>
          <a:solidFill>
            <a:srgbClr val="17170F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962400"/>
            <a:ext cx="323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AI </a:t>
            </a:r>
            <a:r>
              <a:rPr lang="en-US" sz="1467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r>
              <a:rPr lang="en-US" sz="1467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회사 </a:t>
            </a:r>
            <a:r>
              <a:rPr lang="en-US" sz="1467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SDK가</a:t>
            </a:r>
            <a:r>
              <a:rPr lang="en-US" sz="1467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67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기능 제공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31520" y="4364736"/>
            <a:ext cx="323088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호출, 파일 검색, 프롬프트 캐싱, 인용 출력, 컨텍스트 압축이 API 기본 기능이 됨. 프레임워크가 감싸 주던 것이 이제 한 줄 옵션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03776" y="3840480"/>
            <a:ext cx="3596640" cy="1889760"/>
          </a:xfrm>
          <a:prstGeom prst="rect">
            <a:avLst/>
          </a:prstGeom>
          <a:solidFill>
            <a:srgbClr val="17170F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6656" y="3962400"/>
            <a:ext cx="323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MCP로 연동이 표준화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486656" y="4364736"/>
            <a:ext cx="323088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Drive·DB·사내 검색을 도구로 붙일 때 프레임워크별 어댑터가 아니라 공통 규격을 씀. "연동 </a:t>
            </a:r>
            <a:r>
              <a:rPr lang="en-US" sz="1333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</a:t>
            </a:r>
            <a:r>
              <a:rPr lang="en-US" sz="133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개“</a:t>
            </a:r>
            <a:r>
              <a:rPr lang="ko-KR" altLang="en-US" sz="133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쉽게 한다는</a:t>
            </a:r>
            <a:r>
              <a:rPr lang="en-US" sz="133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LangChain의 강점이 상대적으로 약해짐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58912" y="3840480"/>
            <a:ext cx="3596640" cy="1889760"/>
          </a:xfrm>
          <a:prstGeom prst="rect">
            <a:avLst/>
          </a:prstGeom>
          <a:solidFill>
            <a:srgbClr val="17170F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41792" y="3962400"/>
            <a:ext cx="323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코딩 에이전트가 연결 코드를 씀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241792" y="4364736"/>
            <a:ext cx="323088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</a:t>
            </a:r>
            <a:r>
              <a:rPr lang="ko-KR" altLang="en-US" sz="133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요소들</a:t>
            </a:r>
            <a:r>
              <a:rPr lang="en-US" sz="133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3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사이를</a:t>
            </a:r>
            <a:r>
              <a:rPr lang="en-US" sz="133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3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연결하는</a:t>
            </a:r>
            <a:r>
              <a:rPr lang="en-US" sz="133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반복 코드는 Claude Code가 작성. 프레임워크가 줄여 주던 타이핑을 에이전트가 줄여 줌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548640" y="5913120"/>
            <a:ext cx="11094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i="1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권고(Building Effective Agents, 2024.12): ＂LLM</a:t>
            </a:r>
            <a:r>
              <a:rPr lang="ko-KR" altLang="en-US" sz="1400" i="1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i="1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API를</a:t>
            </a:r>
            <a:r>
              <a:rPr lang="en-US" sz="1400" i="1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직접 쓰는 것으로 시작하라. 많은 패턴이 몇 줄이면 된다. “</a:t>
            </a:r>
            <a:endParaRPr lang="en-US" sz="140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필요 없고, 언제 필요한가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4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 err="1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흐름이</a:t>
            </a:r>
            <a:r>
              <a:rPr lang="en-US" sz="1467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＂</a:t>
            </a:r>
            <a:r>
              <a:rPr lang="ko-KR" altLang="en-US" sz="1467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단순한 순서로 작동하는 경우</a:t>
            </a:r>
            <a:r>
              <a:rPr lang="en-US" sz="1467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＂</a:t>
            </a:r>
            <a:r>
              <a:rPr lang="ko-KR" altLang="en-US" sz="1467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</a:t>
            </a:r>
            <a:r>
              <a:rPr lang="en-US" sz="1467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없어도 되고, ＂</a:t>
            </a:r>
            <a:r>
              <a:rPr lang="ko-KR" altLang="en-US" sz="1467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로직이 복잡한</a:t>
            </a:r>
            <a:r>
              <a:rPr lang="en-US" sz="1467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67" dirty="0" err="1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</a:t>
            </a:r>
            <a:r>
              <a:rPr lang="en-US" sz="1467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＂</a:t>
            </a:r>
            <a:r>
              <a:rPr lang="ko-KR" altLang="en-US" sz="1467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제품일 경우</a:t>
            </a:r>
            <a:r>
              <a:rPr lang="en-US" sz="1467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25440" cy="3535680"/>
          </a:xfrm>
          <a:prstGeom prst="rect">
            <a:avLst/>
          </a:prstGeom>
          <a:solidFill>
            <a:srgbClr val="17170F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2480" y="1828800"/>
            <a:ext cx="4998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없어도 됨 — </a:t>
            </a:r>
            <a:r>
              <a:rPr lang="ko-KR" alt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자료 참조 용도의</a:t>
            </a:r>
            <a:r>
              <a:rPr 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RAG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92480" y="2255520"/>
            <a:ext cx="4998720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 defTabSz="1219170">
              <a:lnSpc>
                <a:spcPct val="150000"/>
              </a:lnSpc>
              <a:spcAft>
                <a:spcPts val="667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→ 검색 → 답변이 정해진 순서로 한 번 지나감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203195" indent="-203195" defTabSz="1219170">
              <a:lnSpc>
                <a:spcPct val="150000"/>
              </a:lnSpc>
              <a:spcAft>
                <a:spcPts val="667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회사 한 곳,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203195" indent="-203195" defTabSz="1219170">
              <a:lnSpc>
                <a:spcPct val="150000"/>
              </a:lnSpc>
              <a:spcAft>
                <a:spcPts val="667"/>
              </a:spcAft>
              <a:buSzPct val="100000"/>
              <a:buFontTx/>
              <a:buChar char="•"/>
            </a:pP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재검색이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필요해도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＂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부족하면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번 더＂ 수준의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203195" indent="-203195" defTabSz="1219170">
              <a:lnSpc>
                <a:spcPct val="150000"/>
              </a:lnSpc>
              <a:spcAft>
                <a:spcPts val="667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파이썬 + 모델 API + 벡터 DB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클라이언트로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425440" cy="3535680"/>
          </a:xfrm>
          <a:prstGeom prst="rect">
            <a:avLst/>
          </a:prstGeom>
          <a:solidFill>
            <a:srgbClr val="17170F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760" y="1828800"/>
            <a:ext cx="4998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필요함 — 흐름 자체가 복잡할 때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61760" y="2255520"/>
            <a:ext cx="4998720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 defTabSz="1219170">
              <a:lnSpc>
                <a:spcPct val="150000"/>
              </a:lnSpc>
              <a:spcAft>
                <a:spcPts val="667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에이전트가 역할을 나눠 협업하고, 조건에 따라 경로가 갈림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203195" indent="-203195" defTabSz="1219170">
              <a:lnSpc>
                <a:spcPct val="150000"/>
              </a:lnSpc>
              <a:spcAft>
                <a:spcPts val="667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분~수 시간 걸리는 작업을 중간 저장하고 실패 지점부터 재개해야 함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203195" indent="-203195" defTabSz="1219170">
              <a:lnSpc>
                <a:spcPct val="150000"/>
              </a:lnSpc>
              <a:spcAft>
                <a:spcPts val="667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민감한 동작 전에 사람 승인을 받고 멈췄다가 이어 감 </a:t>
            </a:r>
          </a:p>
          <a:p>
            <a:pPr marL="203195" indent="-203195" defTabSz="1219170">
              <a:lnSpc>
                <a:spcPct val="150000"/>
              </a:lnSpc>
              <a:spcAft>
                <a:spcPts val="667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회사를 바꿔 낄 가능성이 있거나, 팀 표준이 이미 LangChain/LangGraph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203195" indent="-203195" defTabSz="1219170">
              <a:lnSpc>
                <a:spcPct val="150000"/>
              </a:lnSpc>
              <a:spcAft>
                <a:spcPts val="667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경로를 단계별로 추적·디버깅해야 함 (LangSmith 연동)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— "이제 굳이 안 써도 된다"는 맞는 말인가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158240"/>
            <a:ext cx="11094720" cy="3405293"/>
          </a:xfrm>
          <a:prstGeom prst="rect">
            <a:avLst/>
          </a:prstGeom>
          <a:solidFill>
            <a:srgbClr val="17170F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92480" y="1280160"/>
            <a:ext cx="10607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altLang="ko-KR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</a:t>
            </a:r>
            <a:r>
              <a:rPr lang="ko-KR" alt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→ </a:t>
            </a:r>
            <a:r>
              <a:rPr lang="en-US" altLang="ko-KR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r>
              <a:rPr lang="ko-KR" alt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</a:t>
            </a:r>
            <a:r>
              <a:rPr lang="en-US" altLang="ko-KR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733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프레임워크가 맡던 영역이 </a:t>
            </a:r>
            <a:r>
              <a:rPr lang="ko-KR" altLang="en-US" sz="1733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좁아짐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92480" y="1706880"/>
            <a:ext cx="10607040" cy="25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94" indent="-228594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년에는 도구 호출 규격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67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캐싱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연동이 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없어 직접 쓰면 연결 코드가 많았고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프레임워크가 그것을 대신해 주니 편리하다는 이점이 컸음</a:t>
            </a:r>
            <a:endParaRPr lang="en-US" altLang="ko-KR" sz="1467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28594" indent="-228594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년에는 컨텍스트 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토큰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검색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67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캐싱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압축이 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기능</a:t>
            </a:r>
            <a:endParaRPr lang="en-US" altLang="ko-KR" sz="1467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28594" indent="-228594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연동은 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표준화됨</a:t>
            </a:r>
            <a:endParaRPr lang="en-US" altLang="ko-KR" sz="1467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28594" indent="-228594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기본형 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만으로 충분해졌고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프레임워크는 흐름이 복잡한 작업에 적합 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에이전트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장시간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승인 추가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228594" indent="-228594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RAG 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개념을 알고 있으면 </a:t>
            </a:r>
            <a:r>
              <a:rPr lang="en-US" altLang="ko-KR" sz="1467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프레임워크가 필요한 상황에서  </a:t>
            </a:r>
            <a:r>
              <a:rPr lang="en-US" altLang="ko-KR" sz="1467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code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구현 시키면 됨</a:t>
            </a:r>
            <a:endParaRPr lang="en-US" altLang="ko-KR" sz="1467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28594" indent="-228594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실습에서도 </a:t>
            </a:r>
            <a:r>
              <a:rPr lang="en-US" altLang="ko-KR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</a:t>
            </a:r>
            <a:r>
              <a:rPr lang="ko-KR" altLang="en-US" sz="1467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개념을 프레임워크 없이 직접 구현하는 방향 위주로 진행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추가 동향 — 이 강의 범위 밖이지만 알아둘 것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59"/>
            <a:ext cx="5090008" cy="4197773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96596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 문서 검색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468880"/>
            <a:ext cx="4541368" cy="337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방식은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글자만 뽑아 검색했음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그러면 표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도면은 사라짐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방식은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페이지를 사진처럼 그대로 </a:t>
            </a: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임베딩해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글자와 그림을 함께 보고 찾음</a:t>
            </a:r>
            <a:endParaRPr lang="en-US" altLang="ko-KR" sz="15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표와 그림이 많은 문서에서 유력한 선택지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페이지마다 벡터가 수백 개 생겨 저장 공간이 크게 늘고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이를 지원하는 벡터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78728" y="1737359"/>
            <a:ext cx="5090008" cy="4197773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96596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계층의 분리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53048" y="2468879"/>
            <a:ext cx="4648352" cy="3178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찾는 것은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 적힌 지식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저장하고 있는 메모리는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＂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사용자가 </a:t>
            </a: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누구고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지금까지 무엇을 했는지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(Claude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메모리 기능 생각하면 쉬움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개가 성격이 달라 저장소를 따로 두는 것이 표준이 됨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추가 동향 — 이 강의 범위 밖이지만 알아둘 것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59"/>
            <a:ext cx="5090008" cy="4617721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96596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계층의 보안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468879"/>
            <a:ext cx="4541368" cy="37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검색으로 가져온 문서 안에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문서를 읽는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비밀번호를 출력하라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문장이 숨어 있으면 모델이 명령으로 착각할 수 있음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</a:t>
            </a: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인젝션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</a:t>
            </a:r>
          </a:p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대상에 악성 문서를 몰래 넣어 두는 공격도 있음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 오염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</a:t>
            </a:r>
          </a:p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검색 결과를 명령이 아닌 자료로 구분해서 관리하고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믿을 수 있는 출처만 색인하고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검사를 검색 단계에 두는 것이 최소한의 방어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</a:p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막는 방법은 아직 없음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78728" y="1737360"/>
            <a:ext cx="5090008" cy="4617720"/>
          </a:xfrm>
          <a:prstGeom prst="rect">
            <a:avLst/>
          </a:prstGeom>
          <a:solidFill>
            <a:srgbClr val="1A1810"/>
          </a:solidFill>
          <a:ln w="9525">
            <a:solidFill>
              <a:srgbClr val="4A46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96596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검색을 표준 도구로 노출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53048" y="2468879"/>
            <a:ext cx="4541368" cy="37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기능을 </a:t>
            </a: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하나에 묶어 두지 않고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규격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(MCP)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맞춘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만들어 둠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그러면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Code, IDE,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</a:t>
            </a:r>
            <a:r>
              <a:rPr lang="ko-KR" alt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 어떤 에이전트에서도 같은 검색을 부를 수 있음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계층을 한 번 만들어 여러 곳에서 재사용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구성이 확산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5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Drive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예시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Google Drive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자체에서 파일 인덱싱이 쉽도록 구조를 미리 정리해 놓아서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모델들이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Drive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내에서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검색할 때 빠르게 할 수 있도록 함 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3156</Words>
  <Application>Microsoft Office PowerPoint</Application>
  <PresentationFormat>와이드스크린</PresentationFormat>
  <Paragraphs>307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think</cp:lastModifiedBy>
  <cp:revision>1</cp:revision>
  <dcterms:created xsi:type="dcterms:W3CDTF">2026-09-17T06:29:24Z</dcterms:created>
  <dcterms:modified xsi:type="dcterms:W3CDTF">2026-09-20T11:32:45Z</dcterms:modified>
</cp:coreProperties>
</file>