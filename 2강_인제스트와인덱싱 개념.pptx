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332" r:id="rId5"/>
    <p:sldId id="260" r:id="rId6"/>
    <p:sldId id="261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6" r:id="rId19"/>
    <p:sldId id="277" r:id="rId20"/>
    <p:sldId id="279" r:id="rId21"/>
    <p:sldId id="333" r:id="rId22"/>
    <p:sldId id="280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7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4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코퍼스 논문 한 편의 파싱 결과를 화면에 띄워 2단 조판과 표가 깨진 부분을 시연할 것. 리허설에서 대상 논문 미리 선정.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첫 구축과 내부 동작 이해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인제스트와</a:t>
            </a: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44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인덱싱</a:t>
            </a: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599"/>
            <a:ext cx="10881360" cy="1005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1강에서 검색 방식을 두 가지로 구분했음. 하나는 질문이 오기 전에 문서를 미리 가공해 두는 사전 색인 검색, 다른 하나는 질문이 올 때마다 파일을 직접 열어 찾는 실행 시점 탐색(에이전틱 서치). 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강의는</a:t>
            </a: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색인 방식의 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</a:t>
            </a: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'미리 가공해 두는' 부분을 직접 만들어 보는 시간임.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86004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0246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54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79776" y="3408680"/>
            <a:ext cx="219456" cy="0"/>
          </a:xfrm>
          <a:prstGeom prst="line">
            <a:avLst/>
          </a:prstGeom>
          <a:noFill/>
          <a:ln w="22225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035808" y="286004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262626"/>
          </a:solidFill>
          <a:ln w="19050">
            <a:solidFill>
              <a:srgbClr val="FFD7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35808" y="30246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청킹·임베딩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035808" y="3454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시간에 </a:t>
            </a:r>
            <a:r>
              <a:rPr lang="en-US" sz="12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992624" y="3408680"/>
            <a:ext cx="219456" cy="0"/>
          </a:xfrm>
          <a:prstGeom prst="line">
            <a:avLst/>
          </a:prstGeom>
          <a:noFill/>
          <a:ln w="22225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48656" y="286004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262626"/>
          </a:solidFill>
          <a:ln w="19050">
            <a:solidFill>
              <a:srgbClr val="FFD7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48656" y="30246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색인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3454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시간에</a:t>
            </a: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구현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205472" y="3408680"/>
            <a:ext cx="219456" cy="0"/>
          </a:xfrm>
          <a:prstGeom prst="line">
            <a:avLst/>
          </a:prstGeom>
          <a:noFill/>
          <a:ln w="22225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61504" y="286004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61504" y="30246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유사도 검색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418320" y="3408680"/>
            <a:ext cx="219456" cy="0"/>
          </a:xfrm>
          <a:prstGeom prst="line">
            <a:avLst/>
          </a:prstGeom>
          <a:noFill/>
          <a:ln w="22225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74352" y="286004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74352" y="30246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청크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 — </a:t>
            </a:r>
            <a:r>
              <a:rPr lang="ko-KR" alt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실습에서 </a:t>
            </a:r>
            <a:r>
              <a:rPr lang="en-US" altLang="ko-KR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</a:t>
            </a: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인제스트와</a:t>
            </a: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인덱싱</a:t>
            </a: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 </a:t>
            </a:r>
            <a:r>
              <a:rPr lang="ko-KR" alt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257800" cy="3657600"/>
          </a:xfrm>
          <a:prstGeom prst="roundRect">
            <a:avLst>
              <a:gd name="adj" fmla="val 2000"/>
            </a:avLst>
          </a:prstGeom>
          <a:solidFill>
            <a:srgbClr val="262626"/>
          </a:solidFill>
          <a:ln w="19050">
            <a:solidFill>
              <a:srgbClr val="FFD7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7276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인제스트 (ingest)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9456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데이터를 시스템 안으로 들여오는 과정. '섭취하다'라는 뜻의 영어 단어로, 데이터 파이프라인 전반에서 쓰는 용어</a:t>
            </a:r>
          </a:p>
          <a:p>
            <a:pPr marL="228600" indent="-2286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4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강의에서는 </a:t>
            </a:r>
            <a:r>
              <a:rPr lang="ko-KR" alt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PDF에서 텍스트를 뽑아내고(파싱), 검색 단위인 청크로 잘라 두는(청킹) 준비 작업</a:t>
            </a:r>
          </a:p>
          <a:p>
            <a:pPr marL="457200" indent="-228600"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buClr>
                <a:srgbClr val="FFFFFF"/>
              </a:buClr>
              <a:buSzPct val="100000"/>
              <a:buChar char="–"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</a:t>
            </a: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데이터가 여러 처리 단계를 차례로 거쳐 가는 흐름</a:t>
            </a:r>
          </a:p>
          <a:p>
            <a:pPr marL="457200" indent="-228600">
              <a:lnSpc>
                <a:spcPct val="120000"/>
              </a:lnSpc>
              <a:spcAft>
                <a:spcPts val="300"/>
              </a:spcAft>
              <a:buClr>
                <a:srgbClr val="FFFFFF"/>
              </a:buClr>
              <a:buSzPct val="100000"/>
              <a:buChar char="–"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파싱</a:t>
            </a: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파일 구조를 해석해 필요한 내용을 꺼내는 것</a:t>
            </a:r>
          </a:p>
          <a:p>
            <a:pPr marL="457200" indent="-228600">
              <a:lnSpc>
                <a:spcPct val="120000"/>
              </a:lnSpc>
              <a:spcAft>
                <a:spcPts val="300"/>
              </a:spcAft>
              <a:buClr>
                <a:srgbClr val="FFFFFF"/>
              </a:buClr>
              <a:buSzPct val="100000"/>
              <a:buChar char="–"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</a:t>
            </a: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검색할 때 한 번에 꺼내 쓰는 글 조각</a:t>
            </a:r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257800" cy="3657600"/>
          </a:xfrm>
          <a:prstGeom prst="roundRect">
            <a:avLst>
              <a:gd name="adj" fmla="val 2000"/>
            </a:avLst>
          </a:prstGeom>
          <a:solidFill>
            <a:srgbClr val="262626"/>
          </a:solidFill>
          <a:ln w="19050">
            <a:solidFill>
              <a:srgbClr val="FFD7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57276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인덱싱 (indexing)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19456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검색할 때마다 원본을 처음부터 훑지 않도록 데이터를 미리 정리해 두는 작업. 그 결과물이 색인(index)으로, 책 뒤의 '찾아보기'와 같은 역할</a:t>
            </a:r>
          </a:p>
          <a:p>
            <a:pPr marL="228600" indent="-2286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4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강의에서는 </a:t>
            </a:r>
            <a:r>
              <a:rPr lang="ko-KR" alt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청크마다 의미를 나타내는 수치 벡터를 만들고(임베딩), 검색에 쓸 수 있게 저장하는 작업. 질문이 오면 질문만 벡터로 바꿔 비교하면 됨</a:t>
            </a:r>
          </a:p>
          <a:p>
            <a:pPr marL="457200" indent="-228600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Clr>
                <a:srgbClr val="FFFFFF"/>
              </a:buClr>
              <a:buSzPct val="100000"/>
              <a:buChar char="–"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</a:t>
            </a: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숫자를 한 줄로 늘어놓은 것</a:t>
            </a:r>
            <a:r>
              <a:rPr lang="en-US" altLang="ko-KR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숫자들을 좌표로 보면 </a:t>
            </a:r>
            <a:r>
              <a:rPr lang="en-US" altLang="ko-KR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 공간</a:t>
            </a:r>
            <a:r>
              <a:rPr lang="en-US" altLang="ko-KR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 </a:t>
            </a: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 한 점의 위치가 됨</a:t>
            </a:r>
          </a:p>
          <a:p>
            <a:pPr marL="457200" indent="-228600">
              <a:lnSpc>
                <a:spcPct val="120000"/>
              </a:lnSpc>
              <a:spcAft>
                <a:spcPts val="300"/>
              </a:spcAft>
              <a:buClr>
                <a:srgbClr val="FFFFFF"/>
              </a:buClr>
              <a:buSzPct val="100000"/>
              <a:buChar char="–"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</a:t>
            </a: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뜻이 비슷한 글일수록 가까운 벡터가 나오도록 글을 숫자로 바꾸는 것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640080" y="539496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30000"/>
              </a:lnSpc>
              <a:spcAft>
                <a:spcPts val="400"/>
              </a:spcAft>
              <a:buClr>
                <a:srgbClr val="FFD733"/>
              </a:buClr>
              <a:buSzPct val="100000"/>
              <a:buChar char="※"/>
            </a:pPr>
            <a:r>
              <a:rPr lang="ko-KR" alt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실습에서 부르는 이름  </a:t>
            </a:r>
            <a:r>
              <a:rPr lang="ko-KR" altLang="en-US" sz="12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강의는 실습에서 부르기 편하도록 파싱·청킹을 '인제스트'(ingest.py), 임베딩·저장을 '인덱싱'(index.py)으로 나눠 부름. 실제로 사용하는 네이밍이지만 업계에서는 이 두 용어가 통일되어 있지 않음(다음 </a:t>
            </a:r>
            <a:r>
              <a:rPr lang="ko-KR" altLang="en-US" sz="120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장)</a:t>
            </a:r>
            <a:endParaRPr lang="ko-KR" altLang="en-US" sz="12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</a:t>
            </a:r>
            <a:r>
              <a:rPr lang="en-US" altLang="ko-KR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ko-KR" alt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표현은 업체마다 달라도 흐름은 같음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40080" y="1170432"/>
            <a:ext cx="108813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①~④ 단계를 어디서 끊어 무엇이라 부르는지 비교 (각 사 공식 문서 기준)</a:t>
            </a:r>
          </a:p>
        </p:txBody>
      </p:sp>
      <p:sp>
        <p:nvSpPr>
          <p:cNvPr id="5" name="Stage 1"/>
          <p:cNvSpPr/>
          <p:nvPr/>
        </p:nvSpPr>
        <p:spPr>
          <a:xfrm>
            <a:off x="3108960" y="1627632"/>
            <a:ext cx="2011680" cy="457200"/>
          </a:xfrm>
          <a:prstGeom prst="homePlate">
            <a:avLst>
              <a:gd name="adj" fmla="val 30000"/>
            </a:avLst>
          </a:prstGeom>
          <a:solidFill>
            <a:srgbClr val="3A3A3A"/>
          </a:solidFill>
          <a:ln>
            <a:noFill/>
          </a:ln>
        </p:spPr>
        <p:txBody>
          <a:bodyPr wrap="square" lIns="45720" tIns="0" rIns="13716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불러오기·파싱</a:t>
            </a:r>
          </a:p>
        </p:txBody>
      </p:sp>
      <p:sp>
        <p:nvSpPr>
          <p:cNvPr id="6" name="Stage 2"/>
          <p:cNvSpPr/>
          <p:nvPr/>
        </p:nvSpPr>
        <p:spPr>
          <a:xfrm>
            <a:off x="5212080" y="1627632"/>
            <a:ext cx="2011680" cy="457200"/>
          </a:xfrm>
          <a:prstGeom prst="homePlate">
            <a:avLst>
              <a:gd name="adj" fmla="val 30000"/>
            </a:avLst>
          </a:prstGeom>
          <a:solidFill>
            <a:srgbClr val="3A3A3A"/>
          </a:solidFill>
          <a:ln>
            <a:noFill/>
          </a:ln>
        </p:spPr>
        <p:txBody>
          <a:bodyPr wrap="square" lIns="45720" tIns="0" rIns="13716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청킹</a:t>
            </a:r>
          </a:p>
        </p:txBody>
      </p:sp>
      <p:sp>
        <p:nvSpPr>
          <p:cNvPr id="7" name="Stage 3"/>
          <p:cNvSpPr/>
          <p:nvPr/>
        </p:nvSpPr>
        <p:spPr>
          <a:xfrm>
            <a:off x="7315200" y="1627632"/>
            <a:ext cx="2011680" cy="457200"/>
          </a:xfrm>
          <a:prstGeom prst="homePlate">
            <a:avLst>
              <a:gd name="adj" fmla="val 30000"/>
            </a:avLst>
          </a:prstGeom>
          <a:solidFill>
            <a:srgbClr val="3A3A3A"/>
          </a:solidFill>
          <a:ln>
            <a:noFill/>
          </a:ln>
        </p:spPr>
        <p:txBody>
          <a:bodyPr wrap="square" lIns="45720" tIns="0" rIns="13716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임베딩</a:t>
            </a:r>
          </a:p>
        </p:txBody>
      </p:sp>
      <p:sp>
        <p:nvSpPr>
          <p:cNvPr id="8" name="Stage 4"/>
          <p:cNvSpPr/>
          <p:nvPr/>
        </p:nvSpPr>
        <p:spPr>
          <a:xfrm>
            <a:off x="9418320" y="1627632"/>
            <a:ext cx="2011680" cy="457200"/>
          </a:xfrm>
          <a:prstGeom prst="homePlate">
            <a:avLst>
              <a:gd name="adj" fmla="val 30000"/>
            </a:avLst>
          </a:prstGeom>
          <a:solidFill>
            <a:srgbClr val="3A3A3A"/>
          </a:solidFill>
          <a:ln>
            <a:noFill/>
          </a:ln>
        </p:spPr>
        <p:txBody>
          <a:bodyPr wrap="square" lIns="45720" tIns="0" rIns="13716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색인 저장</a:t>
            </a:r>
          </a:p>
        </p:txBody>
      </p:sp>
      <p:sp>
        <p:nvSpPr>
          <p:cNvPr id="9" name="Label 1"/>
          <p:cNvSpPr txBox="1"/>
          <p:nvPr/>
        </p:nvSpPr>
        <p:spPr>
          <a:xfrm>
            <a:off x="640080" y="221284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강의 (실습용 이름)</a:t>
            </a:r>
          </a:p>
        </p:txBody>
      </p:sp>
      <p:sp>
        <p:nvSpPr>
          <p:cNvPr id="10" name="Label 2"/>
          <p:cNvSpPr txBox="1"/>
          <p:nvPr/>
        </p:nvSpPr>
        <p:spPr>
          <a:xfrm>
            <a:off x="640080" y="267004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LlamaIndex 개념 문서</a:t>
            </a:r>
          </a:p>
        </p:txBody>
      </p:sp>
      <p:sp>
        <p:nvSpPr>
          <p:cNvPr id="11" name="Label 3"/>
          <p:cNvSpPr txBox="1"/>
          <p:nvPr/>
        </p:nvSpPr>
        <p:spPr>
          <a:xfrm>
            <a:off x="640080" y="312724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LangChain · RAG 서베이 논문</a:t>
            </a:r>
          </a:p>
        </p:txBody>
      </p:sp>
      <p:sp>
        <p:nvSpPr>
          <p:cNvPr id="12" name="Label 4"/>
          <p:cNvSpPr txBox="1"/>
          <p:nvPr/>
        </p:nvSpPr>
        <p:spPr>
          <a:xfrm>
            <a:off x="640080" y="358444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Amazon Bedrock</a:t>
            </a:r>
          </a:p>
        </p:txBody>
      </p:sp>
      <p:sp>
        <p:nvSpPr>
          <p:cNvPr id="13" name="Label 5"/>
          <p:cNvSpPr txBox="1"/>
          <p:nvPr/>
        </p:nvSpPr>
        <p:spPr>
          <a:xfrm>
            <a:off x="640080" y="404164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Vertex AI</a:t>
            </a:r>
          </a:p>
        </p:txBody>
      </p:sp>
      <p:sp>
        <p:nvSpPr>
          <p:cNvPr id="14" name="Bar r0c0"/>
          <p:cNvSpPr/>
          <p:nvPr/>
        </p:nvSpPr>
        <p:spPr>
          <a:xfrm>
            <a:off x="3108960" y="2212848"/>
            <a:ext cx="4114800" cy="365760"/>
          </a:xfrm>
          <a:prstGeom prst="roundRect">
            <a:avLst>
              <a:gd name="adj" fmla="val 20000"/>
            </a:avLst>
          </a:prstGeom>
          <a:solidFill>
            <a:srgbClr val="262626"/>
          </a:solidFill>
          <a:ln w="15875">
            <a:solidFill>
              <a:srgbClr val="FFD733"/>
            </a:solidFill>
          </a:ln>
        </p:spPr>
        <p:txBody>
          <a:bodyPr wrap="square" lIns="137160" tIns="0" rIns="9144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인제스트 · ingest.py</a:t>
            </a:r>
          </a:p>
        </p:txBody>
      </p:sp>
      <p:sp>
        <p:nvSpPr>
          <p:cNvPr id="15" name="Bar r0c2"/>
          <p:cNvSpPr/>
          <p:nvPr/>
        </p:nvSpPr>
        <p:spPr>
          <a:xfrm>
            <a:off x="7315200" y="2212848"/>
            <a:ext cx="4114800" cy="365760"/>
          </a:xfrm>
          <a:prstGeom prst="roundRect">
            <a:avLst>
              <a:gd name="adj" fmla="val 20000"/>
            </a:avLst>
          </a:prstGeom>
          <a:solidFill>
            <a:srgbClr val="FFD733"/>
          </a:solidFill>
          <a:ln>
            <a:noFill/>
          </a:ln>
        </p:spPr>
        <p:txBody>
          <a:bodyPr wrap="square" lIns="137160" tIns="0" rIns="9144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인덱싱 · index.py</a:t>
            </a:r>
          </a:p>
        </p:txBody>
      </p:sp>
      <p:sp>
        <p:nvSpPr>
          <p:cNvPr id="16" name="Bar r1c0"/>
          <p:cNvSpPr/>
          <p:nvPr/>
        </p:nvSpPr>
        <p:spPr>
          <a:xfrm>
            <a:off x="3108960" y="2670048"/>
            <a:ext cx="4114800" cy="365760"/>
          </a:xfrm>
          <a:prstGeom prst="roundRect">
            <a:avLst>
              <a:gd name="adj" fmla="val 20000"/>
            </a:avLst>
          </a:prstGeom>
          <a:solidFill>
            <a:srgbClr val="262626"/>
          </a:solidFill>
          <a:ln w="15875">
            <a:solidFill>
              <a:srgbClr val="FFD733"/>
            </a:solidFill>
          </a:ln>
        </p:spPr>
        <p:txBody>
          <a:bodyPr wrap="square" lIns="137160" tIns="0" rIns="9144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Loading (Ingestion)</a:t>
            </a:r>
          </a:p>
        </p:txBody>
      </p:sp>
      <p:sp>
        <p:nvSpPr>
          <p:cNvPr id="17" name="Bar r1c2"/>
          <p:cNvSpPr/>
          <p:nvPr/>
        </p:nvSpPr>
        <p:spPr>
          <a:xfrm>
            <a:off x="7315200" y="2670048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FFD733"/>
          </a:solidFill>
          <a:ln>
            <a:noFill/>
          </a:ln>
        </p:spPr>
        <p:txBody>
          <a:bodyPr wrap="square" lIns="137160" tIns="0" rIns="9144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Indexing</a:t>
            </a:r>
          </a:p>
        </p:txBody>
      </p:sp>
      <p:sp>
        <p:nvSpPr>
          <p:cNvPr id="18" name="Bar r1c3"/>
          <p:cNvSpPr/>
          <p:nvPr/>
        </p:nvSpPr>
        <p:spPr>
          <a:xfrm>
            <a:off x="9418320" y="2670048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333333"/>
          </a:solidFill>
          <a:ln>
            <a:noFill/>
          </a:ln>
        </p:spPr>
        <p:txBody>
          <a:bodyPr wrap="square" lIns="137160" tIns="0" rIns="9144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Storing</a:t>
            </a:r>
          </a:p>
        </p:txBody>
      </p:sp>
      <p:sp>
        <p:nvSpPr>
          <p:cNvPr id="19" name="Bar r2c0"/>
          <p:cNvSpPr/>
          <p:nvPr/>
        </p:nvSpPr>
        <p:spPr>
          <a:xfrm>
            <a:off x="3108960" y="3127248"/>
            <a:ext cx="8321040" cy="365760"/>
          </a:xfrm>
          <a:prstGeom prst="roundRect">
            <a:avLst>
              <a:gd name="adj" fmla="val 20000"/>
            </a:avLst>
          </a:prstGeom>
          <a:solidFill>
            <a:srgbClr val="FFD733"/>
          </a:solidFill>
          <a:ln>
            <a:noFill/>
          </a:ln>
        </p:spPr>
        <p:txBody>
          <a:bodyPr wrap="square" lIns="137160" tIns="0" rIns="9144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Indexing (전 과정)</a:t>
            </a:r>
          </a:p>
        </p:txBody>
      </p:sp>
      <p:sp>
        <p:nvSpPr>
          <p:cNvPr id="20" name="Bar r3c0"/>
          <p:cNvSpPr/>
          <p:nvPr/>
        </p:nvSpPr>
        <p:spPr>
          <a:xfrm>
            <a:off x="3108960" y="3584448"/>
            <a:ext cx="8321040" cy="365760"/>
          </a:xfrm>
          <a:prstGeom prst="roundRect">
            <a:avLst>
              <a:gd name="adj" fmla="val 20000"/>
            </a:avLst>
          </a:prstGeom>
          <a:solidFill>
            <a:srgbClr val="262626"/>
          </a:solidFill>
          <a:ln w="15875">
            <a:solidFill>
              <a:srgbClr val="FFD733"/>
            </a:solidFill>
          </a:ln>
        </p:spPr>
        <p:txBody>
          <a:bodyPr wrap="square" lIns="137160" tIns="0" rIns="91440" bIns="0" rtlCol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Ingestion (전 과정)</a:t>
            </a:r>
          </a:p>
        </p:txBody>
      </p:sp>
      <p:sp>
        <p:nvSpPr>
          <p:cNvPr id="21" name="Bar r3c3"/>
          <p:cNvSpPr/>
          <p:nvPr/>
        </p:nvSpPr>
        <p:spPr>
          <a:xfrm>
            <a:off x="9473184" y="3639312"/>
            <a:ext cx="1901952" cy="256032"/>
          </a:xfrm>
          <a:prstGeom prst="roundRect">
            <a:avLst>
              <a:gd name="adj" fmla="val 20000"/>
            </a:avLst>
          </a:prstGeom>
          <a:solidFill>
            <a:srgbClr val="FFD733"/>
          </a:solidFill>
          <a:ln>
            <a:noFill/>
          </a:ln>
        </p:spPr>
        <p:txBody>
          <a:bodyPr wrap="square" lIns="137160" tIns="0" rIns="9144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그중 ④만 indexing</a:t>
            </a:r>
          </a:p>
        </p:txBody>
      </p:sp>
      <p:sp>
        <p:nvSpPr>
          <p:cNvPr id="22" name="Bar r4c0"/>
          <p:cNvSpPr/>
          <p:nvPr/>
        </p:nvSpPr>
        <p:spPr>
          <a:xfrm>
            <a:off x="3108960" y="4041648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262626"/>
          </a:solidFill>
          <a:ln w="15875">
            <a:solidFill>
              <a:srgbClr val="FFD733"/>
            </a:solidFill>
          </a:ln>
        </p:spPr>
        <p:txBody>
          <a:bodyPr wrap="square" lIns="137160" tIns="0" rIns="9144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Ingestion</a:t>
            </a:r>
          </a:p>
        </p:txBody>
      </p:sp>
      <p:sp>
        <p:nvSpPr>
          <p:cNvPr id="23" name="Bar r4c1"/>
          <p:cNvSpPr/>
          <p:nvPr/>
        </p:nvSpPr>
        <p:spPr>
          <a:xfrm>
            <a:off x="5212080" y="4041648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333333"/>
          </a:solidFill>
          <a:ln>
            <a:noFill/>
          </a:ln>
        </p:spPr>
        <p:txBody>
          <a:bodyPr wrap="square" lIns="137160" tIns="0" rIns="9144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Transformation</a:t>
            </a:r>
          </a:p>
        </p:txBody>
      </p:sp>
      <p:sp>
        <p:nvSpPr>
          <p:cNvPr id="24" name="Bar r4c2"/>
          <p:cNvSpPr/>
          <p:nvPr/>
        </p:nvSpPr>
        <p:spPr>
          <a:xfrm>
            <a:off x="7315200" y="4041648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333333"/>
          </a:solidFill>
          <a:ln>
            <a:noFill/>
          </a:ln>
        </p:spPr>
        <p:txBody>
          <a:bodyPr wrap="square" lIns="137160" tIns="0" rIns="9144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Embedding</a:t>
            </a:r>
          </a:p>
        </p:txBody>
      </p:sp>
      <p:sp>
        <p:nvSpPr>
          <p:cNvPr id="25" name="Bar r4c3"/>
          <p:cNvSpPr/>
          <p:nvPr/>
        </p:nvSpPr>
        <p:spPr>
          <a:xfrm>
            <a:off x="9418320" y="4041648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FFD733"/>
          </a:solidFill>
          <a:ln>
            <a:noFill/>
          </a:ln>
        </p:spPr>
        <p:txBody>
          <a:bodyPr wrap="square" lIns="137160" tIns="0" rIns="9144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Indexing</a:t>
            </a:r>
          </a:p>
        </p:txBody>
      </p:sp>
      <p:sp>
        <p:nvSpPr>
          <p:cNvPr id="26" name="Note"/>
          <p:cNvSpPr txBox="1"/>
          <p:nvPr/>
        </p:nvSpPr>
        <p:spPr>
          <a:xfrm>
            <a:off x="640080" y="4517136"/>
            <a:ext cx="108813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강의는 실습에서 부르기 편하도록 LlamaIndex 개념 문서와 거의 같게 나눔 (④ 저장을 따로 떼지 않고 인덱싱에 넣은 점만 다름)</a:t>
            </a:r>
          </a:p>
        </p:txBody>
      </p:sp>
      <p:sp>
        <p:nvSpPr>
          <p:cNvPr id="27" name="Key message"/>
          <p:cNvSpPr/>
          <p:nvPr/>
        </p:nvSpPr>
        <p:spPr>
          <a:xfrm>
            <a:off x="640080" y="4937760"/>
            <a:ext cx="10881360" cy="1572768"/>
          </a:xfrm>
          <a:prstGeom prst="roundRect">
            <a:avLst>
              <a:gd name="adj" fmla="val 2000"/>
            </a:avLst>
          </a:prstGeom>
          <a:solidFill>
            <a:srgbClr val="262626"/>
          </a:solidFill>
          <a:ln w="19050">
            <a:solidFill>
              <a:srgbClr val="FFD733"/>
            </a:solidFill>
          </a:ln>
        </p:spPr>
        <p:txBody>
          <a:bodyPr wrap="square" lIns="274320" tIns="91440" rIns="274320" bIns="91440" rtlCol="0" anchor="ctr"/>
          <a:lstStyle/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lang="ko-KR" alt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</a:p>
          <a:p>
            <a:pPr marL="228600" indent="-228600" algn="l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용어는 통일되어 있지 않음. RAG 주요 업체·도구들도 인제스트와 인덱싱이 가리키는 범위를 서로 다르게 정의함</a:t>
            </a:r>
          </a:p>
          <a:p>
            <a:pPr marL="228600" indent="-228600" algn="l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것은 이름이 아니라 RAG 전체 흐름. </a:t>
            </a:r>
            <a:r>
              <a:rPr lang="ko-KR" altLang="en-US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과정인 이 강의는 ①~④ 준비부터 검색·답변 생성까지 흐름 전체의 이해에 집중</a:t>
            </a:r>
          </a:p>
          <a:p>
            <a:pPr marL="228600" indent="-228600" algn="l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현업에서 특정 도구를 깊이 쓸 때는, </a:t>
            </a:r>
            <a:r>
              <a:rPr lang="ko-KR" altLang="en-US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도구가 말하는 인제스트·인덱싱이 ①~④ 중 어디까지인지 알아볼 수 있으면 충분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실습에서 </a:t>
            </a: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확인하는</a:t>
            </a: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8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910911"/>
              </p:ext>
            </p:extLst>
          </p:nvPr>
        </p:nvGraphicFramePr>
        <p:xfrm>
          <a:off x="655320" y="1529080"/>
          <a:ext cx="10881360" cy="35661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 단계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수행 내용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확인하는 개념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인제스트 프롬프트 실행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PDF 27편 파싱 후 청킹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PDF에서 텍스트를 뽑을 때 생기는 손상, 문단 경계를 기준으로 자르는 방식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인제스트 결과 판정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청크 수·접두어·본문 확인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청크 크기와 오버랩이 만들어 내는 결과, 메타데이터 접두어의 역할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인덱싱 프롬프트 실행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청크를 수치 벡터로 변환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임베딩 모델의 입력과 출력, 정규화, 모델 크기와 처리 시간의 관계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인덱싱 결과 판정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 수·차원 확인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차원(벡터를 이루는 숫자의 개수)의 의미, 청크 번호와 행렬의 행 번호가 대응하는 관계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 — 오늘 생성되는 파일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262626"/>
          </a:solidFill>
          <a:ln w="19050">
            <a:solidFill>
              <a:srgbClr val="FFD7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7099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인제스트 프롬프트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①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017520" y="2103120"/>
            <a:ext cx="548640" cy="0"/>
          </a:xfrm>
          <a:prstGeom prst="line">
            <a:avLst/>
          </a:prstGeom>
          <a:noFill/>
          <a:ln w="22225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657600" y="160020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94760" y="17099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ingest.py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35040" y="2103120"/>
            <a:ext cx="548640" cy="0"/>
          </a:xfrm>
          <a:prstGeom prst="line">
            <a:avLst/>
          </a:prstGeom>
          <a:noFill/>
          <a:ln w="22225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675120" y="1417320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12280" y="15270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chunks.jsonl — 청크 목록¹ (한 줄 = 청크 1개)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675120" y="2194560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12280" y="23042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corpus_txt/ — PDF별 </a:t>
            </a:r>
            <a:r>
              <a:rPr lang="en-US" sz="135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</a:t>
            </a: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47472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262626"/>
          </a:solidFill>
          <a:ln w="19050">
            <a:solidFill>
              <a:srgbClr val="FFD7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5844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인덱싱 프롬프트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023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③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017520" y="3977640"/>
            <a:ext cx="548640" cy="0"/>
          </a:xfrm>
          <a:prstGeom prst="line">
            <a:avLst/>
          </a:prstGeom>
          <a:noFill/>
          <a:ln w="22225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657600" y="347472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94760" y="35844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index.py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035040" y="3977640"/>
            <a:ext cx="548640" cy="0"/>
          </a:xfrm>
          <a:prstGeom prst="line">
            <a:avLst/>
          </a:prstGeom>
          <a:noFill/>
          <a:ln w="22225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675120" y="3291840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12280" y="34015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embeddings.npy — 청크별 벡터 행렬² (N × 384)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675120" y="4069080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12280" y="417880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meta.json — 청크 번호 순서, 사용한 모델 이름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098280" y="2852928"/>
            <a:ext cx="0" cy="393192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9235440" y="2852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chunks.jsonl을 입력으로 사용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5943600"/>
            <a:ext cx="10881360" cy="0"/>
          </a:xfrm>
          <a:prstGeom prst="line">
            <a:avLst/>
          </a:prstGeom>
          <a:noFill/>
          <a:ln w="9525">
            <a:solidFill>
              <a:srgbClr val="8A7A2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600760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¹ JSONL</a:t>
            </a: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05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줄에 JSON 객체 하나를 기록하는 텍스트 파일 형식. 줄 단위로 읽고 추가할 수 </a:t>
            </a:r>
            <a:r>
              <a:rPr lang="en-US" sz="105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</a:t>
            </a:r>
            <a:r>
              <a:rPr lang="en-US" sz="105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5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효율이 좋아</a:t>
            </a:r>
            <a:r>
              <a:rPr lang="en-US" sz="105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대량 데이터 처리에 </a:t>
            </a:r>
            <a:r>
              <a:rPr lang="en-US" sz="105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사용됨</a:t>
            </a:r>
            <a:r>
              <a:rPr lang="en-US" sz="105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² .npy</a:t>
            </a: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05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 numpy 라이브러리의 수치 배열 저장 형식. 이진 형식이라 읽고 쓰는 속도가 빠름</a:t>
            </a:r>
            <a:endParaRPr lang="en-US" sz="10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방식 — </a:t>
            </a: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</a:t>
            </a: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작성은 </a:t>
            </a:r>
            <a:r>
              <a:rPr lang="en-US" altLang="ko-KR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en-US" altLang="ko-KR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code</a:t>
            </a:r>
            <a:r>
              <a:rPr lang="ko-KR" alt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담당</a:t>
            </a:r>
            <a:r>
              <a:rPr lang="en-US" altLang="ko-KR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ko-KR" alt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우리는 정상 출력 확인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262626"/>
          </a:solidFill>
          <a:ln w="19050">
            <a:solidFill>
              <a:srgbClr val="FFD7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55448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지시문을 넣어도 Claude가 쓰는 코드는 사람마다 조금씩 다름(비결정성¹).</a:t>
            </a:r>
            <a:endParaRPr lang="en-US" sz="16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옆자리와 코드가 달라도 문제가 아니며, '실행 결과가 정해진 조건을 만족하는가'만 확인하면 됨.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640080" y="5943600"/>
            <a:ext cx="10881360" cy="0"/>
          </a:xfrm>
          <a:prstGeom prst="line">
            <a:avLst/>
          </a:prstGeom>
          <a:noFill/>
          <a:ln w="9525">
            <a:solidFill>
              <a:srgbClr val="8A7A2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600760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¹ 비결정성</a:t>
            </a: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05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것을 물어도 답이 매번 조금씩 달라지는 성질. 언어 모델은 다음에 올 단어를 확률에 따라 고르기 때문에, 같은 지시문이라도 문장과 코드가 매번 달라짐</a:t>
            </a:r>
            <a:endParaRPr lang="en-US" sz="10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4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파싱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79476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PDF에서 글자를 뽑아내는 단계. 여기서 잘못 뽑힌 글자는 이후 단계에서 고쳐지지 않고 그대로 따라감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94960" y="3703320"/>
            <a:ext cx="1371600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 — </a:t>
            </a: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파싱</a:t>
            </a: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2272284"/>
            <a:ext cx="3108960" cy="2377440"/>
          </a:xfrm>
          <a:prstGeom prst="roundRect">
            <a:avLst>
              <a:gd name="adj" fmla="val 3077"/>
            </a:avLst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2232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840480" y="3461004"/>
            <a:ext cx="594360" cy="0"/>
          </a:xfrm>
          <a:prstGeom prst="line">
            <a:avLst/>
          </a:prstGeom>
          <a:noFill/>
          <a:ln w="22225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26280" y="2775204"/>
            <a:ext cx="3108960" cy="1371600"/>
          </a:xfrm>
          <a:prstGeom prst="roundRect">
            <a:avLst>
              <a:gd name="adj" fmla="val 5333"/>
            </a:avLst>
          </a:prstGeom>
          <a:solidFill>
            <a:srgbClr val="262626"/>
          </a:solidFill>
          <a:ln w="19050">
            <a:solidFill>
              <a:srgbClr val="FFD7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288493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파싱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3323844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PyMuPDF 등 추출 라이브러리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26680" y="3461004"/>
            <a:ext cx="594360" cy="0"/>
          </a:xfrm>
          <a:prstGeom prst="line">
            <a:avLst/>
          </a:prstGeom>
          <a:noFill/>
          <a:ln w="22225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412480" y="2272284"/>
            <a:ext cx="3108960" cy="2377440"/>
          </a:xfrm>
          <a:prstGeom prst="roundRect">
            <a:avLst>
              <a:gd name="adj" fmla="val 3077"/>
            </a:avLst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49640" y="282041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549640" y="3259328"/>
            <a:ext cx="28346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프로그램이 다루는 형식</a:t>
            </a:r>
            <a:endParaRPr lang="en-US" sz="13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글자가 순서대로 </a:t>
            </a:r>
            <a:r>
              <a:rPr lang="en-US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이어진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05206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단계인 청킹은 파싱 결과만 입력으로 받음. 원본 PDF를 다시 보지 않음</a:t>
            </a:r>
            <a:endParaRPr lang="en-US" sz="1550" dirty="0"/>
          </a:p>
          <a:p>
            <a:pPr marL="228600" indent="-2286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파싱에서 깨진 문장은 청킹·임베딩·검색 어느 </a:t>
            </a:r>
            <a:r>
              <a:rPr lang="en-US" sz="15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단계에서도</a:t>
            </a:r>
            <a:r>
              <a:rPr lang="en-US" sz="15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5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복구되지</a:t>
            </a:r>
            <a:r>
              <a:rPr lang="en-US" sz="15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않음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670560" y="1248156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파싱</a:t>
            </a:r>
            <a:r>
              <a:rPr 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(parsing)</a:t>
            </a: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정해진 형식의 데이터를 읽어 구조를 해석하고 필요한 값을 꺼내는 작업. 문서 처리에서는 파일에서 텍스트를 추출하는 작업을 가리킴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</a:t>
            </a:r>
            <a:r>
              <a:rPr lang="en-US" sz="24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r>
              <a:rPr lang="en-US" sz="24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</a:t>
            </a: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구조를 </a:t>
            </a:r>
            <a:r>
              <a:rPr lang="en-US" sz="24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저장하지</a:t>
            </a: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않</a:t>
            </a:r>
            <a:r>
              <a:rPr lang="ko-KR" alt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</a:t>
            </a:r>
            <a:r>
              <a:rPr lang="en-US" altLang="ko-KR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</a:t>
            </a:r>
            <a:r>
              <a:rPr lang="ko-KR" alt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파싱 시 문제 발생 가능성 있음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938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PDF에는</a:t>
            </a:r>
            <a:r>
              <a:rPr 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글자를 기록한 순서는 있지만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그것이 사람이 읽는 순서라는 보장은 없음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파일을 만든 프로그램과 추출 방식에 따라 순서가 달라지며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2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조판 논문에서 자주 어긋남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출력된 페이지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F4F4F4"/>
          </a:solidFill>
          <a:ln w="9525">
            <a:solidFill>
              <a:srgbClr val="F4F4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 ─────────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 ─────────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91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A3 ─────────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749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A4 ─────────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206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A5 ─────────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88036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B1 ─────────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 ─────────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3291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B3 ─────────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880360" y="3749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B4 ─────────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880360" y="4206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B5 ─────────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800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읽는 순서: A1→A5, 이어서 B1→B5</a:t>
            </a:r>
          </a:p>
          <a:p>
            <a:pPr marL="0" indent="0">
              <a:buNone/>
            </a:pPr>
            <a:r>
              <a:rPr lang="ko-KR" alt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그러나 기계가 그대로 읽으면 </a:t>
            </a:r>
            <a:r>
              <a:rPr lang="en-US" altLang="ko-KR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A1 B1 </a:t>
            </a:r>
            <a:r>
              <a:rPr lang="ko-KR" alt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</a:rPr>
              <a:t>순으로 읽을 수 있음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74920" y="3749040"/>
            <a:ext cx="914400" cy="0"/>
          </a:xfrm>
          <a:prstGeom prst="line">
            <a:avLst/>
          </a:prstGeom>
          <a:noFill/>
          <a:ln w="22225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4846320" y="3291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 순으로 추출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추출 결과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2148840"/>
            <a:ext cx="5212080" cy="3291840"/>
          </a:xfrm>
          <a:prstGeom prst="rect">
            <a:avLst/>
          </a:prstGeom>
          <a:solidFill>
            <a:srgbClr val="1919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92240" y="228600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7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  B1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7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  B2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7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A3  B3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좌우 단의 문장이 한 줄씩 교대로 출력되어 문장이 성립하지 않음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5943600"/>
            <a:ext cx="10881360" cy="0"/>
          </a:xfrm>
          <a:prstGeom prst="line">
            <a:avLst/>
          </a:prstGeom>
          <a:noFill/>
          <a:ln w="9525">
            <a:solidFill>
              <a:srgbClr val="8A7A2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600760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¹ 2단 조판</a:t>
            </a: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한 페이지를 좌우 두 개의 단으로 나누어 배치하는 편집 방식. 학술 논문 PDF에서 널리 사용됨</a:t>
            </a:r>
            <a:r>
              <a:rPr lang="en-US" sz="10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² 예외</a:t>
            </a: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제목·문단 구조를 함께 저장하는 PDF(태그 PDF)도 있지만, 학술 논문 PDF는 대부분 그 정보가 없음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 — 텍스트 추출에서 발생하는 손상 네 가지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6420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 조판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240" y="21031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좌우 단의 줄이 교대로 출력되어 문장이 성립하지 않음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6217920" y="155448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55080" y="166420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55080" y="21031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 구분이 사라지고 숫자만 줄줄이 이어짐. </a:t>
            </a:r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</a:t>
            </a:r>
            <a:r>
              <a:rPr 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행·열의 값인지 알 수 없게 됨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315468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26440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수식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77240" y="37033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기호가 엉뚱한 글자로 바뀌거나 통째로 빠짐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17920" y="315468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326440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머리글·꼬리글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355080" y="37033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페이지마다 </a:t>
            </a:r>
            <a:r>
              <a:rPr lang="en-US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반복되는</a:t>
            </a:r>
            <a:r>
              <a:rPr 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저널명</a:t>
            </a:r>
            <a:r>
              <a:rPr 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쪽번호가</a:t>
            </a:r>
            <a:r>
              <a:rPr 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본문 문장 사이에 끼어듦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실습의 파싱 도구 — PyMuPDF¹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383280" cy="3931920"/>
          </a:xfrm>
          <a:prstGeom prst="roundRect">
            <a:avLst>
              <a:gd name="adj" fmla="val 2162"/>
            </a:avLst>
          </a:prstGeom>
          <a:solidFill>
            <a:srgbClr val="262626"/>
          </a:solidFill>
          <a:ln w="19050">
            <a:solidFill>
              <a:srgbClr val="FFD7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642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방식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0312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파일에 기록된 순서대로 글자를 꺼냄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배치는 분석하지 않음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</a:p>
          <a:p>
            <a:pPr marL="285750" indent="-2857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en-US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모델이나</a:t>
            </a:r>
            <a:r>
              <a:rPr 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GPU가</a:t>
            </a:r>
            <a:r>
              <a:rPr 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</a:t>
            </a:r>
            <a:r>
              <a:rPr 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389120" y="1554480"/>
            <a:ext cx="3383280" cy="3931920"/>
          </a:xfrm>
          <a:prstGeom prst="roundRect">
            <a:avLst>
              <a:gd name="adj" fmla="val 2162"/>
            </a:avLst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6642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10312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ctr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한 장에 0.01초 </a:t>
            </a:r>
            <a:r>
              <a:rPr lang="en-US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이하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8138160" y="1554480"/>
            <a:ext cx="3383280" cy="3931920"/>
          </a:xfrm>
          <a:prstGeom prst="roundRect">
            <a:avLst>
              <a:gd name="adj" fmla="val 2162"/>
            </a:avLst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6642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10312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 순서</a:t>
            </a:r>
            <a:r>
              <a:rPr lang="en-US" altLang="ko-KR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구조</a:t>
            </a:r>
            <a:r>
              <a:rPr lang="en-US" altLang="ko-KR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수식을 이해하지 못함</a:t>
            </a:r>
            <a:endParaRPr lang="en-US" altLang="ko-KR" sz="13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lnSpc>
                <a:spcPct val="135000"/>
              </a:lnSpc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3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글자가</a:t>
            </a:r>
            <a:r>
              <a:rPr 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이미지로만</a:t>
            </a:r>
            <a:r>
              <a:rPr 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</a:t>
            </a:r>
            <a:r>
              <a:rPr 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스캔</a:t>
            </a:r>
            <a:r>
              <a:rPr 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PDF는아예</a:t>
            </a:r>
            <a:r>
              <a:rPr 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읽지</a:t>
            </a:r>
            <a:r>
              <a:rPr 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못함</a:t>
            </a:r>
            <a:r>
              <a:rPr 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(OCR² </a:t>
            </a:r>
            <a:r>
              <a:rPr lang="en-US" sz="13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</a:t>
            </a:r>
            <a:r>
              <a:rPr 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5852160"/>
            <a:ext cx="10881360" cy="0"/>
          </a:xfrm>
          <a:prstGeom prst="line">
            <a:avLst/>
          </a:prstGeom>
          <a:noFill/>
          <a:ln w="9525">
            <a:solidFill>
              <a:srgbClr val="8A7A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5916168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¹ PyMuPDF</a:t>
            </a: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05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PDF에서 텍스트와 이미지를 추출하는 파이썬 라이브러리. 코드에서는 import pymupdf 또는 예전 이름 import fitz 로 불러옴(둘 다 동작). 라이선스는 AGPL(상용 라이선스 별도)</a:t>
            </a:r>
            <a:r>
              <a:rPr lang="en-US" sz="10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² OCR(광학 문자 인식)</a:t>
            </a: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05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안의 글자 모양을 알아보고 텍스트로 바꿔 주는 기술. 이번 코퍼스 27편에는 스캔본 PDF가 없어 사용하지 않음</a:t>
            </a:r>
            <a:endParaRPr lang="en-US" sz="10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동향 — </a:t>
            </a: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파싱</a:t>
            </a: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</a:t>
            </a: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55320" y="5099979"/>
            <a:ext cx="10881360" cy="73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14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실습에서 </a:t>
            </a:r>
            <a:r>
              <a:rPr lang="en-US" altLang="ko-KR" sz="14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PyMuPDF4LLM </a:t>
            </a:r>
            <a:r>
              <a:rPr lang="ko-KR" altLang="en-US" sz="14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대신 </a:t>
            </a:r>
            <a:r>
              <a:rPr lang="en-US" altLang="ko-KR" sz="1400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PyMuPDF</a:t>
            </a:r>
            <a:r>
              <a:rPr lang="ko-KR" altLang="en-US" sz="14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쓰는 이유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실습의 목적은 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흐름의 이해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파싱 결과를 가공 없이 직접 보고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깨진 글자가 뒤 단계로 어떻게 이어지는지 확인하기 위함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실무에서는 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PyMuPDF4LLM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부터 시도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2082460"/>
            <a:ext cx="3474720" cy="2834640"/>
          </a:xfrm>
          <a:prstGeom prst="roundRect">
            <a:avLst>
              <a:gd name="adj" fmla="val 2581"/>
            </a:avLst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921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PyMuPDF4LLM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3110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3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PyMuPDF</a:t>
            </a:r>
            <a:r>
              <a:rPr lang="en-US" altLang="ko-KR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위에 만든 </a:t>
            </a:r>
            <a:r>
              <a:rPr lang="en-US" altLang="ko-KR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 변환 도구</a:t>
            </a:r>
            <a:endParaRPr lang="en-US" altLang="ko-KR" sz="13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마크다운¹ </a:t>
            </a:r>
            <a:r>
              <a:rPr lang="en-US" sz="13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형태로</a:t>
            </a:r>
            <a:r>
              <a:rPr 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13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300" dirty="0" err="1">
                <a:solidFill>
                  <a:schemeClr val="bg1"/>
                </a:solidFill>
              </a:rPr>
              <a:t>PyMuPDF</a:t>
            </a:r>
            <a:r>
              <a:rPr lang="ko-KR" altLang="en-US" sz="1300" dirty="0">
                <a:solidFill>
                  <a:schemeClr val="bg1"/>
                </a:solidFill>
              </a:rPr>
              <a:t>보다 느리지만</a:t>
            </a:r>
            <a:r>
              <a:rPr lang="en-US" altLang="ko-KR" sz="1300" dirty="0">
                <a:solidFill>
                  <a:schemeClr val="bg1"/>
                </a:solidFill>
              </a:rPr>
              <a:t>(</a:t>
            </a:r>
            <a:r>
              <a:rPr lang="ko-KR" altLang="en-US" sz="1300" dirty="0">
                <a:solidFill>
                  <a:schemeClr val="bg1"/>
                </a:solidFill>
              </a:rPr>
              <a:t>공개 벤치마크 기준 페이지당 약 </a:t>
            </a:r>
            <a:r>
              <a:rPr lang="en-US" altLang="ko-KR" sz="1300" dirty="0">
                <a:solidFill>
                  <a:schemeClr val="bg1"/>
                </a:solidFill>
              </a:rPr>
              <a:t>0.1</a:t>
            </a:r>
            <a:r>
              <a:rPr lang="ko-KR" altLang="en-US" sz="1300" dirty="0">
                <a:solidFill>
                  <a:schemeClr val="bg1"/>
                </a:solidFill>
              </a:rPr>
              <a:t>초</a:t>
            </a:r>
            <a:r>
              <a:rPr lang="en-US" altLang="ko-KR" sz="1300" dirty="0">
                <a:solidFill>
                  <a:schemeClr val="bg1"/>
                </a:solidFill>
              </a:rPr>
              <a:t>) </a:t>
            </a:r>
            <a:r>
              <a:rPr lang="ko-KR" altLang="en-US" sz="1300" dirty="0">
                <a:solidFill>
                  <a:schemeClr val="bg1"/>
                </a:solidFill>
              </a:rPr>
              <a:t>논문 </a:t>
            </a:r>
            <a:r>
              <a:rPr lang="en-US" altLang="ko-KR" sz="1300" dirty="0">
                <a:solidFill>
                  <a:schemeClr val="bg1"/>
                </a:solidFill>
              </a:rPr>
              <a:t>30</a:t>
            </a:r>
            <a:r>
              <a:rPr lang="ko-KR" altLang="en-US" sz="1300" dirty="0">
                <a:solidFill>
                  <a:schemeClr val="bg1"/>
                </a:solidFill>
              </a:rPr>
              <a:t>편도 </a:t>
            </a:r>
            <a:r>
              <a:rPr lang="en-US" altLang="ko-KR" sz="1300" dirty="0">
                <a:solidFill>
                  <a:schemeClr val="bg1"/>
                </a:solidFill>
              </a:rPr>
              <a:t>1</a:t>
            </a:r>
            <a:r>
              <a:rPr lang="ko-KR" altLang="en-US" sz="1300" dirty="0">
                <a:solidFill>
                  <a:schemeClr val="bg1"/>
                </a:solidFill>
              </a:rPr>
              <a:t>분 안팎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0080" y="43684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현업에서는 </a:t>
            </a:r>
            <a:r>
              <a:rPr lang="en-US" altLang="ko-KR" sz="125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PyMuPDF</a:t>
            </a:r>
            <a:r>
              <a:rPr lang="en-US" altLang="ko-KR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말고 이 모델 사용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2082460"/>
            <a:ext cx="3474720" cy="2834640"/>
          </a:xfrm>
          <a:prstGeom prst="roundRect">
            <a:avLst>
              <a:gd name="adj" fmla="val 2581"/>
            </a:avLst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0" y="21921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Docling (IBM)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63110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배치를 분석하는 모델로 문장 순서와 표의 칸 구조를 복원. 처음 실행할 때 수백 MB 규모의 모델을 내려받음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343400" y="43684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표가 많은 문서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2082460"/>
            <a:ext cx="3474720" cy="2834640"/>
          </a:xfrm>
          <a:prstGeom prst="roundRect">
            <a:avLst>
              <a:gd name="adj" fmla="val 2581"/>
            </a:avLst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21921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MinerU / Marker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263110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레이아웃·문자 인식 모델 또는 비전-언어 모델²로 페이지를 해석. </a:t>
            </a:r>
          </a:p>
          <a:p>
            <a:pPr marL="285750" indent="-2857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3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수식·다국어·스캔</a:t>
            </a:r>
            <a:r>
              <a:rPr 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문서까지 처리. </a:t>
            </a:r>
          </a:p>
          <a:p>
            <a:pPr marL="285750" indent="-2857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권장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046720" y="43684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수식·스캔 문서가 많을 때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090341"/>
            <a:ext cx="10881360" cy="925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기준으로는 파싱 결과를 밋밋한 글자 나열이 아니라 마크다운이나 구조가 표시된 JSON으로 뽑는 것이 일반적임. 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</a:t>
            </a: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표, </a:t>
            </a:r>
            <a:r>
              <a:rPr lang="en-US" sz="14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문단</a:t>
            </a: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구분이 남아 있어야 다음 단계인 청킹이 그 경계를 기준으로 자를 수 </a:t>
            </a:r>
            <a:r>
              <a:rPr lang="en-US" sz="14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있기</a:t>
            </a: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때문</a:t>
            </a: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도구들은 이를 자동으로 해 줌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5943600"/>
            <a:ext cx="10881360" cy="0"/>
          </a:xfrm>
          <a:prstGeom prst="line">
            <a:avLst/>
          </a:prstGeom>
          <a:noFill/>
          <a:ln w="9525">
            <a:solidFill>
              <a:srgbClr val="8A7A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600760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¹ 마크다운</a:t>
            </a: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# 제목, | 표 | 와 같이 기호로 문서 구조를 표시하는 텍스트 형식. 구조 정보를 유지한 채 텍스트로 다룰 수 있음</a:t>
            </a:r>
            <a:r>
              <a:rPr lang="en-US" sz="10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² 비전-언어 모델(VLM)</a:t>
            </a: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이미지와 텍스트를 함께 입력받아 처리하는 모델. 페이지를 이미지로 입력받아 표·수식·읽기 순서를 복원함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동향 — 텍스트 </a:t>
            </a: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추출을</a:t>
            </a: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생략하</a:t>
            </a:r>
            <a:r>
              <a:rPr lang="ko-KR" alt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 이미지로 검색하는 방식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79" y="1097279"/>
            <a:ext cx="11382587" cy="68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년 기준 기본값은 텍스트 추출 방식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실습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이고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이미지 검색은 표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스캔 문서가 많을 때 쓰는 방식으로 빠르게 발전 중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방식을 함께 쓰는 구성도 늘고 있음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텍스트는 추출하고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그림만 따로 처리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실습 범위 밖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40080" y="1947673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실습 방식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2267713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77441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34640" y="2660905"/>
            <a:ext cx="320040" cy="0"/>
          </a:xfrm>
          <a:prstGeom prst="line">
            <a:avLst/>
          </a:prstGeom>
          <a:noFill/>
          <a:ln w="22225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46120" y="2267713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2377441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추출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40680" y="2660905"/>
            <a:ext cx="320040" cy="0"/>
          </a:xfrm>
          <a:prstGeom prst="line">
            <a:avLst/>
          </a:prstGeom>
          <a:noFill/>
          <a:ln w="22225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852160" y="2267713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89320" y="2377441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청킹·임베딩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2267713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표·그림·도면은 텍스트로 남지 않아 검색 대상에서 제외됨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40080" y="3410713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이미지 </a:t>
            </a:r>
            <a:r>
              <a:rPr lang="en-US" sz="1100" b="1" kern="0" spc="200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r>
              <a:rPr lang="en-US" sz="11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b="1" kern="0" spc="200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730753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840481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834640" y="4123945"/>
            <a:ext cx="320040" cy="0"/>
          </a:xfrm>
          <a:prstGeom prst="line">
            <a:avLst/>
          </a:prstGeom>
          <a:noFill/>
          <a:ln w="22225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246120" y="3730753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262626"/>
          </a:solidFill>
          <a:ln w="19050">
            <a:solidFill>
              <a:srgbClr val="FFD7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83280" y="3840481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페이지를 이미지로 변환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40680" y="4123945"/>
            <a:ext cx="320040" cy="0"/>
          </a:xfrm>
          <a:prstGeom prst="line">
            <a:avLst/>
          </a:prstGeom>
          <a:noFill/>
          <a:ln w="22225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852160" y="3730753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262626"/>
          </a:solidFill>
          <a:ln w="19050">
            <a:solidFill>
              <a:srgbClr val="FFD7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89320" y="3840481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이미지를 그대로 임베딩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138160" y="3730753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문자와 그림을 함께 처리하므로 표·차트가 검색 대상에 포함됨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640079" y="4807373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500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모델: ColPali, ColQwen2 계열. 페이지 한 장을 작은 사각형 1,000여 개로 나눠 각각 벡터를 만들고, 질문의 단어마다 가장 잘 맞는 사각형을 찾아 점수를 합산함(late interaction¹)</a:t>
            </a:r>
            <a:endParaRPr lang="en-US" sz="1250" dirty="0"/>
          </a:p>
          <a:p>
            <a:pPr marL="228600" indent="-228600">
              <a:lnSpc>
                <a:spcPct val="1500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표·차트·스캔 문서가 많은 자료에서는 글자만 뽑아 검색하는 방식보다 성능이 높다고 보고됨(ViDoRe 벤치마크²)</a:t>
            </a:r>
            <a:endParaRPr lang="en-US" sz="1250" dirty="0"/>
          </a:p>
          <a:p>
            <a:pPr marL="228600" indent="-228600">
              <a:lnSpc>
                <a:spcPct val="1500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제약: 페이지마다 벡터를 1개가 아니라 1,000여 개 저장하므로 용량이 크게 늘고, 이를 지원하는 검색 엔진과 GPU가 필요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79" y="6178973"/>
            <a:ext cx="10881360" cy="0"/>
          </a:xfrm>
          <a:prstGeom prst="line">
            <a:avLst/>
          </a:prstGeom>
          <a:noFill/>
          <a:ln w="9525">
            <a:solidFill>
              <a:srgbClr val="8A7A2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79" y="6242981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¹ late interaction</a:t>
            </a: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95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질문과 문서를 각각 여러 개의 벡터로 표현해 두고, 검색할 때 부분끼리 맞춰 보는 방식. 하나의 벡터로 통째로 비교하는 것보다 세밀하지만 계산·저장 비용이 큼</a:t>
            </a:r>
            <a:r>
              <a:rPr lang="en-US" sz="95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95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9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² ViDoRe</a:t>
            </a: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95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표·그림이 많은 문서 검색 성능을 재는 공개 시험 </a:t>
            </a:r>
            <a:r>
              <a:rPr lang="en-US" sz="95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</a:t>
            </a:r>
            <a:r>
              <a:rPr lang="en-US" sz="95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9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4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청킹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79476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뽑아낸 글자를 검색에 쓸 크기로 자르는 단계. 같은 모델을 써도 여기서 검색 품질이 크게 갈림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94960" y="3703320"/>
            <a:ext cx="1371600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 — </a:t>
            </a: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청킹의</a:t>
            </a: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97280" y="1737360"/>
            <a:ext cx="2560320" cy="3566160"/>
          </a:xfrm>
          <a:prstGeom prst="roundRect">
            <a:avLst>
              <a:gd name="adj" fmla="val 2857"/>
            </a:avLst>
          </a:prstGeom>
          <a:solidFill>
            <a:srgbClr val="262626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1737360"/>
            <a:ext cx="2560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1편</a:t>
            </a:r>
            <a:endParaRPr lang="en-US" sz="15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일반적으로 다른 문서보다 많은</a:t>
            </a: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토큰²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0" y="3520440"/>
            <a:ext cx="1005840" cy="0"/>
          </a:xfrm>
          <a:prstGeom prst="line">
            <a:avLst/>
          </a:prstGeom>
          <a:noFill/>
          <a:ln w="22225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3749040" y="3063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청킹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0" y="1737360"/>
            <a:ext cx="2651760" cy="749808"/>
          </a:xfrm>
          <a:prstGeom prst="roundRect">
            <a:avLst>
              <a:gd name="adj" fmla="val 9756"/>
            </a:avLst>
          </a:prstGeom>
          <a:solidFill>
            <a:srgbClr val="1D1D1D"/>
          </a:solidFill>
          <a:ln w="19050">
            <a:solidFill>
              <a:srgbClr val="FFD7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0" y="173736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 1  (n </a:t>
            </a:r>
            <a:r>
              <a:rPr lang="en-US" sz="14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</a:t>
            </a: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0" y="2651760"/>
            <a:ext cx="2651760" cy="749808"/>
          </a:xfrm>
          <a:prstGeom prst="roundRect">
            <a:avLst>
              <a:gd name="adj" fmla="val 9756"/>
            </a:avLst>
          </a:prstGeom>
          <a:solidFill>
            <a:srgbClr val="1D1D1D"/>
          </a:solidFill>
          <a:ln w="19050">
            <a:solidFill>
              <a:srgbClr val="FFD7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0" y="265176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 2  (</a:t>
            </a:r>
            <a:r>
              <a:rPr lang="en-US" altLang="ko-KR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 </a:t>
            </a:r>
            <a:r>
              <a:rPr lang="en-US" sz="14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</a:t>
            </a: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0" y="3566160"/>
            <a:ext cx="2651760" cy="749808"/>
          </a:xfrm>
          <a:prstGeom prst="roundRect">
            <a:avLst>
              <a:gd name="adj" fmla="val 9756"/>
            </a:avLst>
          </a:prstGeom>
          <a:solidFill>
            <a:srgbClr val="1D1D1D"/>
          </a:solidFill>
          <a:ln w="19050">
            <a:solidFill>
              <a:srgbClr val="FFD7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0" y="356616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 3  (</a:t>
            </a:r>
            <a:r>
              <a:rPr lang="en-US" altLang="ko-KR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 </a:t>
            </a:r>
            <a:r>
              <a:rPr lang="en-US" sz="14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</a:t>
            </a: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4480560"/>
            <a:ext cx="2651760" cy="749808"/>
          </a:xfrm>
          <a:prstGeom prst="roundRect">
            <a:avLst>
              <a:gd name="adj" fmla="val 9756"/>
            </a:avLst>
          </a:prstGeom>
          <a:solidFill>
            <a:srgbClr val="1D1D1D"/>
          </a:solidFill>
          <a:ln w="19050">
            <a:solidFill>
              <a:srgbClr val="FFD7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0" y="448056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  청크 약 60개 (문서마다 20~140개)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2011680"/>
            <a:ext cx="3383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r>
              <a:rPr lang="ko-KR" altLang="en-US" sz="145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때 </a:t>
            </a:r>
            <a:r>
              <a:rPr lang="en-US" altLang="ko-KR" sz="145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</a:t>
            </a:r>
            <a:r>
              <a:rPr lang="ko-KR" altLang="en-US" sz="145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시스템이</a:t>
            </a:r>
            <a:r>
              <a:rPr lang="en-US" sz="145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문서 전체가 아니라 이 청크 단위로 </a:t>
            </a:r>
            <a:r>
              <a:rPr lang="en-US" sz="145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</a:t>
            </a:r>
            <a:r>
              <a:rPr lang="en-US" sz="145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돌려줌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5943600"/>
            <a:ext cx="10881360" cy="0"/>
          </a:xfrm>
          <a:prstGeom prst="line">
            <a:avLst/>
          </a:prstGeom>
          <a:noFill/>
          <a:ln w="9525">
            <a:solidFill>
              <a:srgbClr val="8A7A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600760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² 토큰(token)</a:t>
            </a:r>
            <a:r>
              <a:rPr lang="en-US" sz="105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언어 모델이 글을 세는 단위. </a:t>
            </a:r>
            <a:r>
              <a:rPr lang="ko-KR" altLang="en-US" sz="105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글을 읽으려고 자르는 글자 조각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82592A-F494-E835-C126-824D28128F9C}"/>
              </a:ext>
            </a:extLst>
          </p:cNvPr>
          <p:cNvSpPr txBox="1"/>
          <p:nvPr/>
        </p:nvSpPr>
        <p:spPr>
          <a:xfrm>
            <a:off x="609599" y="1182693"/>
            <a:ext cx="10881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청킹</a:t>
            </a:r>
            <a:r>
              <a:rPr lang="en-US" altLang="ko-KR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(chunking)</a:t>
            </a:r>
            <a:r>
              <a:rPr lang="en-US" altLang="ko-KR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altLang="ko-KR" sz="16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문서를</a:t>
            </a:r>
            <a:r>
              <a:rPr lang="en-US" altLang="ko-KR" sz="16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</a:t>
            </a:r>
            <a:r>
              <a:rPr lang="en-US" altLang="ko-KR" sz="16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크기의</a:t>
            </a:r>
            <a:r>
              <a:rPr lang="en-US" altLang="ko-KR" sz="16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조각</a:t>
            </a:r>
            <a:r>
              <a:rPr lang="en-US" altLang="ko-KR" sz="16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(chunk)</a:t>
            </a:r>
            <a:r>
              <a:rPr lang="en-US" altLang="ko-KR" sz="16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</a:t>
            </a:r>
            <a:r>
              <a:rPr lang="en-US" altLang="ko-KR" sz="16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나누는</a:t>
            </a:r>
            <a:r>
              <a:rPr lang="en-US" altLang="ko-KR" sz="16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</a:t>
            </a:r>
            <a:r>
              <a:rPr lang="en-US" altLang="ko-KR" sz="16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en-US" altLang="ko-KR" sz="16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</a:t>
            </a:r>
            <a:r>
              <a:rPr lang="en-US" altLang="ko-KR" sz="16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하나가</a:t>
            </a:r>
            <a:r>
              <a:rPr lang="en-US" altLang="ko-KR" sz="16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검색과</a:t>
            </a:r>
            <a:r>
              <a:rPr lang="en-US" altLang="ko-KR" sz="16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임베딩의</a:t>
            </a:r>
            <a:r>
              <a:rPr lang="en-US" altLang="ko-KR" sz="16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</a:t>
            </a:r>
            <a:r>
              <a:rPr lang="en-US" altLang="ko-KR" sz="16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단위가</a:t>
            </a:r>
            <a:r>
              <a:rPr lang="en-US" altLang="ko-KR" sz="16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됨</a:t>
            </a:r>
            <a:r>
              <a:rPr lang="en-US" altLang="ko-KR" sz="16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ko-KR" altLang="en-US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 — </a:t>
            </a: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문서를</a:t>
            </a: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분할</a:t>
            </a: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청킹</a:t>
            </a:r>
            <a:r>
              <a:rPr lang="en-US" altLang="ko-KR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</a:t>
            </a: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3474720" cy="3931920"/>
          </a:xfrm>
          <a:prstGeom prst="roundRect">
            <a:avLst>
              <a:gd name="adj" fmla="val 2105"/>
            </a:avLst>
          </a:prstGeom>
          <a:solidFill>
            <a:srgbClr val="262626"/>
          </a:solidFill>
          <a:ln w="19050">
            <a:solidFill>
              <a:srgbClr val="FFD7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7556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정확도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 모델은 입력한 텍스트 전체를 벡터 하나로 압축함. </a:t>
            </a:r>
          </a:p>
          <a:p>
            <a:pPr marL="285750" indent="-2857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편을 통째로 넣으면 벡터가 논문 전체의 주제에 맞춰지고, </a:t>
            </a: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세부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내용은 희미하게만 반영됨. </a:t>
            </a:r>
          </a:p>
          <a:p>
            <a:pPr marL="285750" indent="-2857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세부 내용을 묻는 질문에서는 그 부분만 담은 청크보다 순위가 밀리기 쉬움. 또 모델의 </a:t>
            </a: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한도를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넘는 뒷부분은 잘려서 아예 반영되지 않음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343400" y="1645920"/>
            <a:ext cx="3474720" cy="3931920"/>
          </a:xfrm>
          <a:prstGeom prst="roundRect">
            <a:avLst>
              <a:gd name="adj" fmla="val 2105"/>
            </a:avLst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80560" y="17556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비용과 응답 시간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219456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답변을 만들 때 모델에 넣는 글이 길수록 요금과 대기 시간이 늘어남. </a:t>
            </a:r>
          </a:p>
          <a:p>
            <a:pPr marL="285750" indent="-2857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없는 내용이 섞여 들어가면 답변 </a:t>
            </a: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정확도까지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떨어질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 </a:t>
            </a: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있음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046720" y="1645920"/>
            <a:ext cx="3474720" cy="3931920"/>
          </a:xfrm>
          <a:prstGeom prst="roundRect">
            <a:avLst>
              <a:gd name="adj" fmla="val 2105"/>
            </a:avLst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83880" y="17556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제시</a:t>
            </a: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유리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183880" y="219456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아래에 '이 논문 몇 쪽'이라고 출처를 붙이려면 검색 단위가 작을수록 유리함. </a:t>
            </a:r>
          </a:p>
          <a:p>
            <a:pPr marL="285750" indent="-2857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단위로 돌려주면 근거 </a:t>
            </a: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위치를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빠르고 정확하게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짚을 수 있지만, </a:t>
            </a: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</a:t>
            </a: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확인하면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몇 쪽인지 긴 글에서 다시 찾아야 함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청킹 방식 A — 고정 길이 분할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881360" cy="1166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수나 토큰 수를 세다가 정해진 길이가 되면 그 </a:t>
            </a:r>
            <a:r>
              <a:rPr lang="en-US" sz="14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자리에서</a:t>
            </a: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기계적으로</a:t>
            </a: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자르는</a:t>
            </a: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</a:t>
            </a:r>
            <a:r>
              <a:rPr lang="en-US" altLang="ko-KR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ko-KR" alt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altLang="ko-KR" sz="140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79" y="1998490"/>
            <a:ext cx="5669280" cy="2011680"/>
          </a:xfrm>
          <a:prstGeom prst="rect">
            <a:avLst/>
          </a:prstGeom>
          <a:solidFill>
            <a:srgbClr val="1919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59" y="213565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…제안 방법은 기존 대비 3.2% 향상되</a:t>
            </a:r>
            <a:endParaRPr lang="en-US" sz="15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F7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 </a:t>
            </a:r>
            <a:r>
              <a:rPr lang="ko-KR" altLang="en-US" sz="1300" dirty="0">
                <a:solidFill>
                  <a:srgbClr val="FF7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</a:t>
            </a:r>
            <a:r>
              <a:rPr lang="en-US" sz="1300" dirty="0" err="1">
                <a:solidFill>
                  <a:srgbClr val="FF7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</a:t>
            </a:r>
            <a:r>
              <a:rPr lang="en-US" sz="1300" dirty="0">
                <a:solidFill>
                  <a:srgbClr val="FF7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지점에서 절단 ────────</a:t>
            </a:r>
            <a:endParaRPr lang="en-US" sz="15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었으며, 특히 저자원 언어에서 효과가…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675119" y="199849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장점: </a:t>
            </a: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만들기 쉽고 청크 크기가 일정함</a:t>
            </a:r>
            <a:endParaRPr lang="en-US" sz="1450" dirty="0"/>
          </a:p>
          <a:p>
            <a:pPr marL="228600" indent="-2286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b="1" dirty="0">
                <a:solidFill>
                  <a:srgbClr val="FF7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문제: </a:t>
            </a: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문장이 두 청크으로 갈리면 양쪽 모두 뜻이 불완전해져, 그 문장이 답인 질문에서 검색되지 않음</a:t>
            </a:r>
            <a:endParaRPr lang="en-US" sz="1450" dirty="0"/>
          </a:p>
          <a:p>
            <a:pPr marL="228600" indent="-2286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b="1" dirty="0">
                <a:solidFill>
                  <a:srgbClr val="FF7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문제: </a:t>
            </a: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표나 목록 중간에서 </a:t>
            </a:r>
            <a:r>
              <a:rPr lang="en-US" sz="14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잘리면</a:t>
            </a: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</a:t>
            </a: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알 수 없음</a:t>
            </a:r>
            <a:endParaRPr lang="en-US" sz="14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7D5337-4E66-3B3E-F371-397DAC02C5A4}"/>
              </a:ext>
            </a:extLst>
          </p:cNvPr>
          <p:cNvSpPr txBox="1"/>
          <p:nvPr/>
        </p:nvSpPr>
        <p:spPr>
          <a:xfrm>
            <a:off x="640079" y="4411134"/>
            <a:ext cx="9790853" cy="703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단순해</a:t>
            </a:r>
            <a:r>
              <a:rPr lang="en-US" altLang="ko-KR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</a:t>
            </a:r>
            <a:r>
              <a:rPr lang="ko-KR" altLang="en-US" sz="14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청킹</a:t>
            </a:r>
            <a:r>
              <a:rPr lang="en-US" altLang="ko-KR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방식이 얼마나 나은지 비교할 때 기준으로 자주 쓰임</a:t>
            </a:r>
            <a:endParaRPr lang="en-US" altLang="ko-KR" sz="140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문장이나 표가 중간에 잘리는 문제를 줄이려면 다음 장의 구조 인식 방식을 씀</a:t>
            </a:r>
            <a:endParaRPr lang="en-US" altLang="ko-KR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청킹 방식 B — </a:t>
            </a:r>
            <a:r>
              <a:rPr lang="ko-KR" alt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오버랩 방식 </a:t>
            </a: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(실습 채택)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79"/>
            <a:ext cx="10881360" cy="1180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오버랩</a:t>
            </a:r>
            <a:r>
              <a:rPr lang="en-US" altLang="ko-KR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(overlap) - </a:t>
            </a:r>
            <a:r>
              <a:rPr lang="ko-KR" alt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이웃한 두 </a:t>
            </a:r>
            <a:r>
              <a:rPr lang="ko-KR" altLang="en-US" sz="14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청크가</a:t>
            </a:r>
            <a:r>
              <a:rPr lang="ko-KR" alt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경계 부분을 겹쳐서 갖도록 중복해 넣는 것</a:t>
            </a:r>
            <a:r>
              <a:rPr lang="en-US" altLang="ko-KR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자르는 자리에 걸친 내용이 어느 쪽에서도 온전하지 않게 되는 일을 줄이기 위한 처리</a:t>
            </a:r>
            <a:endParaRPr lang="en-US" sz="140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문단이</a:t>
            </a: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끝나는 자리에서만 자르고, 이웃한 두 청크가 문단 하나를 겹쳐 갖도록 </a:t>
            </a:r>
            <a:r>
              <a:rPr lang="en-US" sz="14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</a:t>
            </a: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532888"/>
            <a:ext cx="5669280" cy="2011680"/>
          </a:xfrm>
          <a:prstGeom prst="rect">
            <a:avLst/>
          </a:prstGeom>
          <a:solidFill>
            <a:srgbClr val="1919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670048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 7 = 문단 21 + 문단 22 + </a:t>
            </a:r>
            <a:r>
              <a:rPr lang="en-US" sz="15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문단 23</a:t>
            </a:r>
            <a:endParaRPr lang="en-US" sz="1500" dirty="0">
              <a:solidFill>
                <a:srgbClr val="FFD733"/>
              </a:solidFill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 8 = </a:t>
            </a:r>
            <a:r>
              <a:rPr lang="en-US" sz="1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문단 23</a:t>
            </a: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문단 24 + 문단 25</a:t>
            </a:r>
            <a:endParaRPr lang="en-US" sz="15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문단 23이 두 청크에 모두 포함됨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2532888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문단을 순서대로 쌓다가 </a:t>
            </a:r>
            <a:r>
              <a:rPr lang="en-US" sz="14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크기를</a:t>
            </a: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넘으면 거기까지를 한 청크으로 확정</a:t>
            </a:r>
            <a:endParaRPr lang="en-US" sz="1450" dirty="0"/>
          </a:p>
          <a:p>
            <a:pPr marL="228600" indent="-2286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문장이 중간에서 끊기지 않으므로 청크 하나만 읽어도 말이 됨</a:t>
            </a:r>
            <a:endParaRPr lang="en-US" sz="1450" dirty="0"/>
          </a:p>
          <a:p>
            <a:pPr marL="228600" indent="-2286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대신 청크 크기가 문단 길이에 따라 들쭉날쭉해짐(</a:t>
            </a:r>
            <a:r>
              <a:rPr lang="en-US" sz="14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r>
              <a:rPr lang="ko-KR" alt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</a:t>
            </a: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없음)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청킹 방식 — 청크 크기와 오버랩의 기준값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7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공개 비교 자료에서 반복해 나오는 수치. 자료 종류에 따라 최적값이 달라지므로 출발점으로만 사용 (이번 실습은 모델 입력 한도 때문에 약 350토큰)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881360" cy="3714687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기준값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청크 크기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400~512토큰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2026년 비교 자료의 공통 권장 출발점. Microsoft Azure 문서는 512토큰을 시작값으로 제시. 수십 토큰 수준으로 잘게 자르면 뜻이 끊기고, 2,500토큰을 넘어가면 답변 품질이 떨어진다는 분석이 있음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오버랩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청크 크기의 10~20%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(350토큰이면 35~70토큰)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널리 쓰이는 관행값. 다만 단어 일치 방식(희소 검색¹)에서는 오버랩의 이득이 확인되지 않고 색인 비용만 늘었다는 2026년 1월 분석도 있어, 자료마다 확인이 필요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자르는 기준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문단·절 등 문서 구조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글자 수로만 자르는 방식보다 재현율²이 높게 나온 비교 결과가 여러 건 보고됨. 다만 차이 폭은 자료 종류에 따라 다름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 저장할 정보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 문서명, 페이지, 절 제목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 결과에 출처를 붙이고, '2024년 이후 논문만' 같은 조건 검색의 기준으로 쓰기 위함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852160"/>
            <a:ext cx="10881360" cy="0"/>
          </a:xfrm>
          <a:prstGeom prst="line">
            <a:avLst/>
          </a:prstGeom>
          <a:noFill/>
          <a:ln w="9525">
            <a:solidFill>
              <a:srgbClr val="8A7A2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5916168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¹ 희소 검색</a:t>
            </a: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질문과 문서를 단어가 겹치는지로 비교하는 검색 방식. 계산에 쓰는 숫자 대부분이 0이라 희소(sparse)라 부름. BM25, SPLADE </a:t>
            </a:r>
            <a:r>
              <a:rPr lang="en-US" sz="10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등이</a:t>
            </a: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</a:t>
            </a:r>
            <a:endParaRPr lang="en-US" sz="1000" b="1" dirty="0">
              <a:solidFill>
                <a:srgbClr val="FFD7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² 재현율(recall)</a:t>
            </a: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찾아야 할 정답 문서를 빠뜨리지 않고 검색 결과에 담아낸 비율. 높을수록 놓치는 문서가 적음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 — 실무에서 가장 흔한 청킹 설정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40080" y="1170432"/>
            <a:ext cx="108813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 A(고정 길이)와 방식 </a:t>
            </a:r>
            <a:r>
              <a:rPr lang="ko-KR" altLang="en-US" sz="14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r>
              <a:rPr lang="ko-KR" alt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(오버랩</a:t>
            </a:r>
            <a:r>
              <a:rPr lang="en-US" altLang="ko-KR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인식)의 중간 형태. 주요 RAG 도구의 기본 설정이 대부분 이 조합에 가까움</a:t>
            </a:r>
          </a:p>
        </p:txBody>
      </p:sp>
      <p:sp>
        <p:nvSpPr>
          <p:cNvPr id="4" name="Part 1"/>
          <p:cNvSpPr/>
          <p:nvPr/>
        </p:nvSpPr>
        <p:spPr>
          <a:xfrm>
            <a:off x="640080" y="1737360"/>
            <a:ext cx="3383280" cy="2103120"/>
          </a:xfrm>
          <a:prstGeom prst="roundRect">
            <a:avLst>
              <a:gd name="adj" fmla="val 3000"/>
            </a:avLst>
          </a:prstGeom>
          <a:solidFill>
            <a:srgbClr val="262626"/>
          </a:solidFill>
          <a:ln w="12700">
            <a:solidFill>
              <a:srgbClr val="3A3A3A"/>
            </a:solidFill>
          </a:ln>
        </p:spPr>
        <p:txBody>
          <a:bodyPr wrap="square" lIns="182880" tIns="164592" rIns="182880" bIns="91440" rtlCol="0" anchor="t"/>
          <a:lstStyle/>
          <a:p>
            <a:pPr marL="0" indent="0" algn="ctr">
              <a:lnSpc>
                <a:spcPct val="100000"/>
              </a:lnSpc>
              <a:spcAft>
                <a:spcPts val="800"/>
              </a:spcAft>
              <a:buNone/>
            </a:pPr>
            <a:r>
              <a:rPr lang="ko-KR" altLang="en-US" sz="18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크기 상한</a:t>
            </a:r>
          </a:p>
          <a:p>
            <a:pPr marL="228600" indent="-228600" algn="l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 하나가 넘지 않을 최대 크기 설정 (보통 수백 토큰)</a:t>
            </a:r>
          </a:p>
          <a:p>
            <a:pPr marL="228600" indent="-228600" algn="l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 모델의 입력 한도 안에 </a:t>
            </a:r>
            <a:r>
              <a:rPr lang="ko-KR" alt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</a:t>
            </a: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크기가 들어가고, 한 청크가 한 가지 내용에 집중하게 하기 위함</a:t>
            </a:r>
          </a:p>
        </p:txBody>
      </p:sp>
      <p:sp>
        <p:nvSpPr>
          <p:cNvPr id="5" name="Plus 1"/>
          <p:cNvSpPr txBox="1"/>
          <p:nvPr/>
        </p:nvSpPr>
        <p:spPr>
          <a:xfrm>
            <a:off x="4023360" y="1737360"/>
            <a:ext cx="365760" cy="2103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28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</a:p>
        </p:txBody>
      </p:sp>
      <p:sp>
        <p:nvSpPr>
          <p:cNvPr id="6" name="Part 2"/>
          <p:cNvSpPr/>
          <p:nvPr/>
        </p:nvSpPr>
        <p:spPr>
          <a:xfrm>
            <a:off x="4389120" y="1737360"/>
            <a:ext cx="3383280" cy="2103120"/>
          </a:xfrm>
          <a:prstGeom prst="roundRect">
            <a:avLst>
              <a:gd name="adj" fmla="val 3000"/>
            </a:avLst>
          </a:prstGeom>
          <a:solidFill>
            <a:srgbClr val="262626"/>
          </a:solidFill>
          <a:ln w="12700">
            <a:solidFill>
              <a:srgbClr val="3A3A3A"/>
            </a:solidFill>
          </a:ln>
        </p:spPr>
        <p:txBody>
          <a:bodyPr wrap="square" lIns="182880" tIns="164592" rIns="182880" bIns="91440" rtlCol="0" anchor="t"/>
          <a:lstStyle/>
          <a:p>
            <a:pPr marL="0" indent="0" algn="ctr">
              <a:lnSpc>
                <a:spcPct val="100000"/>
              </a:lnSpc>
              <a:spcAft>
                <a:spcPts val="800"/>
              </a:spcAft>
              <a:buNone/>
            </a:pPr>
            <a:r>
              <a:rPr lang="ko-KR" altLang="en-US" sz="18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적당한 경계 찾기</a:t>
            </a:r>
          </a:p>
          <a:p>
            <a:pPr marL="228600" indent="-228600" algn="l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크기 안에서 문단 → 문장 → 단어 순으로 자연스러운 경계를 찾아 자름</a:t>
            </a:r>
          </a:p>
          <a:p>
            <a:pPr marL="228600" indent="-228600" algn="l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문장이 중간에서 잘리지 않음</a:t>
            </a:r>
          </a:p>
        </p:txBody>
      </p:sp>
      <p:sp>
        <p:nvSpPr>
          <p:cNvPr id="7" name="Plus 2"/>
          <p:cNvSpPr txBox="1"/>
          <p:nvPr/>
        </p:nvSpPr>
        <p:spPr>
          <a:xfrm>
            <a:off x="7772400" y="1737360"/>
            <a:ext cx="365760" cy="2103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28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</a:p>
        </p:txBody>
      </p:sp>
      <p:sp>
        <p:nvSpPr>
          <p:cNvPr id="8" name="Part 3"/>
          <p:cNvSpPr/>
          <p:nvPr/>
        </p:nvSpPr>
        <p:spPr>
          <a:xfrm>
            <a:off x="8138160" y="1737360"/>
            <a:ext cx="3383280" cy="2103120"/>
          </a:xfrm>
          <a:prstGeom prst="roundRect">
            <a:avLst>
              <a:gd name="adj" fmla="val 3000"/>
            </a:avLst>
          </a:prstGeom>
          <a:solidFill>
            <a:srgbClr val="262626"/>
          </a:solidFill>
          <a:ln w="12700">
            <a:solidFill>
              <a:srgbClr val="3A3A3A"/>
            </a:solidFill>
          </a:ln>
        </p:spPr>
        <p:txBody>
          <a:bodyPr wrap="square" lIns="182880" tIns="164592" rIns="182880" bIns="91440" rtlCol="0" anchor="t"/>
          <a:lstStyle/>
          <a:p>
            <a:pPr marL="0" indent="0" algn="ctr">
              <a:lnSpc>
                <a:spcPct val="100000"/>
              </a:lnSpc>
              <a:spcAft>
                <a:spcPts val="800"/>
              </a:spcAft>
              <a:buNone/>
            </a:pPr>
            <a:r>
              <a:rPr lang="ko-KR" altLang="en-US" sz="18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약간의 오버랩</a:t>
            </a:r>
          </a:p>
          <a:p>
            <a:pPr marL="228600" indent="-228600" algn="l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이웃한 청크끼리 경계 부분을 조금 겹쳐 저장함 (보통 청크 크기의 10~25%)</a:t>
            </a:r>
          </a:p>
          <a:p>
            <a:pPr marL="228600" indent="-228600" algn="l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 양쪽에 걸친 내용이 한 청크 안에 함께 들어감</a:t>
            </a:r>
          </a:p>
        </p:txBody>
      </p:sp>
      <p:sp>
        <p:nvSpPr>
          <p:cNvPr id="9" name="Tool defaults"/>
          <p:cNvSpPr/>
          <p:nvPr/>
        </p:nvSpPr>
        <p:spPr>
          <a:xfrm>
            <a:off x="640080" y="4114800"/>
            <a:ext cx="10881360" cy="1920240"/>
          </a:xfrm>
          <a:prstGeom prst="roundRect">
            <a:avLst>
              <a:gd name="adj" fmla="val 2000"/>
            </a:avLst>
          </a:prstGeom>
          <a:solidFill>
            <a:srgbClr val="262626"/>
          </a:solidFill>
          <a:ln w="19050">
            <a:solidFill>
              <a:srgbClr val="FFD733"/>
            </a:solidFill>
          </a:ln>
        </p:spPr>
        <p:txBody>
          <a:bodyPr wrap="square" lIns="274320" tIns="109728" rIns="274320" bIns="109728" rtlCol="0" anchor="ctr"/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ko-KR" altLang="en-US" sz="1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도구의 기본 설정</a:t>
            </a:r>
          </a:p>
          <a:p>
            <a:pPr marL="228600" indent="-228600" algn="l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LangChain  </a:t>
            </a: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재귀 분할 권장. 문단을 최대한 유지하고, 크기를 넘으면 문장·단어 순으로 나눔 (오버랩은 설정값)</a:t>
            </a:r>
          </a:p>
          <a:p>
            <a:pPr marL="228600" indent="-228600" algn="l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Amazon Bedrock  </a:t>
            </a: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청킹이 약 300토큰 단위. 문장 경계 유지</a:t>
            </a:r>
          </a:p>
          <a:p>
            <a:pPr marL="228600" indent="-228600" algn="l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Azure  </a:t>
            </a: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512토큰·오버랩 25%에서 시작하도록 권장. 문장을 중간에 끊지 않음</a:t>
            </a:r>
          </a:p>
          <a:p>
            <a:pPr marL="228600" indent="-228600" algn="l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ko-KR" altLang="en-US" sz="13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강의 실습   </a:t>
            </a:r>
            <a:r>
              <a:rPr lang="ko-KR" altLang="en-US" sz="13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350토큰 + 문단 경계 + 문단 1개 겹침. Bedrock 기본값(약 300토큰)과 비슷한 설정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적용 규칙 — 가장 보편적인 설정에서 출발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262626"/>
          </a:solidFill>
          <a:ln w="19050">
            <a:solidFill>
              <a:srgbClr val="FFD7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270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자르는 기준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14173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문단을 순서대로 담다가 약 350토큰이 차면 문단이 끝나는 자리에서 청크를 마감함 (e5-small 입력 한도 512토큰 안에 들어가도록)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359152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262626"/>
          </a:solidFill>
          <a:ln w="19050">
            <a:solidFill>
              <a:srgbClr val="FFD7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468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오버랩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235915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청크는 직전 청크의 마지막 문단 1개를 다시 넣고 시작함 (그 문단이 175토큰을 넘으면 생략)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300984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262626"/>
          </a:solidFill>
          <a:ln w="19050">
            <a:solidFill>
              <a:srgbClr val="FFD7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4107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계산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3300984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수로 어림잡는 방식¹으로 충분 (정확한 토큰 수까지 셀 필요 없음)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242816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262626"/>
          </a:solidFill>
          <a:ln w="19050">
            <a:solidFill>
              <a:srgbClr val="FFD7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35254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결과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4242816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한 쪽당 약 4개(문서에 따라 2~7개). 강사 실측: 27편·456쪽 → 1,755개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989320"/>
            <a:ext cx="10881360" cy="0"/>
          </a:xfrm>
          <a:prstGeom prst="line">
            <a:avLst/>
          </a:prstGeom>
          <a:noFill/>
          <a:ln w="9525">
            <a:solidFill>
              <a:srgbClr val="8A7A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6053328"/>
            <a:ext cx="10881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¹ 글자 수로 어림잡기</a:t>
            </a: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정확한 토큰 수는 모델마다 다른 토크나이저(글을 토큰으로 쪼개는 프로그램)를 돌려야 알 수 있으므로, 글자 수를 일정 비율로 나눠 대략 맞추는 방법. 청크 크기를 정하는 용도로는 충분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2677</Words>
  <Application>Microsoft Office PowerPoint</Application>
  <PresentationFormat>와이드스크린</PresentationFormat>
  <Paragraphs>298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6" baseType="lpstr"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think</cp:lastModifiedBy>
  <cp:revision>6</cp:revision>
  <dcterms:created xsi:type="dcterms:W3CDTF">2026-09-18T04:35:32Z</dcterms:created>
  <dcterms:modified xsi:type="dcterms:W3CDTF">2026-09-20T14:22:42Z</dcterms:modified>
</cp:coreProperties>
</file>