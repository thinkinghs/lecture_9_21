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310" r:id="rId3"/>
    <p:sldId id="338" r:id="rId4"/>
    <p:sldId id="311" r:id="rId5"/>
    <p:sldId id="312" r:id="rId6"/>
    <p:sldId id="313" r:id="rId7"/>
    <p:sldId id="314" r:id="rId8"/>
    <p:sldId id="315" r:id="rId9"/>
    <p:sldId id="316" r:id="rId10"/>
    <p:sldId id="323" r:id="rId11"/>
    <p:sldId id="328" r:id="rId12"/>
    <p:sldId id="332" r:id="rId13"/>
    <p:sldId id="333" r:id="rId14"/>
    <p:sldId id="334" r:id="rId15"/>
    <p:sldId id="335" r:id="rId16"/>
    <p:sldId id="336" r:id="rId17"/>
    <p:sldId id="337" r:id="rId18"/>
    <p:sldId id="30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9DC18-2139-43EC-8C1C-BDEA6DA7A16C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C9B52-2BEC-4989-A28B-102BCEB22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74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FF83-6D3D-CE5B-15A1-CEA470BF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A2394-87F2-DD51-1DA8-7ED1DA1EB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7BA7D-4DC5-A0AF-7CB8-F429566E3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9C1B6-0603-5349-F7E2-BD785E6091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638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build_prompt가 만드는 문자열의 예. 형식은 Claude가 조금씩 다르게 만들 수 있음. 번호·파일명·페이지·본문·질문이 모두 들어 있으면 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temperature를 0으로 두면 같은 답이 나온다는 예전 설명은 최신 모델에는 해당하지 않음(Sonnet 5 등은 temperature 자체를 받지 않음).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 목록은 강사 노트북의 실제 검색 결과(How does reranking improve hybrid retrieval?). 답변 문장은 형식을 보여 주기 위한 예시로, 실행할 때마다 달라짐.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2026-09 수정: 시스템 프롬프트를 한 줄로(claude.cmd를 거쳐도 깨지지 않게), 시험 질문을 코퍼스의 벤치마크 논문으로 답할 수 있는 질문으로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본문을 표준 입력으로 넘기는 방식은 강사 노트북의 Claude Code 2.1.104에서 확인(인자 없이 -p만 주면 표준 입력을 프롬프트로 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강사 실측: 이 질문의 리랭킹 점수는 5개 모두 0.0001 → 검색 단계에서도 '관련 없음'이 드러남. 그래도 search.py는 5개를 돌려줌.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7D57-EB33-5488-998F-46276792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03FAF-4C6E-5657-5EC6-855F0E3DD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72406-3E57-180A-4B59-3BA468E89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3ECC5-8967-9B6C-DDB0-055F97B9F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393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DBE72-3D5E-0C30-9FD5-9DD16182A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B8C76E-A922-2A61-BF83-DC603F4A6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C7DF13-19BC-A7EC-66A8-70CD1C70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01AB9-2611-C24D-14BD-3BE35B5D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0EEDA9-ACCC-5A34-C967-8650957A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89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7260B-C4B7-E849-ED74-3BF7FD36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8A154-51B4-FC6F-465A-A6337B85A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41B7A-36A6-E6AE-2031-8D96D3A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7FEE8-4141-E75F-AF17-8B7ABB9E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164631-48B0-B4B5-00CF-DA50F3FF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64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D8AAB-EB44-3CED-1D7B-74744412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8D9FF3-C39D-EA3E-C2D2-CC2FAEDCF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070EBC-9C9A-0F2E-5CA1-29341BDB3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B415D-182E-096B-2FBC-92C91680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92C9F-543F-595A-EA43-9BC5EAE4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59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5BA90-D85D-4BE1-CE76-05E4AB96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66071E-156D-00BC-95ED-2767E518C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40CA53-714F-D2BF-81BD-5CE46AE71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0EFDDB-0D63-BB2A-7EA4-1791D4D6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566E6-8F0C-0580-1936-7D7C218E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18A351-46FC-0222-B98D-47B25389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46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69590-204F-BACA-388C-77175232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6ECB54-55F1-B4E9-7682-92E11ABC8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D5BB47-B0B2-CAD2-840F-014F10C91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68A4A1-CB59-B834-B60C-B3F5A765B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7F5914-DB80-777A-AE8D-D25334F62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F4573B-9BCF-F6C3-347D-F5D6D76B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714235-1068-4270-77E7-3452BD26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802783-41B3-B6AA-CB45-F01D8533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00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68E24-2386-A1D7-DED1-310CDDB1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D2A166-FE4A-A640-DE55-3FF3569E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04C6C4-3711-9203-9480-E5EDC70F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6DC953-77E5-A233-7450-9CD69271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9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73E0EE-B027-F164-D528-E8993D0A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46955-859C-1FD6-D016-D2B39912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1DDA3E-AC65-3BF3-96F9-49EBF234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6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A699-9D58-A350-BD1D-E39C2A24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17E237-FE1A-BEF1-1831-F2B0B09F5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8B2370-7F02-B0AB-5DA4-FF62449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315B1C-53C2-768B-CC8E-E7D671B65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C49FE4-4092-596B-0413-B18704A9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644C0F-2373-5D2E-F3A5-0D9CCAA7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02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A7D22-3E5F-AA16-C505-65E4E959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95B607-DACA-8316-5112-EB9054F90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3BE9FA-1351-6BDE-3F13-8A91E10FF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8C0E60-721A-2AC4-7307-C0A33BF7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2AB998-0050-7E5B-0F0F-64ECA5F9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A5FCEB-D3DE-7B01-B2B5-FA8853E8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39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71E60-2A02-9369-6B7A-8A62DE89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5D03CD-8D7E-C7E9-C1C5-D89A255D3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E4CEBA-E195-CCC1-4EF2-7AD0951D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49E6B-BF28-05B4-9313-37351EB6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5CF743-6C6D-0B1E-3AB3-03D68DA2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42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455F98-3CED-CEA5-1ECF-E7B20AC06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1E6AC9-C7AB-E741-4441-DB39A60B4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7DE0B5-0158-D815-14F6-E141B16E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CD699D-B330-F111-CE3C-AA07E07C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98BAF-0100-F762-B9BB-38890601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9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246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49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DC2117-7B91-CCDA-AF6B-4D61EFFE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BA6CD4-4829-59E0-F2A0-07EC9A8E0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F3482-B438-6108-BD1C-343045ACB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1EB94-9BD5-4CA4-A17D-A4B107068990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C2F694-C38C-0FD2-58B4-B2F326CED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452E85-6E02-53A1-39C2-F3B11ED0F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3721D-9ED8-4060-98DE-DD72ADB6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22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33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질의응답 기능 개념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13248" y="3730752"/>
            <a:ext cx="1371600" cy="0"/>
          </a:xfrm>
          <a:prstGeom prst="line">
            <a:avLst/>
          </a:prstGeom>
          <a:ln w="19050">
            <a:solidFill>
              <a:srgbClr val="FFD733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371600" y="3886200"/>
            <a:ext cx="941832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40000"/>
              </a:lnSpc>
              <a:spcAft>
                <a:spcPts val="400"/>
              </a:spcAft>
              <a:buNone/>
            </a:pPr>
            <a:r>
              <a:rPr lang="ko-KR" altLang="en-US" sz="16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찾은 </a:t>
            </a:r>
            <a:r>
              <a:rPr lang="ko-KR" altLang="en-US" sz="16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청크만</a:t>
            </a:r>
            <a:r>
              <a:rPr lang="ko-KR" altLang="en-US" sz="16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근거로 답하게 만들기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ABEE2-F906-DA3E-626A-0FA4D696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5B612C-63AB-7DED-B8A2-76F6EC9C2873}"/>
              </a:ext>
            </a:extLst>
          </p:cNvPr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미리 돌려놓기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4E3802-5C26-B67E-5E7B-14F2EB69C294}"/>
              </a:ext>
            </a:extLst>
          </p:cNvPr>
          <p:cNvSpPr txBox="1"/>
          <p:nvPr/>
        </p:nvSpPr>
        <p:spPr>
          <a:xfrm>
            <a:off x="640080" y="1097278"/>
            <a:ext cx="10881360" cy="199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실습 프롬프트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615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(LLM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에게 지시하는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권장 답변 규칙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7"/>
            <a:ext cx="10881360" cy="743373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이후에 해야 할 작업: 찾은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들을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모델에 어떻게 주고, 어떻게 답하게 할 것인가 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공식처럼 정해진 표준은 없지만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RAG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에서 흔히 쓰는 규칙 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가지를 이번 실습에 맞게 정함 → 프롬프트에 규칙으로 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기재</a:t>
            </a: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347299"/>
            <a:ext cx="3474720" cy="23317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457026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규칙 ①  근거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13058"/>
            <a:ext cx="3200400" cy="11430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제공된 청크만
근거로 답하라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10922"/>
            <a:ext cx="3200400" cy="69494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00" b="0">
                <a:solidFill>
                  <a:srgbClr val="B8B8B8"/>
                </a:solidFill>
                <a:latin typeface="Malgun Gothic"/>
                <a:ea typeface="Malgun Gothic"/>
                <a:cs typeface="Malgun Gothic"/>
              </a:rPr>
              <a:t>목적: 학습으로 기억한 내용이 섞이지 않게 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47299"/>
            <a:ext cx="3474720" cy="23317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457026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규칙 ②  문장별 출처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713058"/>
            <a:ext cx="3200400" cy="11430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모든 주장 문장 끝에
[청크번호]를 붙여라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910922"/>
            <a:ext cx="3200400" cy="69494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00" b="0">
                <a:solidFill>
                  <a:srgbClr val="B8B8B8"/>
                </a:solidFill>
                <a:latin typeface="Malgun Gothic"/>
                <a:ea typeface="Malgun Gothic"/>
                <a:cs typeface="Malgun Gothic"/>
              </a:rPr>
              <a:t>목적: 문장마다 원문을 되짚어 확인할 수 있게 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47299"/>
            <a:ext cx="3474720" cy="23317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2457026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규칙 ③  모를 때는 모른다고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713058"/>
            <a:ext cx="3200400" cy="11430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청크에 답이 없으면
'제공된 문서에서 찾을 수 없다'고 답하라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910922"/>
            <a:ext cx="3200400" cy="69494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00" b="0">
                <a:solidFill>
                  <a:srgbClr val="B8B8B8"/>
                </a:solidFill>
                <a:latin typeface="Malgun Gothic"/>
                <a:ea typeface="Malgun Gothic"/>
                <a:cs typeface="Malgun Gothic"/>
              </a:rPr>
              <a:t>목적: 관련 없는 청크로 답을 지어내지 않게 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각 규칙이 없으면 어떻게 되는가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881360" cy="3429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규칙이 없으면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규칙이 하는 일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근거 제한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우리 문서에 없는 내용이 섞이고, 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어디까지가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문서의 내용인지 구분할 수 없음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답의 범위를 이번에 찾은 청크로 제한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문장별 출처 표시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문장이 어느 문서에서 나왔는지 알 수 없음. 확인하려면 전부 다시 찾아봐야 함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문장마다 원문을 되짚어 확인할 수 있게 함. 답을 검증할 수 있다는 것이 RAG의 핵심 이점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모를 때는 모른다고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그럴듯한 답을 만들어 냄. 검색은 관련이 없어도 항상 5개를 돌려주므로, 지어낼 확률 있음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없는 답을 없다고 말하게 함. 사실과 다른 답을 줄이는 가장 효율적인 방법 중 한 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규칙을 적는다고 100% 지켜지지는 않는다는 것은 유의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프롬프트를 두 부분으로 나누어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508760"/>
            <a:ext cx="3547872" cy="12344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 프롬프트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방금 정리한 답변 규칙 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(매 질문마다 같음)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783080"/>
            <a:ext cx="457200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26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50876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92624" y="1508760"/>
            <a:ext cx="3547872" cy="12344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답변 근거가 되는 본문 프롬프트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검색된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 (파일명, 페이지, 본문) + 질문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(매 질문마다 달라짐)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0" y="2121408"/>
            <a:ext cx="50292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9281160" y="1508760"/>
            <a:ext cx="2240280" cy="12344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36024" y="1508760"/>
            <a:ext cx="2130552" cy="12344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Claude 호출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call_claude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0881360" cy="23774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편의성 좋아짐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규칙은 매번 같고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질문은 매번 다름. 나눠 두면 규칙을 한 곳에서 고칠 수 있고, </a:t>
            </a:r>
            <a:r>
              <a:rPr lang="en-US" altLang="ko-KR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 다른 호출 방법으로 변경할 때도 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구조 그대로 사용 가능</a:t>
            </a: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보안 측면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문서 안의 문장이 지시처럼 읽힐 위험을 줄임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뒷장에서 다룸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본문 프롬프트의 실제 모양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build_prompt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question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)가 만드는 문자열의 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6766560" cy="416052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09928"/>
            <a:ext cx="6400800" cy="397763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2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다음은 검색된 참고 자료다.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endParaRPr lang="ko-KR" altLang="en-US" sz="1200" b="0">
              <a:solidFill>
                <a:srgbClr val="FFFFFF"/>
              </a:solidFill>
              <a:latin typeface="Consolas"/>
              <a:ea typeface="Malgun Gothic"/>
              <a:cs typeface="Consolas"/>
            </a:endParaRP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200" b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[1] Hybrid_Rerank_Benchmark_2026.pdf | p.7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2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[Hybrid_Rerank_Benchmark_2026.pdf | p.7] Failure Category % …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endParaRPr lang="ko-KR" altLang="en-US" sz="1200" b="0">
              <a:solidFill>
                <a:srgbClr val="FFFFFF"/>
              </a:solidFill>
              <a:latin typeface="Consolas"/>
              <a:ea typeface="Malgun Gothic"/>
              <a:cs typeface="Consolas"/>
            </a:endParaRP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200" b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[2] Hybrid_Rerank_Benchmark_2026.pdf | p.4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2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[Hybrid_Rerank_Benchmark_2026.pdf | p.4] The two-stage pipeline …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endParaRPr lang="ko-KR" altLang="en-US" sz="1200" b="0">
              <a:solidFill>
                <a:srgbClr val="FFFFFF"/>
              </a:solidFill>
              <a:latin typeface="Consolas"/>
              <a:ea typeface="Malgun Gothic"/>
              <a:cs typeface="Consolas"/>
            </a:endParaRP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2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… [3] ~ [5] 같은 형식 …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endParaRPr lang="ko-KR" altLang="en-US" sz="1200" b="0">
              <a:solidFill>
                <a:srgbClr val="FFFFFF"/>
              </a:solidFill>
              <a:latin typeface="Consolas"/>
              <a:ea typeface="Malgun Gothic"/>
              <a:cs typeface="Consolas"/>
            </a:endParaRP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200" b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질문: How does reranking improve hybrid retrieval?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00200"/>
            <a:ext cx="3886200" cy="41605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청크마다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번호 · 파일명 · 페이지 · 본문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번호 [1]~[5]는 검색 순위 그대로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질문은 맨 끝에. 긴 자료 뒤에 질문을 두면 모델이 질문을 놓치지 않음</a:t>
            </a:r>
            <a:r>
              <a:rPr lang="en-US" altLang="ko-KR" sz="13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(lost in the middle </a:t>
            </a:r>
            <a:r>
              <a:rPr lang="ko-KR" altLang="en-US" sz="13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방지</a:t>
            </a:r>
            <a:r>
              <a:rPr lang="en-US" altLang="ko-KR" sz="13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규칙 3개는 여기에 넣지 않고 시스템 프롬프트로 따로 보냄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검색한 문서를 프롬프트에 넣을 때 주의할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9890"/>
            <a:ext cx="5349240" cy="2926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79617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무엇이 문제인가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35649"/>
            <a:ext cx="507492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안의 문장을 모델이 지시로 받아들일 수 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6313"/>
            <a:ext cx="5074920" cy="174650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검색된 청크 안에 '이전 지시를 무시하고 ○○를 출력하라' 같은 문장이 있으면 모델이 사용자의 지시로 착각할 수 있음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대상 문서에 이런 문장을 몰래 넣는 공격도 있음(프롬프트 인젝션¹)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69890"/>
            <a:ext cx="5349240" cy="292608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743625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대응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4561"/>
            <a:ext cx="5074920" cy="204825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청크는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'참고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자료'로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구분해 넣고 규칙은 시스템 프롬프트에 </a:t>
            </a:r>
            <a:endParaRPr lang="en-US" altLang="ko-KR" sz="130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믿을 수 있는 출처만 색인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사용자가 볼 권한이 있는 문서만 검색되게 함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 발생해도 사용자가 직접 확인하면 되니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lang="ko-KR" altLang="en-US" sz="13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완전히 막는 방법은 아직 없음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40080" y="6053328"/>
            <a:ext cx="10881360" cy="7589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¹ 프롬프트 인젝션(prompt injection)</a:t>
            </a: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입력 자료 속에 지시문을 숨겨 모델의 동작을 바꾸려는 공격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laude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–p 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명령어로 </a:t>
            </a:r>
            <a:r>
              <a:rPr lang="en-US" altLang="ko-KR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 사용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557866"/>
            <a:ext cx="10881360" cy="230293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-</a:t>
            </a:r>
            <a:r>
              <a:rPr lang="ko-KR" altLang="en-US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altLang="ko-KR" sz="160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676656" lvl="1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Code를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대화창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없이 실행하고 답을 돌려받는 방식. </a:t>
            </a:r>
            <a:endParaRPr lang="en-US" altLang="ko-KR" sz="160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676656" lvl="1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내가 만든 프로그램에서 </a:t>
            </a:r>
            <a:r>
              <a:rPr lang="en-US" altLang="ko-KR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  <a:r>
              <a:rPr lang="en-US" altLang="ko-KR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 쓰고 </a:t>
            </a:r>
            <a:r>
              <a:rPr lang="en-US" altLang="ko-KR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</a:t>
            </a:r>
            <a:r>
              <a:rPr lang="en-US" altLang="ko-KR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 사용하는 방법</a:t>
            </a:r>
            <a:endParaRPr lang="en-US" altLang="ko-KR" sz="16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 호출 시마다 돈을 내는 </a:t>
            </a:r>
            <a:r>
              <a:rPr lang="en-US" altLang="ko-KR" sz="16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  <a:r>
              <a:rPr lang="en-US" altLang="ko-KR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를 사용하지 않고</a:t>
            </a:r>
            <a:r>
              <a:rPr lang="en-US" altLang="ko-KR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내가 정액제로 구독하는 요금제의 한도 내에서 사용 가능함</a:t>
            </a:r>
            <a:endParaRPr lang="en-US" altLang="ko-KR" sz="16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6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모델은 </a:t>
            </a:r>
            <a:r>
              <a:rPr lang="ko-KR" altLang="en-US" sz="16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lang="ko-KR" altLang="en-US" sz="16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서버에서 실행됨. 내 노트북에서 실행되는 것은 요청을 보내고 답을 받아 오는 내가 만든 프로그램</a:t>
            </a:r>
            <a:endParaRPr lang="en-US" altLang="ko-KR" sz="16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endParaRPr lang="ko-KR" altLang="en-US" sz="16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 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를 사용하면 달라지는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32034"/>
            <a:ext cx="5349240" cy="3977639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41762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같은 일을 더 단순하게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97794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설정이 줄고 빨라짐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36706"/>
            <a:ext cx="5074920" cy="309981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프로그램이 만들 코드에서 작업하는 각종 옵션 처리가 필요 없음. 규칙과 본문 두 가지만 넘기면 됨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호출마다 붙던 프로그램 시작 시간이 없어짐. 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키는 환경변수 하나로 관리하고, 사용량은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Console에서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팀 단위로 확인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temperature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설정이 없음. 결과 변동은 평가를 여러 번 돌려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32034"/>
            <a:ext cx="5349240" cy="3977639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741762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claude -p에는 없거나 제한적인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97794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API 전용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36706"/>
            <a:ext cx="5074920" cy="309981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인용(Citations)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청크를 document 블록으로 넣으면 답변 문장마다 원문 위치가 데이터로 붙어 옴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구조화 출력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답변을 미리 정한 JSON 형식으로 받음 → 자동 채점에 그대로 사용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도구 정의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우리가 만든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()</a:t>
            </a:r>
            <a:r>
              <a:rPr lang="ko-KR" altLang="en-US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코드 사용하는 방법을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등록하면 검색 여부와 검색어를 모델이 정함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Batch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급하지 않은 요청을 한 번에 맡기고 단가는 절반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프롬프트 </a:t>
            </a:r>
            <a:r>
              <a:rPr lang="ko-KR" altLang="en-US" sz="130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캐싱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계속 사용하는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부분을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캐싱해서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비용 절약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00873-CAEB-79AE-D6C7-5A8F984778A7}"/>
              </a:ext>
            </a:extLst>
          </p:cNvPr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검색어와 유관한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청크들을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 전송하면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LLM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첨부한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청크를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이용해서 질문에 답변해줌 </a:t>
            </a: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질의응답 기능 만들기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13248" y="3730752"/>
            <a:ext cx="1371600" cy="0"/>
          </a:xfrm>
          <a:prstGeom prst="line">
            <a:avLst/>
          </a:prstGeom>
          <a:ln w="19050">
            <a:solidFill>
              <a:srgbClr val="FFD733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개발할 질의응답 코드의 출력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05187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출력 예시 (답변 문장은 실행마다 다름)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25227"/>
            <a:ext cx="6675120" cy="411480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2134955"/>
            <a:ext cx="6309359" cy="3931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$ uv run python ask.py "How does reranking improve hybrid retrieval?"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A two-stage pipeline that reranks hybrid (BM25 + dense)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candidates with a cross-encoder performs best [2][3].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In the benchmark, Recall@5 rises from 0.695 with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hybrid RRF alone to 0.816 after reranking [2].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----------------------------------------------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출처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[1] Hybrid_Rerank_Benchmark_2026.pdf | p.7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[2] Hybrid_Rerank_Benchmark_2026.pdf | p.4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[3] Hybrid_Rerank_Benchmark_2026.pdf | p.1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[4] Hybrid_Rerank_Benchmark_2026.pdf | p.8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[5] Hybrid_Rerank_Benchmark_2026.pdf | p.3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5271347"/>
            <a:ext cx="3977639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50" b="0" dirty="0">
                <a:solidFill>
                  <a:srgbClr val="B8B8B8"/>
                </a:solidFill>
                <a:latin typeface="Malgun Gothic"/>
                <a:ea typeface="Malgun Gothic"/>
                <a:cs typeface="Malgun Gothic"/>
              </a:rPr>
              <a:t>답변 끝의 [2], [3]과 아래 출처 목록의 번호가 대응. 인용되지 않은 [1], [4], [5]도 근거로 보여 준 </a:t>
            </a:r>
            <a:r>
              <a:rPr lang="ko-KR" altLang="en-US" sz="1150" b="0" dirty="0" err="1">
                <a:solidFill>
                  <a:srgbClr val="B8B8B8"/>
                </a:solidFill>
                <a:latin typeface="Malgun Gothic"/>
                <a:ea typeface="Malgun Gothic"/>
                <a:cs typeface="Malgun Gothic"/>
              </a:rPr>
              <a:t>청크라</a:t>
            </a:r>
            <a:r>
              <a:rPr lang="ko-KR" altLang="en-US" sz="1150" b="0" dirty="0">
                <a:solidFill>
                  <a:srgbClr val="B8B8B8"/>
                </a:solidFill>
                <a:latin typeface="Malgun Gothic"/>
                <a:ea typeface="Malgun Gothic"/>
                <a:cs typeface="Malgun Gothic"/>
              </a:rPr>
              <a:t> 함께 출력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26473-8F07-715B-4D8D-AE85D7888DD9}"/>
              </a:ext>
            </a:extLst>
          </p:cNvPr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질문 하나를 받아 </a:t>
            </a:r>
            <a:r>
              <a:rPr lang="en-US" altLang="ko-KR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방금 앞에서 개발한</a:t>
            </a:r>
            <a:r>
              <a:rPr lang="en-US" altLang="ko-KR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lang="ko-KR" altLang="en-US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관련 </a:t>
            </a:r>
            <a:r>
              <a:rPr lang="ko-KR" altLang="en-US" sz="1400" b="0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검색부터</a:t>
            </a:r>
            <a:r>
              <a:rPr lang="en-US" altLang="ko-KR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청크들을</a:t>
            </a:r>
            <a:r>
              <a:rPr lang="ko-KR" altLang="en-US" sz="14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이용한 답변 출력까지 한 번에 수행하는 모듈 개발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ask.py 작성 프롬프트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7"/>
            <a:ext cx="10881360" cy="174989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폴더에서 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CMD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실행하고 </a:t>
            </a:r>
            <a:r>
              <a:rPr lang="en-US" altLang="ko-KR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auth login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으로 로그인하기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혹시 로그인 풀렸을 수도 있으니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질의 응답 코드 만들기 위해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이번장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뒷장 프롬프트 복사 후 붙여넣기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코드가 다 만들어진 후 "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How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does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reranking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improve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retrieval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?"로 실행해 출력을 보여주고, 이어서 문서에 없을 질문 "이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논문들에서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김치 발효를 다룬 부분은?"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으로도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실행하도록 프롬프트에 넣어 놨음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관찰하기</a:t>
            </a:r>
            <a:endParaRPr lang="en-US" altLang="ko-KR" sz="140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 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4~5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 정도 소요됨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902035"/>
            <a:ext cx="10881360" cy="3217334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3011763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PROMPT (1/2)  ·  다음 장까지 이어서 한 번에 붙여 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322659"/>
            <a:ext cx="10515600" cy="2559643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아래 조건으로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ask.py를</a:t>
            </a:r>
            <a:r>
              <a:rPr lang="ko-KR" altLang="en-US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개발해줘</a:t>
            </a:r>
            <a:r>
              <a:rPr lang="en-US" altLang="ko-KR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그리고 아래 조건대로 실행하되 실행은 모두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uv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run으로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해줘.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명령행에서 질문을 받아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search.py의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(질문, "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5)로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5개를 얻는다.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프롬프트는 두 부분이다. (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시스템 프롬프트 SYSTEM_PROMPT(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줄바꿈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없는 한 줄): "제공된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청크만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근거로 답하라 / 모든 주장 문장 끝에 [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청크번호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] 인용을 붙여라 /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청크에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답이 없으면 '제공된 문서에서 찾을 수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없다'고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답하라". (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본문 프롬프트: [1]~[5] 번호를 붙인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(파일명, 페이지, 본문)와 맨 끝의 질문.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명령 실행: 실행 파일은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shutil.which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("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")로 찾고, 없으면 "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claude를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찾을 수 없습니다. 터미널에서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-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설치를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확인하세요"를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출력하고 종료한다. 이 스크립트는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Code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안에서 실행되므로, 환경변수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CLAUDECODE와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CLAUDE_CODE_ENTRYPOINT를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제거한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env를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만든다.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ask.py 작성 프롬프트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 장에 이어서 붙여 넣기. 여기까지가 전체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416052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0992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PROMPT (2/2)  ·  앞 장에 이어서 붙여 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20824"/>
            <a:ext cx="10515600" cy="366674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subprocess.run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([경로, "-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"--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system-prompt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SYSTEM_PROMPT, "--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tools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"", "--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strict-mcp-config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"--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max-turns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"1", "--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output-format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"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"],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input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=본문,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env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env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capture_output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True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text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True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encoding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="utf-8",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timeout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=120)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으로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실행하고(본문은 명령 인자가 아니라 표준 입력으로 넘긴다),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stdout을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json.loads로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읽어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result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항목을 답변으로 쓴다. 실패하면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stderr와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stdout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원문을 그대로 보여준다.</a:t>
            </a:r>
            <a:endParaRPr lang="en-US" altLang="ko-KR" sz="12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 안에 끝나지 않으면 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stderr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와 </a:t>
            </a:r>
            <a:r>
              <a:rPr lang="en-US" altLang="ko-KR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stdout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모두 비어 있으므로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"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로그인이 만료되면 </a:t>
            </a:r>
            <a:r>
              <a:rPr lang="en-US" altLang="ko-KR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 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분쯤 재시도한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뒤에야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오류를 내므로 이렇게 빈 출력으로 끊긴다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en-US" altLang="ko-KR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auth status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로는 만료가 보이지 않는다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). </a:t>
            </a:r>
            <a:r>
              <a:rPr lang="en-US" altLang="ko-KR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auth login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으로 다시 로그인하라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라는 안내를 함께 출력한다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ko-KR" altLang="en-US" sz="12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답변 아래에 구분선과 사용한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5개의 출처 목록([번호] 파일명 |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p.페이지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)을 출력한다. 출력은 UTF-8로 한다.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이름과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시그니처는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다음으로 고정한다(다른 파일에서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불러다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쓴다): SYSTEM_PROMPT,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build_prompt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question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-&gt;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call_claude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prompt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system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=SYSTEM_PROMPT,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timeout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=120) -&gt;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answer_question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question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None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-&gt;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chunks가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없으면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search.search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question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"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5)를 먼저 실행).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endParaRPr lang="en-US" altLang="ko-KR" sz="12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작성 후 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"How does reranking improve hybrid retrieval?"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 실행해 출력을 보여주고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이어서 문서에 없을 질문 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논문들에서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김치 발효를 다룬 부분은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?"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으로도 실행해 두 출력을 모두 보여줘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응답이 비어 있거나 실행이 멈추면 코드를 고치지 말고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내가 터미널에서 직접 실행할 수 있도록 명령 한 줄만 알려줘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실행할 때는 시간 제한을 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분으로 잡아줘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ko-KR" altLang="en-US" sz="12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프롬프트를 이렇게 쓴 이유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59" cy="410565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프롬프트 지시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이렇게 썼나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규칙은 시스템 프롬프트, 청크·질문은 본문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규칙을 한 곳에서 고치고, 문서 속 문장이 지시로 읽힐 위험을 줄임. 질문을 맨 끝에 두어 긴 자료 뒤에서도 질문을 놓치지 않게 함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시스템 프롬프트는 줄바꿈 없는 한 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인자로 넘어가므로, Windows에서 claude.cmd를 거쳐도 깨지지 않게 함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shutil.which · CLAUDECODE 제거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Code 탭 안에서 실행할 때의 두 가지 문제(명령을 못 찾음, 중복 실행 거부)를 코드로 미리 처리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옵션 5개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코딩용 지시문 교체, 파일 읽기·외부 도구 차단, 1회 응답, JSON 출력 (앞의 옵션 표)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본문은 표준 입력 · encoding="utf-8"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 본문이 명령줄 길이 제한에 걸리지 않게 하고, 한글 답변이 cp949로 잘못 읽히지 않게 함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문서에 없는 질문도 함께 실행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③(모를 때는 모른다고)이 실제로 동작하는지 확인하는 것이 이 실습의 핵심 판정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안에 있는 답이 있는 질문 던졌을 때 답변 성공 판정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344168"/>
            <a:ext cx="10515600" cy="3657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400" b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"How does reranking improve hybrid retrieval?"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288036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판정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004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문장마다 [번호]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16352"/>
            <a:ext cx="3200400" cy="20025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답변 각 문장 끝에 [2], [3] 같은 번호가 있고, 아래 출처 목록의 번호와 대응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288036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2121408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확인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원문 대조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816352"/>
            <a:ext cx="3200400" cy="20025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문장 하나를 골라 그 번호의 파일명·페이지를 열어 실제로 그 내용이 있는지 확인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예: 0.695 → 0.816 수치가 해당 청크(p.4)에 있는가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대조가 가능하다는 것이 RAG를 쓰는 이유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청크에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없는 질문 던졌을 때 모른다고 하는지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모르면 모른다고 답변해야 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09928"/>
            <a:ext cx="10515600" cy="3657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400" b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"이 논문들에서 김치 발효를 다룬 부분은?"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23774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판정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2004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'찾을 수 없다'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82112"/>
            <a:ext cx="3200400" cy="149961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'제공된 문서에서 찾을 수 없다'는 취지로 답함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김치에 관한 내용을 만들어 내지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474720" cy="23774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487168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왜 중요한가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004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검색은 항상 5개를 돌려줌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82112"/>
            <a:ext cx="3200400" cy="149961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없는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5개(국문 보고서 등)가 입력에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들어감</a:t>
            </a:r>
            <a:endParaRPr lang="ko-KR" altLang="en-US" sz="12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청크로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답을 지어내지 않고 없다고 말하도록 지시해야 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FE72C-66B0-6365-BDB0-147E6F28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6D79EA-60C5-7272-DFBE-E891AD6970CD}"/>
              </a:ext>
            </a:extLst>
          </p:cNvPr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강의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미리 돌려놓기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A4F4F7-AC47-37F1-C9C8-8A3949789996}"/>
              </a:ext>
            </a:extLst>
          </p:cNvPr>
          <p:cNvSpPr txBox="1"/>
          <p:nvPr/>
        </p:nvSpPr>
        <p:spPr>
          <a:xfrm>
            <a:off x="640080" y="1097278"/>
            <a:ext cx="10881360" cy="199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~ 18p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</a:p>
        </p:txBody>
      </p:sp>
    </p:spTree>
    <p:extLst>
      <p:ext uri="{BB962C8B-B14F-4D97-AF65-F5344CB8AC3E}">
        <p14:creationId xmlns:p14="http://schemas.microsoft.com/office/powerpoint/2010/main" val="407793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2162</Words>
  <Application>Microsoft Office PowerPoint</Application>
  <PresentationFormat>와이드스크린</PresentationFormat>
  <Paragraphs>173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Malgun Gothic</vt:lpstr>
      <vt:lpstr>Malgun Gothic</vt:lpstr>
      <vt:lpstr>Arial</vt:lpstr>
      <vt:lpstr>Calibri</vt:lpstr>
      <vt:lpstr>Consolas</vt:lpstr>
      <vt:lpstr>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2026-09-20T14:25:06Z</dcterms:created>
  <dcterms:modified xsi:type="dcterms:W3CDTF">2026-09-20T14:30:50Z</dcterms:modified>
</cp:coreProperties>
</file>