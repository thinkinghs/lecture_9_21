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02" r:id="rId2"/>
    <p:sldId id="343" r:id="rId3"/>
    <p:sldId id="303" r:id="rId4"/>
    <p:sldId id="342" r:id="rId5"/>
    <p:sldId id="341" r:id="rId6"/>
    <p:sldId id="340" r:id="rId7"/>
    <p:sldId id="339" r:id="rId8"/>
    <p:sldId id="338" r:id="rId9"/>
    <p:sldId id="304" r:id="rId10"/>
    <p:sldId id="305" r:id="rId11"/>
    <p:sldId id="306" r:id="rId12"/>
    <p:sldId id="307" r:id="rId13"/>
    <p:sldId id="308" r:id="rId14"/>
    <p:sldId id="309" r:id="rId15"/>
    <p:sldId id="334" r:id="rId16"/>
    <p:sldId id="310" r:id="rId17"/>
    <p:sldId id="315" r:id="rId18"/>
    <p:sldId id="317" r:id="rId19"/>
    <p:sldId id="318" r:id="rId20"/>
    <p:sldId id="319" r:id="rId21"/>
    <p:sldId id="323" r:id="rId22"/>
    <p:sldId id="344" r:id="rId23"/>
    <p:sldId id="345" r:id="rId24"/>
    <p:sldId id="346" r:id="rId25"/>
    <p:sldId id="347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1A7F1-624E-4C3E-A832-8B6AD9DDB436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444EB-9E8E-4ADB-B7ED-BFE726E469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79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166C-C770-A85F-18F7-60BC305AA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60A2C-8E79-B4F0-DFA3-8C23EF84A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E1EFC-949E-AD39-8203-09EFF1157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75CFE-2BE1-EFE0-D82D-A63D479A4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7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파일이 청크 번호 i로 연결된다는 점을 먼저 보여 줌. 다음 장부터 embeddings.npy와 meta.json의 구성을 하나씩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Claude에게 'embeddings.npy의 shape, dtype, 첫 행 앞 5개 값을 보여줘'라고 요청하면 직접 확인 가능. 표의 숫자는 실제 파일에서 뽑은 예시로, 청크 경계가 다르면 값도 달라짐.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Claude에게 'meta.json 내용을 보여줘'로 확인 가능. 3강 search.py가 실제로 읽는 값은 model이고, 나머지 세 항목은 세 파일이 한 벌인지 확인하는 기록.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3강 search.py 미리보기. 실제 구현과 하이브리드 검색·리랭킹은 3강에서 다룸.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수강생 질문 대비: '이 파일 이름이 표준인가?' → 아님. 역할은 공통이고, 도구마다 저장 위치만 다름. LangChain FAISS는 save_local로 index.faiss + index.pkl 두 파일을 만들고, 불러올 때 임베딩 모델을 코드에서 다시 넘겨야 함.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F1B3D-0DA0-D29C-C556-1CC1DE7BF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A1BAD6-20DA-2896-B91E-A9D6BFA2C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65BB28-9534-4F96-A66A-8267E4482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2E3123-F35B-8D01-36EA-CA58D2C47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53E823-04E5-CEAF-4966-8425FAF0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4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68083-1D4D-C433-92E7-B5EA2F64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74169D-2DC5-27F2-58DC-399A35286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A1BA6-96CE-BC4E-0B10-C4F2E932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6DB5E-5499-9D01-7280-FC50EACE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B57029-E20F-967D-01FC-E2820F5D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42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C3FDF-0F3F-24C0-D843-2C8E1D858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6015F-90A9-AB7A-4E7D-1F019C625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C8F6C9-678A-68C2-BA7A-080E0BAED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76496-ACAC-EDD7-0AA5-893D1C73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31A191-F516-350D-2CF7-EA16592F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36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2665C-CFC8-8037-0F6C-6EE31E91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BFFDB5-34F2-018F-B4B6-D6513408A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4A6157-0F2D-7B35-A17B-782E2D32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3E5B50-37B7-C222-FFC3-FDD7A180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5C707-1459-E350-C56D-BB85E531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7FECCB-3024-34C2-3762-D4B8D20F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15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61D39-8BD1-A023-0629-DAD20E05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0BF913-6DCE-9DA8-4B48-277F7F35E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970EBA-9B8D-BAC6-BD4B-C82F4FC93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53620B-E691-4E1E-2D23-FCFF8D3B0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60DCF6-F35B-F036-06A0-67F984B00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A9372AC-2450-F4BF-5B02-76321A2F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5B34AD-7605-76F9-05CE-18F3C21A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943D2F-7077-A8BA-6693-9D1BC26D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471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5D9B5-2856-A313-3596-CA5B131A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44E45C-A222-7B61-E38F-AE7AD7A2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07CF5E-EEA5-DE4C-9CBE-61FEC594E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52BAFE-171B-04F4-6A08-8E7BF286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98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CFEE2F-2E94-DA18-F2A2-0EA3D013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9F915E-DD0F-69AD-82CB-5268D1B9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9AB987-365F-D1CA-F381-DCFFC873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83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5EB2E-345C-C481-AED6-E6849796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EB7B6-00A6-E03B-50B1-03034C513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3D3879-A093-455F-4ED7-9DDC8D2D7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2384AA-C7AD-E23B-2C84-371E95E0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DCBEAB-F542-4385-BF79-0948BAD3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0F020D-E94E-2FD2-1FF7-D6B57DE7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45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4980B6-9BA7-8B38-37D6-BD1443F3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C08899-3BEC-5415-D6CC-D27A45C54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F2359F-5724-75D8-7CDD-D5C09725F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41CF8B-0A34-E528-C825-808499BB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D465B0-E2D2-5C5D-9FFB-84BEA849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8A0522-DA4C-9737-7E9B-C648B22F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FBC23-F323-6E20-B17C-930D7625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AD21B6-1EAC-1E37-4EBE-2B1C704C1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9EA787-1305-9BBF-BC16-98922040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4D9ACB-1E60-48E7-FEA2-F45F92511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441E86-D25B-BE10-DE87-789983B4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75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F18930-60D7-8783-65A3-5C5827636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6137A6-F470-2972-9A03-FEA142FAB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FAEF1A-01F1-8470-25E4-89EE11D3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C873DD-902A-6D86-D136-04BF7768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D01A35-0822-2B22-2CD9-F66B4439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81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2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003F9F-67EE-6117-9DB2-072184A89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EF1171-5D73-09F6-DBB4-56BC0E71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BD34F-C6C1-8F5E-24D1-41C3E4E2E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96475-8D8A-40E1-BF31-547E8B81970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51DABB-1603-448A-6D16-986411D34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0C721F-F6F9-10FA-ACED-EA50C1F28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21531-C656-47C8-960D-79F570BA4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03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4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</a:t>
            </a: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4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794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잘라 둔 청크를 벡터로 바꾸고, 검색에 쓸 수 있게 저장하는 단계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3703320"/>
            <a:ext cx="137160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BCE2-B677-A2E4-61F1-9D4DAEFF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F2F63B-F0DA-9F21-AF10-975ADDFA4DDF}"/>
              </a:ext>
            </a:extLst>
          </p:cNvPr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실습 미리 돌려놓기</a:t>
            </a:r>
            <a:endParaRPr lang="en-US" sz="2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C8EAA82-A984-5BA5-C734-AC52E2D5C8A3}"/>
              </a:ext>
            </a:extLst>
          </p:cNvPr>
          <p:cNvSpPr txBox="1"/>
          <p:nvPr/>
        </p:nvSpPr>
        <p:spPr>
          <a:xfrm>
            <a:off x="640080" y="1234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실습 부분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927929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임베딩의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308610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1958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텍스트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6347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"표 3에서 보듯 이 방법은 기존 대비 3.2% 향상…"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0" y="4183380"/>
            <a:ext cx="73152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63440" y="3086100"/>
            <a:ext cx="2834640" cy="2194560"/>
          </a:xfrm>
          <a:prstGeom prst="roundRect">
            <a:avLst>
              <a:gd name="adj" fmla="val 3333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31958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모델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363474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multilingual-e5-small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4183380"/>
            <a:ext cx="73152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12480" y="308610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31958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벡터²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6347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[0.021, -0.118, 0.077, …]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384개가 한 줄로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384차원³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234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등을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수치 벡터로 </a:t>
            </a: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변환하는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뜻이 비슷한 텍스트끼리 벡터가 가까워지도록 미리 학습된 모델이 수행함</a:t>
            </a:r>
            <a:endParaRPr lang="en-US" sz="1450" dirty="0"/>
          </a:p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쓰는 </a:t>
            </a:r>
            <a:r>
              <a:rPr lang="ko-KR" altLang="en-US" sz="145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</a:t>
            </a:r>
            <a:r>
              <a:rPr lang="en-US" altLang="ko-KR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(e5-small)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r>
              <a:rPr lang="ko-KR" altLang="en-US" sz="145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하나를 숫자 </a:t>
            </a:r>
            <a:r>
              <a:rPr lang="en-US" altLang="ko-KR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개로 된 벡터 하나로 바꿈</a:t>
            </a:r>
            <a:r>
              <a:rPr lang="en-US" altLang="ko-KR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개수</a:t>
            </a:r>
            <a:r>
              <a:rPr lang="en-US" altLang="ko-KR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(384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</a:t>
            </a:r>
            <a:r>
              <a:rPr lang="en-US" altLang="ko-KR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모델이 정해 둔 값이라 짧은 </a:t>
            </a:r>
            <a:r>
              <a:rPr lang="ko-KR" altLang="en-US" sz="145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청크든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긴 </a:t>
            </a:r>
            <a:r>
              <a:rPr lang="ko-KR" altLang="en-US" sz="145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청크든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바뀌지 않고</a:t>
            </a:r>
            <a:r>
              <a:rPr lang="en-US" altLang="ko-KR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자리의 값만 내용에 따라 달라짐</a:t>
            </a:r>
          </a:p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청크마다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 벡터를 순서대로 한 줄씩 쌓으면 </a:t>
            </a:r>
            <a:r>
              <a:rPr lang="en-US" altLang="ko-KR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altLang="ko-KR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384' 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크기의 표</a:t>
            </a:r>
            <a:r>
              <a:rPr lang="en-US" altLang="ko-KR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</a:t>
            </a:r>
            <a:r>
              <a:rPr lang="ko-KR" alt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행렬⁴이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됨 </a:t>
            </a:r>
            <a:r>
              <a:rPr lang="en-US" altLang="ko-KR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번째 줄 </a:t>
            </a:r>
            <a:r>
              <a:rPr lang="en-US" altLang="ko-KR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en-US" altLang="ko-KR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r>
              <a:rPr lang="ko-KR" alt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</a:t>
            </a:r>
            <a:r>
              <a:rPr lang="ko-KR" altLang="en-US" sz="14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en-US" altLang="ko-KR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76072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824728"/>
            <a:ext cx="10881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² 벡터(vector)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숫자를 정해진 개수만큼 일렬로 늘어놓은 값. 개수는 모델마다 고정(e5-small은 384, BGE-M3는 1,024)이고 값만 달라짐</a:t>
            </a: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³ 차원(dimension)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벡터를 이루는 숫자의 개수. 실습 모델 e5-small은 384차원, BGE-M3는 1,024차원</a:t>
            </a: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⁴ 행렬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벡터를 여러 개 쌓아 가로·세로로 배열한 것. 여기서는 한 행이 청크 하나의 벡터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 — 청크 1개가 벡터 1개가 되기까지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e5-small 안에서 세 단계가 차례로 일어남. 중간에는 토큰마다 벡터가 생기지만, 마지막에 합쳐져 청크당 벡터 1개가 됨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874520"/>
            <a:ext cx="1874520" cy="2011680"/>
          </a:xfrm>
          <a:prstGeom prst="roundRect">
            <a:avLst>
              <a:gd name="adj" fmla="val 3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5" name="Shape 5"/>
          <p:cNvSpPr txBox="1"/>
          <p:nvPr/>
        </p:nvSpPr>
        <p:spPr>
          <a:xfrm>
            <a:off x="731520" y="198424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텍스트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68096" y="2377440"/>
            <a:ext cx="16184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문장: 표 3에서 보듯 이 방법은 …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341071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</a:p>
        </p:txBody>
      </p:sp>
      <p:sp>
        <p:nvSpPr>
          <p:cNvPr id="8" name="Shape 8"/>
          <p:cNvSpPr/>
          <p:nvPr/>
        </p:nvSpPr>
        <p:spPr>
          <a:xfrm>
            <a:off x="2891790" y="1874520"/>
            <a:ext cx="1874520" cy="201168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9" name="Shape 9"/>
          <p:cNvSpPr txBox="1"/>
          <p:nvPr/>
        </p:nvSpPr>
        <p:spPr>
          <a:xfrm>
            <a:off x="2983230" y="198424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토큰 번호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3019806" y="2377440"/>
            <a:ext cx="16184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토큰(글자 조각)으로 자르고 토큰마다 숫자로 변환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2983230" y="341071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N개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2569464" y="2880360"/>
            <a:ext cx="267462" cy="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5143500" y="1874520"/>
            <a:ext cx="1874520" cy="201168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14" name="Shape 14"/>
          <p:cNvSpPr txBox="1"/>
          <p:nvPr/>
        </p:nvSpPr>
        <p:spPr>
          <a:xfrm>
            <a:off x="5234940" y="198424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토큰 벡터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271516" y="2377440"/>
            <a:ext cx="16184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토큰마다 벡터로 변환. 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234940" y="341071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× 384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4821174" y="2880360"/>
            <a:ext cx="267462" cy="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7395210" y="1874520"/>
            <a:ext cx="1874520" cy="201168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19" name="Shape 19"/>
          <p:cNvSpPr txBox="1"/>
          <p:nvPr/>
        </p:nvSpPr>
        <p:spPr>
          <a:xfrm>
            <a:off x="7486650" y="198424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평균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523226" y="2377440"/>
            <a:ext cx="16184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칸끼리 평균 내 하나로 합침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486650" y="341071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× 384</a:t>
            </a:r>
          </a:p>
        </p:txBody>
      </p:sp>
      <p:cxnSp>
        <p:nvCxnSpPr>
          <p:cNvPr id="22" name="Line 22"/>
          <p:cNvCxnSpPr/>
          <p:nvPr/>
        </p:nvCxnSpPr>
        <p:spPr>
          <a:xfrm>
            <a:off x="7072884" y="2880360"/>
            <a:ext cx="267462" cy="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sp>
        <p:nvSpPr>
          <p:cNvPr id="23" name="Shape 23"/>
          <p:cNvSpPr/>
          <p:nvPr/>
        </p:nvSpPr>
        <p:spPr>
          <a:xfrm>
            <a:off x="9646920" y="1874520"/>
            <a:ext cx="1874520" cy="2011680"/>
          </a:xfrm>
          <a:prstGeom prst="roundRect">
            <a:avLst>
              <a:gd name="adj" fmla="val 3000"/>
            </a:avLst>
          </a:prstGeom>
          <a:solidFill>
            <a:srgbClr val="1D1D1D"/>
          </a:solidFill>
          <a:ln w="19050">
            <a:solidFill>
              <a:srgbClr val="FFD733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24" name="Shape 24"/>
          <p:cNvSpPr txBox="1"/>
          <p:nvPr/>
        </p:nvSpPr>
        <p:spPr>
          <a:xfrm>
            <a:off x="9738360" y="198424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벡터 1개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774936" y="2377440"/>
            <a:ext cx="16184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[0.021, -0.118, …]</a:t>
            </a:r>
          </a:p>
          <a:p>
            <a:pPr marL="0" indent="0"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384개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9738360" y="3410712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embeddings.npy</a:t>
            </a:r>
          </a:p>
        </p:txBody>
      </p:sp>
      <p:cxnSp>
        <p:nvCxnSpPr>
          <p:cNvPr id="27" name="Line 27"/>
          <p:cNvCxnSpPr/>
          <p:nvPr/>
        </p:nvCxnSpPr>
        <p:spPr>
          <a:xfrm>
            <a:off x="9324594" y="2880360"/>
            <a:ext cx="267462" cy="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cxnSp>
        <p:nvCxnSpPr>
          <p:cNvPr id="28" name="Line 28"/>
          <p:cNvCxnSpPr/>
          <p:nvPr/>
        </p:nvCxnSpPr>
        <p:spPr>
          <a:xfrm>
            <a:off x="2891790" y="4041648"/>
            <a:ext cx="6377940" cy="0"/>
          </a:xfrm>
          <a:prstGeom prst="line">
            <a:avLst/>
          </a:prstGeom>
          <a:ln w="12700">
            <a:solidFill>
              <a:srgbClr val="FFD733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2891790" y="3931920"/>
            <a:ext cx="0" cy="109728"/>
          </a:xfrm>
          <a:prstGeom prst="line">
            <a:avLst/>
          </a:prstGeom>
          <a:ln w="12700">
            <a:solidFill>
              <a:srgbClr val="FFD733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9269730" y="3931920"/>
            <a:ext cx="0" cy="109728"/>
          </a:xfrm>
          <a:prstGeom prst="line">
            <a:avLst/>
          </a:prstGeom>
          <a:ln w="12700">
            <a:solidFill>
              <a:srgbClr val="FFD733"/>
            </a:solidFill>
          </a:ln>
        </p:spPr>
      </p:cxnSp>
      <p:sp>
        <p:nvSpPr>
          <p:cNvPr id="31" name="Shape 31"/>
          <p:cNvSpPr txBox="1"/>
          <p:nvPr/>
        </p:nvSpPr>
        <p:spPr>
          <a:xfrm>
            <a:off x="2891790" y="4096512"/>
            <a:ext cx="63779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①~③은 e5-small 모델 안에서 일어나는 일. 다음 세 장에서 하나씩 설명 (N = 청크의 토큰 수)</a:t>
            </a:r>
          </a:p>
        </p:txBody>
      </p:sp>
      <p:sp>
        <p:nvSpPr>
          <p:cNvPr id="32" name="Shape 32"/>
          <p:cNvSpPr/>
          <p:nvPr/>
        </p:nvSpPr>
        <p:spPr>
          <a:xfrm>
            <a:off x="640080" y="4645152"/>
            <a:ext cx="10881360" cy="1371600"/>
          </a:xfrm>
          <a:prstGeom prst="roundRect">
            <a:avLst>
              <a:gd name="adj" fmla="val 2000"/>
            </a:avLst>
          </a:prstGeom>
          <a:solidFill>
            <a:srgbClr val="1D1D1D"/>
          </a:solidFill>
          <a:ln w="19050">
            <a:solidFill>
              <a:srgbClr val="FFD733"/>
            </a:solidFill>
          </a:ln>
        </p:spPr>
        <p:txBody>
          <a:bodyPr wrap="square" lIns="274320" tIns="137160" rIns="274320" bIns="9144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</a:t>
            </a:r>
          </a:p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1개 = 숫자를 한 줄로 늘어놓은 배열 전체. 숫자 하나하나는 벡터가 아니라 벡터의 한 칸(성분)</a:t>
            </a:r>
          </a:p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②의 토큰 벡터는 모델 안에서만 잠깐 쓰이고 버려짐. 파일로 저장되는 것은 ③에서 합친 청크 벡터뿐</a:t>
            </a:r>
          </a:p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수 N이 몇이든 ③을 거치면 항상 숫자 384개 → 청크 1개당 벡터 1개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79" y="411480"/>
            <a:ext cx="11407987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ko-KR" altLang="en-US" sz="2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 ① </a:t>
            </a:r>
            <a:r>
              <a:rPr lang="en-US" altLang="ko-KR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tokenization – </a:t>
            </a: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사전</a:t>
            </a:r>
            <a:r>
              <a:rPr lang="en-US" altLang="ko-KR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(dictionary)</a:t>
            </a: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번호로 변경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토크나이저¹가 청크를 토큰(글자 조각)으로 자르고, 토큰마다 사전 번호를 하나씩 붙임. ‘토큰 하나 = 숫자 하나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식의 변환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783080"/>
            <a:ext cx="10881360" cy="530352"/>
          </a:xfrm>
          <a:prstGeom prst="roundRect">
            <a:avLst>
              <a:gd name="adj" fmla="val 6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5" name="Shape 5"/>
          <p:cNvSpPr txBox="1"/>
          <p:nvPr/>
        </p:nvSpPr>
        <p:spPr>
          <a:xfrm>
            <a:off x="640080" y="1783080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passage: 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방법은 3.2% 향상되었다.</a:t>
            </a:r>
          </a:p>
        </p:txBody>
      </p:sp>
      <p:cxnSp>
        <p:nvCxnSpPr>
          <p:cNvPr id="6" name="Line 6"/>
          <p:cNvCxnSpPr/>
          <p:nvPr/>
        </p:nvCxnSpPr>
        <p:spPr>
          <a:xfrm>
            <a:off x="6080760" y="2359152"/>
            <a:ext cx="0" cy="36576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sp>
        <p:nvSpPr>
          <p:cNvPr id="7" name="Shape 7"/>
          <p:cNvSpPr txBox="1"/>
          <p:nvPr/>
        </p:nvSpPr>
        <p:spPr>
          <a:xfrm>
            <a:off x="6217920" y="237744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토크나이저가 자르고 번호를 붙임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40080" y="281635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40080" y="334670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번호</a:t>
            </a:r>
          </a:p>
        </p:txBody>
      </p:sp>
      <p:sp>
        <p:nvSpPr>
          <p:cNvPr id="10" name="Shape 10"/>
          <p:cNvSpPr/>
          <p:nvPr/>
        </p:nvSpPr>
        <p:spPr>
          <a:xfrm>
            <a:off x="1828800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5A5A5A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&lt;s&gt;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783080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</a:p>
        </p:txBody>
      </p:sp>
      <p:sp>
        <p:nvSpPr>
          <p:cNvPr id="12" name="Shape 12"/>
          <p:cNvSpPr/>
          <p:nvPr/>
        </p:nvSpPr>
        <p:spPr>
          <a:xfrm>
            <a:off x="2642616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5A5A5A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passage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2596896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46692</a:t>
            </a:r>
          </a:p>
        </p:txBody>
      </p:sp>
      <p:sp>
        <p:nvSpPr>
          <p:cNvPr id="14" name="Shape 14"/>
          <p:cNvSpPr/>
          <p:nvPr/>
        </p:nvSpPr>
        <p:spPr>
          <a:xfrm>
            <a:off x="3456432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5A5A5A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3410712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</a:p>
        </p:txBody>
      </p:sp>
      <p:sp>
        <p:nvSpPr>
          <p:cNvPr id="16" name="Shape 16"/>
          <p:cNvSpPr/>
          <p:nvPr/>
        </p:nvSpPr>
        <p:spPr>
          <a:xfrm>
            <a:off x="4270248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224528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1052</a:t>
            </a:r>
          </a:p>
        </p:txBody>
      </p:sp>
      <p:sp>
        <p:nvSpPr>
          <p:cNvPr id="18" name="Shape 18"/>
          <p:cNvSpPr/>
          <p:nvPr/>
        </p:nvSpPr>
        <p:spPr>
          <a:xfrm>
            <a:off x="5084064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038344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21279</a:t>
            </a:r>
          </a:p>
        </p:txBody>
      </p:sp>
      <p:sp>
        <p:nvSpPr>
          <p:cNvPr id="20" name="Shape 20"/>
          <p:cNvSpPr/>
          <p:nvPr/>
        </p:nvSpPr>
        <p:spPr>
          <a:xfrm>
            <a:off x="5897880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852160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993</a:t>
            </a:r>
          </a:p>
        </p:txBody>
      </p:sp>
      <p:sp>
        <p:nvSpPr>
          <p:cNvPr id="22" name="Shape 22"/>
          <p:cNvSpPr/>
          <p:nvPr/>
        </p:nvSpPr>
        <p:spPr>
          <a:xfrm>
            <a:off x="6711696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665976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138</a:t>
            </a:r>
          </a:p>
        </p:txBody>
      </p:sp>
      <p:sp>
        <p:nvSpPr>
          <p:cNvPr id="24" name="Shape 24"/>
          <p:cNvSpPr/>
          <p:nvPr/>
        </p:nvSpPr>
        <p:spPr>
          <a:xfrm>
            <a:off x="7525512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2%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7479792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5476</a:t>
            </a:r>
          </a:p>
        </p:txBody>
      </p:sp>
      <p:sp>
        <p:nvSpPr>
          <p:cNvPr id="26" name="Shape 26"/>
          <p:cNvSpPr/>
          <p:nvPr/>
        </p:nvSpPr>
        <p:spPr>
          <a:xfrm>
            <a:off x="8339328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293608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55408</a:t>
            </a:r>
          </a:p>
        </p:txBody>
      </p:sp>
      <p:sp>
        <p:nvSpPr>
          <p:cNvPr id="28" name="Shape 28"/>
          <p:cNvSpPr/>
          <p:nvPr/>
        </p:nvSpPr>
        <p:spPr>
          <a:xfrm>
            <a:off x="9153144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되었다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9107424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16412</a:t>
            </a:r>
          </a:p>
        </p:txBody>
      </p:sp>
      <p:sp>
        <p:nvSpPr>
          <p:cNvPr id="30" name="Shape 30"/>
          <p:cNvSpPr/>
          <p:nvPr/>
        </p:nvSpPr>
        <p:spPr>
          <a:xfrm>
            <a:off x="9966960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9921240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</a:p>
        </p:txBody>
      </p:sp>
      <p:sp>
        <p:nvSpPr>
          <p:cNvPr id="32" name="Shape 32"/>
          <p:cNvSpPr/>
          <p:nvPr/>
        </p:nvSpPr>
        <p:spPr>
          <a:xfrm>
            <a:off x="10780776" y="2816352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5A5A5A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&lt;/s&gt;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10735056" y="334670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1828800" y="376732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칸은 모델 사용 규칙에 따라 자동으로 붙는 토큰. 번호는 설명용 예시</a:t>
            </a:r>
          </a:p>
        </p:txBody>
      </p:sp>
      <p:sp>
        <p:nvSpPr>
          <p:cNvPr id="35" name="Shape 35"/>
          <p:cNvSpPr/>
          <p:nvPr/>
        </p:nvSpPr>
        <p:spPr>
          <a:xfrm>
            <a:off x="640080" y="4206240"/>
            <a:ext cx="5303520" cy="1600200"/>
          </a:xfrm>
          <a:prstGeom prst="roundRect">
            <a:avLst>
              <a:gd name="adj" fmla="val 2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wrap="square" lIns="274320" tIns="137160" rIns="274320" bIns="91440" rtlCol="0" anchor="t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번호에는 뜻이 없음</a:t>
            </a:r>
          </a:p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사전(토큰 약 25만 개)에서 몇 번째 항목인지만 나타냄</a:t>
            </a:r>
          </a:p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번호가 가깝다고 뜻이 가까운 것이 아님. '방법' 21279번과 '향상' 55408번의 차이에는 아무 의미가 없음</a:t>
            </a:r>
          </a:p>
        </p:txBody>
      </p:sp>
      <p:sp>
        <p:nvSpPr>
          <p:cNvPr id="36" name="Shape 36"/>
          <p:cNvSpPr/>
          <p:nvPr/>
        </p:nvSpPr>
        <p:spPr>
          <a:xfrm>
            <a:off x="6217920" y="4206240"/>
            <a:ext cx="5303520" cy="1600200"/>
          </a:xfrm>
          <a:prstGeom prst="roundRect">
            <a:avLst>
              <a:gd name="adj" fmla="val 2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wrap="square" lIns="274320" tIns="137160" rIns="274320" bIns="91440" rtlCol="0" anchor="t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토큰은 단어와 다름</a:t>
            </a:r>
          </a:p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단어가 여러 토큰이 되기도 함 ('향상되었다' → '향상' + '되었다')</a:t>
            </a:r>
          </a:p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&lt;s&gt;·&lt;/s&gt;는 시작·끝 표시 토큰. passage: 는 e5-small이 문서 앞에 붙이도록 정한 표시</a:t>
            </a:r>
          </a:p>
        </p:txBody>
      </p:sp>
      <p:cxnSp>
        <p:nvCxnSpPr>
          <p:cNvPr id="37" name="Line 37"/>
          <p:cNvCxnSpPr/>
          <p:nvPr/>
        </p:nvCxnSpPr>
        <p:spPr>
          <a:xfrm>
            <a:off x="640080" y="5989320"/>
            <a:ext cx="10881360" cy="0"/>
          </a:xfrm>
          <a:prstGeom prst="line">
            <a:avLst/>
          </a:prstGeom>
          <a:ln w="9525">
            <a:solidFill>
              <a:srgbClr val="8A7A2A"/>
            </a:solidFill>
          </a:ln>
        </p:spPr>
      </p:cxnSp>
      <p:sp>
        <p:nvSpPr>
          <p:cNvPr id="38" name="Shape 38"/>
          <p:cNvSpPr txBox="1"/>
          <p:nvPr/>
        </p:nvSpPr>
        <p:spPr>
          <a:xfrm>
            <a:off x="640080" y="605332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토크나이저(tokenizer)</a:t>
            </a:r>
            <a:r>
              <a:rPr lang="ko-KR" alt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글을 모델 사전에 있는 토큰 단위로 자르고 번호로 바꾸는 프로그램. e5-small의 사전에는 토큰이 약 25만 개(250,002개) 있음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ko-KR" alt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 ② 토큰마다 </a:t>
            </a:r>
            <a:r>
              <a:rPr lang="ko-KR" alt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모델을 지나며 벡터 값 수정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40080" y="1170432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표에서 꺼낸 토큰 벡터가 </a:t>
            </a:r>
            <a:r>
              <a:rPr lang="ko-KR" altLang="en-US" sz="14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모델의 층을 지나며 같은 청크 안의 다른 토큰들을 참고해 값을 고쳐 씀(어텐션¹)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40080" y="178308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속 '은행'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069080" y="178308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표에서 꺼낸 토큰 벡터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183880" y="1783080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모델의 층을 지난 벡터</a:t>
            </a:r>
          </a:p>
        </p:txBody>
      </p:sp>
      <p:sp>
        <p:nvSpPr>
          <p:cNvPr id="7" name="Shape 7"/>
          <p:cNvSpPr/>
          <p:nvPr/>
        </p:nvSpPr>
        <p:spPr>
          <a:xfrm>
            <a:off x="640080" y="2212848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8" name="Shape 8"/>
          <p:cNvSpPr txBox="1"/>
          <p:nvPr/>
        </p:nvSpPr>
        <p:spPr>
          <a:xfrm>
            <a:off x="640080" y="2212848"/>
            <a:ext cx="30175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돈을 찾았다</a:t>
            </a:r>
          </a:p>
        </p:txBody>
      </p:sp>
      <p:sp>
        <p:nvSpPr>
          <p:cNvPr id="9" name="Shape 9"/>
          <p:cNvSpPr/>
          <p:nvPr/>
        </p:nvSpPr>
        <p:spPr>
          <a:xfrm>
            <a:off x="4069080" y="2212848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10" name="Shape 10"/>
          <p:cNvSpPr txBox="1"/>
          <p:nvPr/>
        </p:nvSpPr>
        <p:spPr>
          <a:xfrm>
            <a:off x="4069080" y="2212848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[0.08, -0.12, 0.05, …]</a:t>
            </a:r>
          </a:p>
        </p:txBody>
      </p:sp>
      <p:sp>
        <p:nvSpPr>
          <p:cNvPr id="11" name="Shape 11"/>
          <p:cNvSpPr/>
          <p:nvPr/>
        </p:nvSpPr>
        <p:spPr>
          <a:xfrm>
            <a:off x="8183880" y="2212848"/>
            <a:ext cx="3337560" cy="713232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2700">
            <a:solidFill>
              <a:srgbClr val="FFD733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12" name="Shape 12"/>
          <p:cNvSpPr txBox="1"/>
          <p:nvPr/>
        </p:nvSpPr>
        <p:spPr>
          <a:xfrm>
            <a:off x="8183880" y="2212848"/>
            <a:ext cx="333756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[0.31, -0.02, -0.14, …]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3712464" y="2569464"/>
            <a:ext cx="301752" cy="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cxnSp>
        <p:nvCxnSpPr>
          <p:cNvPr id="14" name="Line 14"/>
          <p:cNvCxnSpPr/>
          <p:nvPr/>
        </p:nvCxnSpPr>
        <p:spPr>
          <a:xfrm>
            <a:off x="7324344" y="2569464"/>
            <a:ext cx="804672" cy="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sp>
        <p:nvSpPr>
          <p:cNvPr id="15" name="Shape 15"/>
          <p:cNvSpPr/>
          <p:nvPr/>
        </p:nvSpPr>
        <p:spPr>
          <a:xfrm>
            <a:off x="640080" y="3127248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16" name="Shape 16"/>
          <p:cNvSpPr txBox="1"/>
          <p:nvPr/>
        </p:nvSpPr>
        <p:spPr>
          <a:xfrm>
            <a:off x="640080" y="3127248"/>
            <a:ext cx="301752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가을에 </a:t>
            </a:r>
            <a:r>
              <a:rPr lang="ko-KR" alt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주웠다</a:t>
            </a:r>
          </a:p>
        </p:txBody>
      </p:sp>
      <p:sp>
        <p:nvSpPr>
          <p:cNvPr id="17" name="Shape 17"/>
          <p:cNvSpPr/>
          <p:nvPr/>
        </p:nvSpPr>
        <p:spPr>
          <a:xfrm>
            <a:off x="4069080" y="3127248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18" name="Shape 18"/>
          <p:cNvSpPr txBox="1"/>
          <p:nvPr/>
        </p:nvSpPr>
        <p:spPr>
          <a:xfrm>
            <a:off x="4069080" y="3127248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[0.08, -0.12, 0.05, …]</a:t>
            </a:r>
          </a:p>
        </p:txBody>
      </p:sp>
      <p:sp>
        <p:nvSpPr>
          <p:cNvPr id="19" name="Shape 19"/>
          <p:cNvSpPr/>
          <p:nvPr/>
        </p:nvSpPr>
        <p:spPr>
          <a:xfrm>
            <a:off x="8183880" y="3127248"/>
            <a:ext cx="3337560" cy="713232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2700">
            <a:solidFill>
              <a:srgbClr val="FFD733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20" name="Shape 20"/>
          <p:cNvSpPr txBox="1"/>
          <p:nvPr/>
        </p:nvSpPr>
        <p:spPr>
          <a:xfrm>
            <a:off x="8183880" y="3127248"/>
            <a:ext cx="333756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[-0.09, 0.27, 0.11, …]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3712464" y="3483864"/>
            <a:ext cx="301752" cy="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cxnSp>
        <p:nvCxnSpPr>
          <p:cNvPr id="22" name="Line 22"/>
          <p:cNvCxnSpPr/>
          <p:nvPr/>
        </p:nvCxnSpPr>
        <p:spPr>
          <a:xfrm>
            <a:off x="7324344" y="3483864"/>
            <a:ext cx="804672" cy="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sp>
        <p:nvSpPr>
          <p:cNvPr id="23" name="Shape 23"/>
          <p:cNvSpPr txBox="1"/>
          <p:nvPr/>
        </p:nvSpPr>
        <p:spPr>
          <a:xfrm>
            <a:off x="4069080" y="395020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문장의 </a:t>
            </a:r>
            <a:r>
              <a:rPr lang="en-US" altLang="ko-KR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</a:t>
            </a:r>
            <a:r>
              <a:rPr lang="en-US" altLang="ko-KR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lang="ko-KR" alt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</a:t>
            </a:r>
            <a:r>
              <a:rPr lang="en-US" altLang="ko-KR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똑같음. 사전 표는 문맥을 모름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8183880" y="3950208"/>
            <a:ext cx="33375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달라짐. 금융 '은행'과 열매 '은행'이 구분됨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640080" y="5989320"/>
            <a:ext cx="10881360" cy="0"/>
          </a:xfrm>
          <a:prstGeom prst="line">
            <a:avLst/>
          </a:prstGeom>
          <a:ln w="9525">
            <a:solidFill>
              <a:srgbClr val="8A7A2A"/>
            </a:solidFill>
          </a:ln>
        </p:spPr>
      </p:cxnSp>
      <p:sp>
        <p:nvSpPr>
          <p:cNvPr id="27" name="Shape 27"/>
          <p:cNvSpPr txBox="1"/>
          <p:nvPr/>
        </p:nvSpPr>
        <p:spPr>
          <a:xfrm>
            <a:off x="640080" y="605332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어텐션(attention)</a:t>
            </a:r>
            <a:r>
              <a:rPr lang="ko-KR" alt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각 토큰이 같은 입력 안의 다른 토큰을 얼마나 참고할지 계산해 값을 섞는 계산. 요즘 언어 모델(트랜스포머)의 핵심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ko-KR" alt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 ③ 토큰 벡터들을 청크 벡터 1개로 합침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640080" y="11704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e5-small은 토큰 벡터들을 같은 칸끼리 평균 내 벡터 1개를 만듦(평균 풀링¹). </a:t>
            </a:r>
            <a:endParaRPr lang="en-US" altLang="ko-KR" sz="14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토큰이 몇 개든 결과는 숫자 384개로 이어진 벡터 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개가 됨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(384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개는 우리가 사용하는 </a:t>
            </a:r>
            <a:r>
              <a:rPr lang="en-US" altLang="ko-KR" sz="140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e5-small 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정한 개수</a:t>
            </a: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ko-KR" altLang="en-US" sz="1400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Shape 4"/>
          <p:cNvSpPr txBox="1"/>
          <p:nvPr/>
        </p:nvSpPr>
        <p:spPr>
          <a:xfrm>
            <a:off x="822959" y="1810512"/>
            <a:ext cx="657690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예시는 단어 토큰 벡터(토큰 4개 × 384) </a:t>
            </a:r>
            <a:r>
              <a:rPr lang="ko-KR" alt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개의 벡터로 만드는 설명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828800" y="2130552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칸1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2651760" y="2130552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칸2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3474720" y="2130552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칸3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297680" y="2130552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칸4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120640" y="213055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칸384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822960" y="245059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</a:p>
        </p:txBody>
      </p:sp>
      <p:sp>
        <p:nvSpPr>
          <p:cNvPr id="11" name="Shape 11"/>
          <p:cNvSpPr/>
          <p:nvPr/>
        </p:nvSpPr>
        <p:spPr>
          <a:xfrm>
            <a:off x="1828800" y="24505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</a:t>
            </a:r>
          </a:p>
        </p:txBody>
      </p:sp>
      <p:sp>
        <p:nvSpPr>
          <p:cNvPr id="12" name="Shape 12"/>
          <p:cNvSpPr/>
          <p:nvPr/>
        </p:nvSpPr>
        <p:spPr>
          <a:xfrm>
            <a:off x="2651760" y="24505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-0.1</a:t>
            </a:r>
          </a:p>
        </p:txBody>
      </p:sp>
      <p:sp>
        <p:nvSpPr>
          <p:cNvPr id="13" name="Shape 13"/>
          <p:cNvSpPr/>
          <p:nvPr/>
        </p:nvSpPr>
        <p:spPr>
          <a:xfrm>
            <a:off x="3474720" y="24505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</a:p>
        </p:txBody>
      </p:sp>
      <p:sp>
        <p:nvSpPr>
          <p:cNvPr id="14" name="Shape 14"/>
          <p:cNvSpPr/>
          <p:nvPr/>
        </p:nvSpPr>
        <p:spPr>
          <a:xfrm>
            <a:off x="4297680" y="24505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</a:t>
            </a:r>
          </a:p>
        </p:txBody>
      </p:sp>
      <p:sp>
        <p:nvSpPr>
          <p:cNvPr id="15" name="Shape 15"/>
          <p:cNvSpPr/>
          <p:nvPr/>
        </p:nvSpPr>
        <p:spPr>
          <a:xfrm>
            <a:off x="5120640" y="2450592"/>
            <a:ext cx="868680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822960" y="290779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</a:p>
        </p:txBody>
      </p:sp>
      <p:sp>
        <p:nvSpPr>
          <p:cNvPr id="17" name="Shape 17"/>
          <p:cNvSpPr/>
          <p:nvPr/>
        </p:nvSpPr>
        <p:spPr>
          <a:xfrm>
            <a:off x="1828800" y="29077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</a:p>
        </p:txBody>
      </p:sp>
      <p:sp>
        <p:nvSpPr>
          <p:cNvPr id="18" name="Shape 18"/>
          <p:cNvSpPr/>
          <p:nvPr/>
        </p:nvSpPr>
        <p:spPr>
          <a:xfrm>
            <a:off x="2651760" y="29077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-0.3</a:t>
            </a:r>
          </a:p>
        </p:txBody>
      </p:sp>
      <p:sp>
        <p:nvSpPr>
          <p:cNvPr id="19" name="Shape 19"/>
          <p:cNvSpPr/>
          <p:nvPr/>
        </p:nvSpPr>
        <p:spPr>
          <a:xfrm>
            <a:off x="3474720" y="29077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</a:t>
            </a:r>
          </a:p>
        </p:txBody>
      </p:sp>
      <p:sp>
        <p:nvSpPr>
          <p:cNvPr id="20" name="Shape 20"/>
          <p:cNvSpPr/>
          <p:nvPr/>
        </p:nvSpPr>
        <p:spPr>
          <a:xfrm>
            <a:off x="4297680" y="29077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</a:t>
            </a:r>
          </a:p>
        </p:txBody>
      </p:sp>
      <p:sp>
        <p:nvSpPr>
          <p:cNvPr id="21" name="Shape 21"/>
          <p:cNvSpPr/>
          <p:nvPr/>
        </p:nvSpPr>
        <p:spPr>
          <a:xfrm>
            <a:off x="5120640" y="2907792"/>
            <a:ext cx="868680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822960" y="336499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</a:p>
        </p:txBody>
      </p:sp>
      <p:sp>
        <p:nvSpPr>
          <p:cNvPr id="23" name="Shape 23"/>
          <p:cNvSpPr/>
          <p:nvPr/>
        </p:nvSpPr>
        <p:spPr>
          <a:xfrm>
            <a:off x="1828800" y="33649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</a:t>
            </a:r>
          </a:p>
        </p:txBody>
      </p:sp>
      <p:sp>
        <p:nvSpPr>
          <p:cNvPr id="24" name="Shape 24"/>
          <p:cNvSpPr/>
          <p:nvPr/>
        </p:nvSpPr>
        <p:spPr>
          <a:xfrm>
            <a:off x="2651760" y="33649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</a:t>
            </a:r>
          </a:p>
        </p:txBody>
      </p:sp>
      <p:sp>
        <p:nvSpPr>
          <p:cNvPr id="25" name="Shape 25"/>
          <p:cNvSpPr/>
          <p:nvPr/>
        </p:nvSpPr>
        <p:spPr>
          <a:xfrm>
            <a:off x="3474720" y="33649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</a:t>
            </a:r>
          </a:p>
        </p:txBody>
      </p:sp>
      <p:sp>
        <p:nvSpPr>
          <p:cNvPr id="26" name="Shape 26"/>
          <p:cNvSpPr/>
          <p:nvPr/>
        </p:nvSpPr>
        <p:spPr>
          <a:xfrm>
            <a:off x="4297680" y="33649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-0.2</a:t>
            </a:r>
          </a:p>
        </p:txBody>
      </p:sp>
      <p:sp>
        <p:nvSpPr>
          <p:cNvPr id="27" name="Shape 27"/>
          <p:cNvSpPr/>
          <p:nvPr/>
        </p:nvSpPr>
        <p:spPr>
          <a:xfrm>
            <a:off x="5120640" y="3364992"/>
            <a:ext cx="868680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822960" y="382219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</a:t>
            </a:r>
          </a:p>
        </p:txBody>
      </p:sp>
      <p:sp>
        <p:nvSpPr>
          <p:cNvPr id="29" name="Shape 29"/>
          <p:cNvSpPr/>
          <p:nvPr/>
        </p:nvSpPr>
        <p:spPr>
          <a:xfrm>
            <a:off x="1828800" y="38221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</a:p>
        </p:txBody>
      </p:sp>
      <p:sp>
        <p:nvSpPr>
          <p:cNvPr id="30" name="Shape 30"/>
          <p:cNvSpPr/>
          <p:nvPr/>
        </p:nvSpPr>
        <p:spPr>
          <a:xfrm>
            <a:off x="2651760" y="38221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-0.1</a:t>
            </a:r>
          </a:p>
        </p:txBody>
      </p:sp>
      <p:sp>
        <p:nvSpPr>
          <p:cNvPr id="31" name="Shape 31"/>
          <p:cNvSpPr/>
          <p:nvPr/>
        </p:nvSpPr>
        <p:spPr>
          <a:xfrm>
            <a:off x="3474720" y="38221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</a:t>
            </a:r>
          </a:p>
        </p:txBody>
      </p:sp>
      <p:sp>
        <p:nvSpPr>
          <p:cNvPr id="32" name="Shape 32"/>
          <p:cNvSpPr/>
          <p:nvPr/>
        </p:nvSpPr>
        <p:spPr>
          <a:xfrm>
            <a:off x="4297680" y="3822192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</a:t>
            </a:r>
          </a:p>
        </p:txBody>
      </p:sp>
      <p:sp>
        <p:nvSpPr>
          <p:cNvPr id="33" name="Shape 33"/>
          <p:cNvSpPr/>
          <p:nvPr/>
        </p:nvSpPr>
        <p:spPr>
          <a:xfrm>
            <a:off x="5120640" y="3822192"/>
            <a:ext cx="868680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822960" y="43159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설명용 예시. 실제 청크는 토큰이 수백 개</a:t>
            </a:r>
          </a:p>
        </p:txBody>
      </p:sp>
      <p:cxnSp>
        <p:nvCxnSpPr>
          <p:cNvPr id="35" name="Line 35"/>
          <p:cNvCxnSpPr/>
          <p:nvPr/>
        </p:nvCxnSpPr>
        <p:spPr>
          <a:xfrm>
            <a:off x="6144768" y="3310128"/>
            <a:ext cx="786384" cy="0"/>
          </a:xfrm>
          <a:prstGeom prst="line">
            <a:avLst/>
          </a:prstGeom>
          <a:ln w="22225">
            <a:solidFill>
              <a:srgbClr val="FFD733"/>
            </a:solidFill>
            <a:tailEnd type="triangle"/>
          </a:ln>
        </p:spPr>
      </p:cxnSp>
      <p:sp>
        <p:nvSpPr>
          <p:cNvPr id="36" name="Shape 36"/>
          <p:cNvSpPr txBox="1"/>
          <p:nvPr/>
        </p:nvSpPr>
        <p:spPr>
          <a:xfrm>
            <a:off x="5897880" y="26974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칸끼리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7086600" y="2724912"/>
            <a:ext cx="4434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벡터 1개 (1 × 384)</a:t>
            </a:r>
          </a:p>
        </p:txBody>
      </p:sp>
      <p:sp>
        <p:nvSpPr>
          <p:cNvPr id="38" name="Shape 38"/>
          <p:cNvSpPr/>
          <p:nvPr/>
        </p:nvSpPr>
        <p:spPr>
          <a:xfrm>
            <a:off x="7086600" y="3118104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5875">
            <a:solidFill>
              <a:srgbClr val="FFD7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</a:t>
            </a:r>
          </a:p>
        </p:txBody>
      </p:sp>
      <p:sp>
        <p:nvSpPr>
          <p:cNvPr id="39" name="Shape 39"/>
          <p:cNvSpPr/>
          <p:nvPr/>
        </p:nvSpPr>
        <p:spPr>
          <a:xfrm>
            <a:off x="7909560" y="3118104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5875">
            <a:solidFill>
              <a:srgbClr val="FFD7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-0.1</a:t>
            </a:r>
          </a:p>
        </p:txBody>
      </p:sp>
      <p:sp>
        <p:nvSpPr>
          <p:cNvPr id="40" name="Shape 40"/>
          <p:cNvSpPr/>
          <p:nvPr/>
        </p:nvSpPr>
        <p:spPr>
          <a:xfrm>
            <a:off x="8732520" y="3118104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5875">
            <a:solidFill>
              <a:srgbClr val="FFD7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</a:t>
            </a:r>
          </a:p>
        </p:txBody>
      </p:sp>
      <p:sp>
        <p:nvSpPr>
          <p:cNvPr id="41" name="Shape 41"/>
          <p:cNvSpPr/>
          <p:nvPr/>
        </p:nvSpPr>
        <p:spPr>
          <a:xfrm>
            <a:off x="9555480" y="3118104"/>
            <a:ext cx="749808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5875">
            <a:solidFill>
              <a:srgbClr val="FFD7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</a:t>
            </a:r>
          </a:p>
        </p:txBody>
      </p:sp>
      <p:sp>
        <p:nvSpPr>
          <p:cNvPr id="42" name="Shape 42"/>
          <p:cNvSpPr/>
          <p:nvPr/>
        </p:nvSpPr>
        <p:spPr>
          <a:xfrm>
            <a:off x="10378440" y="3118104"/>
            <a:ext cx="868680" cy="38404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5875">
            <a:solidFill>
              <a:srgbClr val="FFD73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</a:p>
        </p:txBody>
      </p:sp>
      <p:sp>
        <p:nvSpPr>
          <p:cNvPr id="43" name="Shape 43"/>
          <p:cNvSpPr txBox="1"/>
          <p:nvPr/>
        </p:nvSpPr>
        <p:spPr>
          <a:xfrm>
            <a:off x="7086600" y="3611880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칸1: (0.2 + 0.4 + 0.0 + 0.6) ÷ 4 = 0.3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7086600" y="3931920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마지막에 벡터 길이를 1로 맞춤(정규화)</a:t>
            </a:r>
          </a:p>
        </p:txBody>
      </p:sp>
      <p:sp>
        <p:nvSpPr>
          <p:cNvPr id="45" name="Shape 45"/>
          <p:cNvSpPr/>
          <p:nvPr/>
        </p:nvSpPr>
        <p:spPr>
          <a:xfrm>
            <a:off x="640080" y="4663440"/>
            <a:ext cx="10881360" cy="1207008"/>
          </a:xfrm>
          <a:prstGeom prst="roundRect">
            <a:avLst>
              <a:gd name="adj" fmla="val 2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wrap="square" lIns="274320" tIns="137160" rIns="274320" bIns="91440" rtlCol="0" anchor="ctr"/>
          <a:lstStyle/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토큰이 몇 개든 결과는 항상 1 × 384. 그래서 짧은 청크든 긴 청크든 벡터 1개</a:t>
            </a:r>
          </a:p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합치는 방식은 모델마다 다름. e5-small은 평균, BGE-M3는 맨 앞 시작 토큰(&lt;s&gt;)의 벡터 하나를 청크 대표로 씀</a:t>
            </a:r>
          </a:p>
          <a:p>
            <a:pPr marL="228600" indent="-228600" algn="l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정규화는 뒤에서 볼 코사인 유사도 계산을 곱셈·덧셈만으로 끝내기 위한 처리</a:t>
            </a:r>
          </a:p>
        </p:txBody>
      </p:sp>
      <p:cxnSp>
        <p:nvCxnSpPr>
          <p:cNvPr id="46" name="Line 46"/>
          <p:cNvCxnSpPr/>
          <p:nvPr/>
        </p:nvCxnSpPr>
        <p:spPr>
          <a:xfrm>
            <a:off x="640080" y="5989320"/>
            <a:ext cx="10881360" cy="0"/>
          </a:xfrm>
          <a:prstGeom prst="line">
            <a:avLst/>
          </a:prstGeom>
          <a:ln w="9525">
            <a:solidFill>
              <a:srgbClr val="8A7A2A"/>
            </a:solidFill>
          </a:ln>
        </p:spPr>
      </p:cxnSp>
      <p:sp>
        <p:nvSpPr>
          <p:cNvPr id="47" name="Shape 47"/>
          <p:cNvSpPr txBox="1"/>
          <p:nvPr/>
        </p:nvSpPr>
        <p:spPr>
          <a:xfrm>
            <a:off x="640080" y="605332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평균 풀링(mean pooling)</a:t>
            </a:r>
            <a:r>
              <a:rPr lang="ko-KR" alt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토큰 벡터들을 같은 칸끼리 평균 내 하나로 합치는 방법. 풀링(pooling)은 여러 벡터를 하나로 모으는 처리를 부르는 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 — </a:t>
            </a:r>
            <a:r>
              <a:rPr lang="ko-KR" alt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개가 벡터 </a:t>
            </a:r>
            <a:r>
              <a:rPr lang="en-US" altLang="ko-KR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개로 변환되는 결과를 얻음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40080" y="1783080"/>
          <a:ext cx="10881360" cy="135331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1개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칸(숫자 하나)의 뜻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문맥 반영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</a:t>
                      </a:r>
                      <a:r>
                        <a:rPr lang="ko-KR" altLang="en-US" sz="1300" b="1" dirty="0" err="1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</a:t>
                      </a:r>
                      <a:endParaRPr lang="ko-KR" altLang="en-US" sz="1300" b="1" dirty="0">
                        <a:solidFill>
                          <a:srgbClr val="FFD733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1개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뜻 없음. 384칸 전체의 조합이 뜻을 나타냄</a:t>
                      </a:r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예) [0.021, -0.118, 0.077, …]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있음. 쓰인 단어가 달라도 뜻이 비슷하면 가까워짐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의미가 가까우면 벡터 값이 가까움</a:t>
            </a:r>
            <a:endParaRPr lang="en-US" sz="2800" dirty="0"/>
          </a:p>
        </p:txBody>
      </p:sp>
      <p:sp>
        <p:nvSpPr>
          <p:cNvPr id="61" name="Panel"/>
          <p:cNvSpPr/>
          <p:nvPr/>
        </p:nvSpPr>
        <p:spPr>
          <a:xfrm>
            <a:off x="640080" y="1463040"/>
            <a:ext cx="6583680" cy="4206240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62" name="Cluster"/>
          <p:cNvSpPr/>
          <p:nvPr/>
        </p:nvSpPr>
        <p:spPr>
          <a:xfrm>
            <a:off x="804672" y="1645920"/>
            <a:ext cx="3886200" cy="233172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FFD733"/>
            </a:solidFill>
            <a:prstDash val="dash"/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63" name="Shape 63"/>
          <p:cNvSpPr txBox="1"/>
          <p:nvPr/>
        </p:nvSpPr>
        <p:spPr>
          <a:xfrm>
            <a:off x="2651760" y="367588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청크끼리 모임</a:t>
            </a:r>
          </a:p>
        </p:txBody>
      </p:sp>
      <p:sp>
        <p:nvSpPr>
          <p:cNvPr id="64" name="Shape 64"/>
          <p:cNvSpPr/>
          <p:nvPr/>
        </p:nvSpPr>
        <p:spPr>
          <a:xfrm>
            <a:off x="1005840" y="1874520"/>
            <a:ext cx="237744" cy="237744"/>
          </a:xfrm>
          <a:prstGeom prst="ellipse">
            <a:avLst/>
          </a:prstGeom>
          <a:solidFill>
            <a:srgbClr val="E8C84A"/>
          </a:solidFill>
          <a:ln w="6350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65" name="Shape 65"/>
          <p:cNvSpPr txBox="1"/>
          <p:nvPr/>
        </p:nvSpPr>
        <p:spPr>
          <a:xfrm>
            <a:off x="1307592" y="1764792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청크: 다국어 임베딩 학습 기법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E8C8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[0.042, -0.015, 0.061, …]</a:t>
            </a:r>
          </a:p>
        </p:txBody>
      </p:sp>
      <p:sp>
        <p:nvSpPr>
          <p:cNvPr id="66" name="Shape 66"/>
          <p:cNvSpPr/>
          <p:nvPr/>
        </p:nvSpPr>
        <p:spPr>
          <a:xfrm>
            <a:off x="1463040" y="2560320"/>
            <a:ext cx="237744" cy="237744"/>
          </a:xfrm>
          <a:prstGeom prst="ellipse">
            <a:avLst/>
          </a:prstGeom>
          <a:solidFill>
            <a:srgbClr val="E8C84A"/>
          </a:solidFill>
          <a:ln w="6350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67" name="Shape 67"/>
          <p:cNvSpPr txBox="1"/>
          <p:nvPr/>
        </p:nvSpPr>
        <p:spPr>
          <a:xfrm>
            <a:off x="1764792" y="2450592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청크: 대조 학습으로 검색 성능 향상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E8C8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[0.039, -0.018, 0.057, …]</a:t>
            </a:r>
          </a:p>
        </p:txBody>
      </p:sp>
      <p:sp>
        <p:nvSpPr>
          <p:cNvPr id="68" name="Shape 68"/>
          <p:cNvSpPr/>
          <p:nvPr/>
        </p:nvSpPr>
        <p:spPr>
          <a:xfrm>
            <a:off x="1005840" y="3246120"/>
            <a:ext cx="237744" cy="237744"/>
          </a:xfrm>
          <a:prstGeom prst="ellipse">
            <a:avLst/>
          </a:prstGeom>
          <a:solidFill>
            <a:srgbClr val="FFD733"/>
          </a:solidFill>
          <a:ln w="6350">
            <a:solidFill>
              <a:srgbClr val="FFD733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69" name="Shape 69"/>
          <p:cNvSpPr txBox="1"/>
          <p:nvPr/>
        </p:nvSpPr>
        <p:spPr>
          <a:xfrm>
            <a:off x="1307592" y="3136392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질의: 다국어 검색 모델 학습 방법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E8C8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[0.044, -0.013, 0.059, …]</a:t>
            </a:r>
          </a:p>
        </p:txBody>
      </p:sp>
      <p:sp>
        <p:nvSpPr>
          <p:cNvPr id="70" name="Shape 70"/>
          <p:cNvSpPr/>
          <p:nvPr/>
        </p:nvSpPr>
        <p:spPr>
          <a:xfrm>
            <a:off x="4983480" y="1828800"/>
            <a:ext cx="237744" cy="237744"/>
          </a:xfrm>
          <a:prstGeom prst="ellipse">
            <a:avLst/>
          </a:prstGeom>
          <a:solidFill>
            <a:srgbClr val="B8B8B8"/>
          </a:solidFill>
          <a:ln w="6350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71" name="Shape 71"/>
          <p:cNvSpPr txBox="1"/>
          <p:nvPr/>
        </p:nvSpPr>
        <p:spPr>
          <a:xfrm>
            <a:off x="5285232" y="1719072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청크: 실험 장비 사양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[-0.051, 0.037, 0.004, …]</a:t>
            </a:r>
          </a:p>
        </p:txBody>
      </p:sp>
      <p:sp>
        <p:nvSpPr>
          <p:cNvPr id="72" name="Shape 72"/>
          <p:cNvSpPr/>
          <p:nvPr/>
        </p:nvSpPr>
        <p:spPr>
          <a:xfrm>
            <a:off x="5120640" y="3017520"/>
            <a:ext cx="237744" cy="237744"/>
          </a:xfrm>
          <a:prstGeom prst="ellipse">
            <a:avLst/>
          </a:prstGeom>
          <a:solidFill>
            <a:srgbClr val="B8B8B8"/>
          </a:solidFill>
          <a:ln w="6350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73" name="Shape 73"/>
          <p:cNvSpPr txBox="1"/>
          <p:nvPr/>
        </p:nvSpPr>
        <p:spPr>
          <a:xfrm>
            <a:off x="5422392" y="2907792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청크: 참고 문헌 목록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[0.008, 0.049, -0.036, …]</a:t>
            </a:r>
          </a:p>
        </p:txBody>
      </p:sp>
      <p:sp>
        <p:nvSpPr>
          <p:cNvPr id="74" name="Shape 74"/>
          <p:cNvSpPr/>
          <p:nvPr/>
        </p:nvSpPr>
        <p:spPr>
          <a:xfrm>
            <a:off x="2926080" y="4343400"/>
            <a:ext cx="237744" cy="237744"/>
          </a:xfrm>
          <a:prstGeom prst="ellipse">
            <a:avLst/>
          </a:prstGeom>
          <a:solidFill>
            <a:srgbClr val="B8B8B8"/>
          </a:solidFill>
          <a:ln w="6350">
            <a:solidFill>
              <a:srgbClr val="3C3C3C"/>
            </a:solidFill>
          </a:ln>
        </p:spPr>
        <p:txBody>
          <a:bodyPr wrap="square" lIns="0" tIns="0" rIns="0" bIns="0" rtlCol="0" anchor="ctr"/>
          <a:lstStyle/>
          <a:p>
            <a:endParaRPr lang="ko-KR" altLang="en-US" dirty="0"/>
          </a:p>
        </p:txBody>
      </p:sp>
      <p:sp>
        <p:nvSpPr>
          <p:cNvPr id="75" name="Shape 75"/>
          <p:cNvSpPr txBox="1"/>
          <p:nvPr/>
        </p:nvSpPr>
        <p:spPr>
          <a:xfrm>
            <a:off x="3227832" y="4233672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청크: 연구비 지원 표기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B8B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[-0.019, 0.045, -0.027, …]</a:t>
            </a:r>
          </a:p>
        </p:txBody>
      </p:sp>
      <p:sp>
        <p:nvSpPr>
          <p:cNvPr id="76" name="Shape 76"/>
          <p:cNvSpPr txBox="1"/>
          <p:nvPr/>
        </p:nvSpPr>
        <p:spPr>
          <a:xfrm>
            <a:off x="640080" y="5029200"/>
            <a:ext cx="6583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384차원 벡터를 평면(2차원)에 투영해 그린 개념도. 점 하나 = 벡터 하나 = 청크 하나</a:t>
            </a:r>
          </a:p>
          <a:p>
            <a:pPr marL="0" indent="0"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청크 아래 숫자는 벡터 384칸 중 앞 3칸 (설명용 예시 값)</a:t>
            </a:r>
          </a:p>
        </p:txBody>
      </p:sp>
      <p:sp>
        <p:nvSpPr>
          <p:cNvPr id="77" name="Shape 77"/>
          <p:cNvSpPr txBox="1"/>
          <p:nvPr/>
        </p:nvSpPr>
        <p:spPr>
          <a:xfrm>
            <a:off x="7589520" y="1463040"/>
            <a:ext cx="393192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청크마다 벡터(숫자 384개)가 하나씩 있음. 이 숫자들을 평면에 투영하면 청크 하나가 점 하나가 됨</a:t>
            </a:r>
          </a:p>
          <a:p>
            <a:pPr marL="228600" indent="-228600" algn="l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청크는 숫자 패턴도 비슷해 점이 가까이 모임(점선 안쪽). 쓰인 단어가 달라도 마찬가지</a:t>
            </a:r>
          </a:p>
          <a:p>
            <a:pPr marL="228600" indent="-228600" algn="l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질의도 같은 모델로 벡터로 바꾸면 같은 공간의 한 점이 됨</a:t>
            </a:r>
          </a:p>
          <a:p>
            <a:pPr marL="228600" indent="-228600" algn="l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점에서 가까운 청크부터 차례로 돌려준 것이 검색 결과</a:t>
            </a:r>
          </a:p>
          <a:p>
            <a:pPr marL="228600" indent="-228600" algn="l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청크와 질의는 같은 모델로 변환해야 비교가 성립함. 모델이 다르면 좌표계가 달라져 결과가 무의미해짐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코사인 유사도¹로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근접도를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경우 많음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1097280" y="2011680"/>
            <a:ext cx="2743200" cy="310896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 flipV="1">
            <a:off x="1097280" y="2651760"/>
            <a:ext cx="3566160" cy="2468880"/>
          </a:xfrm>
          <a:prstGeom prst="line">
            <a:avLst/>
          </a:prstGeom>
          <a:noFill/>
          <a:ln w="31750">
            <a:solidFill>
              <a:srgbClr val="F4F4F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1097280" y="4206240"/>
            <a:ext cx="3931920" cy="914400"/>
          </a:xfrm>
          <a:prstGeom prst="line">
            <a:avLst/>
          </a:prstGeom>
          <a:noFill/>
          <a:ln w="31750">
            <a:solidFill>
              <a:srgbClr val="B8B8B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393192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벡터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A — 각도 작음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유사도 높음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B — 각도 큼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유사도 낮음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24128" y="5047488"/>
            <a:ext cx="146304" cy="146304"/>
          </a:xfrm>
          <a:prstGeom prst="ellipse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212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원점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73736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벡터가 이루는 각도로 가까운 정도를 계산. 값은 -1~1이며 1에 가까울수록 뜻이 비슷함</a:t>
            </a:r>
            <a:endParaRPr lang="en-US" sz="1350" dirty="0"/>
          </a:p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벡터의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)는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무시하고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방향만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비교하므로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긴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청크가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유리해지지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않음</a:t>
            </a:r>
            <a:endParaRPr lang="en-US" sz="1350" dirty="0"/>
          </a:p>
          <a:p>
            <a:pPr marL="228600" indent="-2286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정규화²: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길이를 1로 맞춰 두면 각도 계산이 곱셈·덧셈만으로 끝남(내적³). 인덱싱 지시문의 normalize_embeddings=True 가 이 </a:t>
            </a:r>
            <a:r>
              <a:rPr lang="en-US" sz="13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916168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코사인 유사도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두 벡터가 이루는 각도의 </a:t>
            </a:r>
            <a:r>
              <a:rPr lang="en-US" sz="10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값</a:t>
            </a:r>
            <a:r>
              <a:rPr lang="ko-KR" alt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이용해 방향의 유사성을 측정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크기는 무시하고 방향만 비교하므로 텍스트 분량 차이에 영향을 덜 </a:t>
            </a:r>
            <a:r>
              <a:rPr lang="en-US" sz="10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</a:t>
            </a: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² 정규화(normalize)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벡터의 길이를 1로 맞추는 처리. 검색 시 계산을 줄이기 위해 색인 단계에서 미리 해 둠</a:t>
            </a: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³ 내적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두 벡터의 같은 자리 숫자끼리 곱해 모두 더한 값. 길이를 1로 맞춰 두면 이 값이 곧 코사인 유사도가 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벡터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검색의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556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검색이 잘 찾는 질문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"다국어 검색 모델을 학습하는 방법은?"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똑같은 단어가 없어도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통하면 찾아냄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7556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검색이 놓치기 쉬운 질문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"BGE-M3의 파라미터 수는?"  "표 3의 수치는?"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모델명·제품 번호·숫자처럼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글자가 정확히 일치해야 하는 질문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검색에 단어 일치 검색(BM25¹)을 더한 하이브리드 검색으로 보완함. 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6053328"/>
            <a:ext cx="10881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BM25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질문에 나온 단어가 그 문서에 얼마나 자주 나오는지, 그리고 그 단어가 전체 문서에서 얼마나 드문 단어인지를 함께 따져 점수를 매기는 검색 방식. 오래전부터 검색 엔진의 기본으로 쓰임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벡터 DB¹가 필요한 규모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실습은 행렬을 파일 하나(embeddings.npy)로 저장함. 벡터 DB를 쓰지 않는 이유는 데이터 양이 적기 때문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28016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2573" y="2221992"/>
            <a:ext cx="256032" cy="256032"/>
          </a:xfrm>
          <a:prstGeom prst="ellipse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6189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1,750 </a:t>
            </a:r>
            <a:r>
              <a:rPr lang="ko-KR" alt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개의 </a:t>
            </a:r>
            <a:r>
              <a:rPr lang="en-US" sz="13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(이번 실습)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64608" y="2221992"/>
            <a:ext cx="256032" cy="256032"/>
          </a:xfrm>
          <a:prstGeom prst="ellipse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78224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10만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9016" y="2221992"/>
            <a:ext cx="256032" cy="256032"/>
          </a:xfrm>
          <a:prstGeom prst="ellipse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42632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1,000만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849356" y="2221992"/>
            <a:ext cx="256032" cy="256032"/>
          </a:xfrm>
          <a:prstGeom prst="ellipse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62972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수억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5387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수천~수만 개 · 전수 검색²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97764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벡터를 전체 청크 벡터와 한꺼번에 비교.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개 규모면 1밀리초 안팎이고 순위도 정확함.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하나만 있으면 되고 별도 프로그램이 필요 없음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5387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수십만 개 이상 · 벡터 DB / ANN³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97764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비교하기에는 느려지는 규모.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조금 덜 정확해도 훨씬 빠른 근사 탐색을 사용.</a:t>
            </a:r>
            <a:endParaRPr lang="en-US" sz="13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검색, 문서 추가·수정 관리도 DB 쪽이 편함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89788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961888"/>
            <a:ext cx="10881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벡터 DB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벡터를 저장해 두고 그중 가까운 것을 빨리 찾아 주는 데 특화된 </a:t>
            </a:r>
            <a:r>
              <a:rPr lang="en-US" sz="10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² 전수 검색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질의 벡터를 전체 청크 벡터와 하나도 빠짐없이 비교하는 방식. 결과가 정확한 대신 개수가 늘면 </a:t>
            </a:r>
            <a:r>
              <a:rPr lang="en-US" sz="10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느려짐</a:t>
            </a: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³ ANN(근사 최근접 탐색)</a:t>
            </a: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전부 비교하는 대신 미리 만들어 둔 지름길을 따라 후보만 비교하는 방법. 약간의 정확도를 내주고 속도를 얻음. HNSW 방식이 대표적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노트 — 벡터 저장 도구의 분류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09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라이브러리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FAISS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안에서 빠른 검색 기능만 제공. 저장·관리 기능은 없음. 연구·실험 용도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709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내장형·확장형 DB¹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240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 · LanceDB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632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Chroma·LanceDB는 프로그램에 포함되어 동작하고, pgvector는 이미 쓰고 있는 PostgreSQL에 기능을 더하는 방식. 소규모 서비스에서 널리 사용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709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서버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240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Milvus · Qdrant · Weaviate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0632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서버로 운영. 수억 개 규모, 동시 접속자가 많은 경우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6053328"/>
            <a:ext cx="10881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내장형 DB</a:t>
            </a: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별도 서버를 띄우지 않고 프로그램 안에 포함되어 동작하는 데이터베이스. 설치와 운영이 간단해 소규모에 적합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모델 선택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794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선택지가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 확인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3703320"/>
            <a:ext cx="137160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왜 2023년 경량 모델 e5-small로 실습하나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40080" y="117043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최신·최고 성능이 아니라 '노트북에서 수업 시간 안에 확실히 끝나는' 모델을 고른 실습용 선택</a:t>
            </a:r>
          </a:p>
        </p:txBody>
      </p:sp>
      <p:sp>
        <p:nvSpPr>
          <p:cNvPr id="4" name="Part 1"/>
          <p:cNvSpPr/>
          <p:nvPr/>
        </p:nvSpPr>
        <p:spPr>
          <a:xfrm>
            <a:off x="640080" y="1691640"/>
            <a:ext cx="3383280" cy="187452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3A3A3A"/>
            </a:solidFill>
          </a:ln>
        </p:spPr>
        <p:txBody>
          <a:bodyPr wrap="square" lIns="182880" tIns="164592" rIns="182880" bIns="91440" rtlCol="0" anchor="t"/>
          <a:lstStyle/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작고 가벼움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1.2억 파라미터, 모델 파일과 실행 메모리 적게 먹음</a:t>
            </a:r>
          </a:p>
        </p:txBody>
      </p:sp>
      <p:sp>
        <p:nvSpPr>
          <p:cNvPr id="5" name="Part 2"/>
          <p:cNvSpPr/>
          <p:nvPr/>
        </p:nvSpPr>
        <p:spPr>
          <a:xfrm>
            <a:off x="4389120" y="1691640"/>
            <a:ext cx="3383280" cy="187452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3A3A3A"/>
            </a:solidFill>
          </a:ln>
        </p:spPr>
        <p:txBody>
          <a:bodyPr wrap="square" lIns="182880" tIns="164592" rIns="182880" bIns="91440" rtlCol="0" anchor="t"/>
          <a:lstStyle/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수업 시간 안에 끝남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조건에서 BGE-M3는 1시간 반 이상 예상</a:t>
            </a:r>
          </a:p>
        </p:txBody>
      </p:sp>
      <p:sp>
        <p:nvSpPr>
          <p:cNvPr id="6" name="Part 3"/>
          <p:cNvSpPr/>
          <p:nvPr/>
        </p:nvSpPr>
        <p:spPr>
          <a:xfrm>
            <a:off x="8138160" y="1691640"/>
            <a:ext cx="3383280" cy="187452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 w="12700">
            <a:solidFill>
              <a:srgbClr val="3A3A3A"/>
            </a:solidFill>
          </a:ln>
        </p:spPr>
        <p:txBody>
          <a:bodyPr wrap="square" lIns="182880" tIns="164592" rIns="182880" bIns="91440" rtlCol="0" anchor="t"/>
          <a:lstStyle/>
          <a:p>
            <a:pPr marL="0" indent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8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믿을 수 있는 출처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Microsoft가 2023년 공개한 다국어 모델</a:t>
            </a:r>
          </a:p>
          <a:p>
            <a:pPr marL="228600" indent="-228600" algn="l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포함 약 100개 언어</a:t>
            </a:r>
          </a:p>
        </p:txBody>
      </p:sp>
      <p:sp>
        <p:nvSpPr>
          <p:cNvPr id="7" name="Tool defaults"/>
          <p:cNvSpPr/>
          <p:nvPr/>
        </p:nvSpPr>
        <p:spPr>
          <a:xfrm>
            <a:off x="640080" y="3840480"/>
            <a:ext cx="10881360" cy="2606040"/>
          </a:xfrm>
          <a:prstGeom prst="roundRect">
            <a:avLst>
              <a:gd name="adj" fmla="val 2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wrap="square" lIns="274320" tIns="109728" rIns="274320" bIns="109728" rtlCol="0" anchor="ctr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현업에서는 이런 모델을 씀 (2026년 9월 기준)</a:t>
            </a:r>
          </a:p>
          <a:p>
            <a:pPr marL="228600" indent="-2286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Qwen3-Embedding 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알리바바, 2025년 6월. 공개 성능 순위표 상위권. 정확도가 중요하고 GPU가 있을 때</a:t>
            </a:r>
          </a:p>
          <a:p>
            <a:pPr marL="228600" indent="-2286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EmbeddingGemma-300M  </a:t>
            </a:r>
            <a:r>
              <a:rPr lang="ko-KR" altLang="en-US" sz="13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Google, 2025년 9월. 가벼운 최신 모델. 허깅페이스 약관 동의가 필요해 빠른 실습을 위해 제외</a:t>
            </a:r>
          </a:p>
          <a:p>
            <a:pPr marL="228600" indent="-2286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 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BAAI, 2024년. 다국어 자체 운영에서 검증된 선택지. e5-small보다 품질이 높지만 무거움</a:t>
            </a:r>
          </a:p>
          <a:p>
            <a:pPr marL="228600" indent="-228600" algn="l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관리형 API 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OpenAI·Gemini·Voyage 등. 설치 없이 호출하는 대신 자료가 외부로 전송되고 요금 발생</a:t>
            </a:r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ko-KR" alt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실습 코드 구조는 그대로. 모델 이름과 접두어 규칙(passage:/query: 등)만 모델 설명서에서 확인해 바꾸면 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— 실습 모델 multilingual-e5-small</a:t>
            </a:r>
            <a:endParaRPr lang="en-US" sz="28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/>
        </p:nvGraphicFramePr>
        <p:xfrm>
          <a:off x="640080" y="1554480"/>
          <a:ext cx="10259907" cy="3520440"/>
        </p:xfrm>
        <a:graphic>
          <a:graphicData uri="http://schemas.openxmlformats.org/drawingml/2006/table">
            <a:tbl>
              <a:tblPr/>
              <a:tblGrid>
                <a:gridCol w="215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이름의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E5 = Microsoft 임베딩 모델 계열. small = 세 크기(small·base·large) 중 가장 작은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앞에 passage:, 질문 앞에 query: 를 붙여 씀¹ (</a:t>
                      </a: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만드는 </a:t>
                      </a:r>
                      <a:r>
                        <a:rPr lang="en-US" sz="1250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index.py가</a:t>
                      </a: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자동으로 붙임)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1.2억 파라미터², 모델 파일 약 450MB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 하나당 숫자 384개</a:t>
                      </a:r>
                      <a:r>
                        <a:rPr lang="ko-KR" altLang="en-US" sz="1250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짜리</a:t>
                      </a: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벡터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넣을 수 있는 길이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512토큰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언어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100개. 한국어 보고서와 영어 논문이 섞인 자료에 사용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870448"/>
            <a:ext cx="10881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¹ 접두어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학습할 때부터 문서와 질문을 구분하는 표시를 붙여 쓴 모델이라, 생략하면 오류는 없지만 검색 품질이 </a:t>
            </a:r>
            <a:r>
              <a:rPr lang="en-US" sz="9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떨어짐</a:t>
            </a: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² 파라미터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모델이 학습으로 얻은 내부 숫자의 개수. 많을수록 표현력이 좋아지지만 </a:t>
            </a:r>
            <a:r>
              <a:rPr lang="en-US" sz="9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느려짐</a:t>
            </a: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³ 로컬 실행</a:t>
            </a: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모델 파일을 내 컴퓨터에 내려받아 직접 계산하는 방식. 자료가 외부로 나가지 않음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 실습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794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Claude에게 index.py를 쓰게 하고, 만들어진 embeddings.npy가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정상인지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3703320"/>
            <a:ext cx="137160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인덱싱 프롬프트의 입력과 출력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chunks.jsonl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(실습 ① 산출물)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49040" y="3291840"/>
            <a:ext cx="5486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89120" y="17373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847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231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청크 앞에 passage: 를 붙여 e5-small에 입력</a:t>
            </a:r>
            <a:endParaRPr lang="en-US" sz="1250" dirty="0"/>
          </a:p>
          <a:p>
            <a:pPr marL="228600" indent="-228600">
              <a:lnSpc>
                <a:spcPct val="150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길이를 1로 맞춘 숫자 384개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3291840"/>
            <a:ext cx="548640" cy="0"/>
          </a:xfrm>
          <a:prstGeom prst="line">
            <a:avLst/>
          </a:prstGeom>
          <a:noFill/>
          <a:ln w="22225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03920" y="173736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4108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28600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embeddings.npy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 × 384 행렬)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meta.json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(청크 번호 순서, 모델 이름)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인덱싱 프롬프트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r>
              <a:rPr lang="ko-KR" alt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세팅한 환경 폴더 선택 후 아래 프롬프트 붙여 넣고 실행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02336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기준대로 </a:t>
            </a:r>
            <a:r>
              <a:rPr lang="en-US" altLang="ko-KR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목적의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index.py를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새로 만들려고 해.</a:t>
            </a: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코드를 작성하고 실행해줘</a:t>
            </a: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chunks.jsonl을 순서대로 읽어 sentence-transformers의 "intfloat/multilingual-e5-small"로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각 text 앞에 "passage: "를 붙여 임베딩한다(normalize_embeddings=True).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모델은 캐시에 있으면 인터넷 없이 불러온다.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embeddings.npy(i번째 행 = i번째 청크)와 meta.json(모델 이름·청크 수·차원·id 목록)을 저장한다.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--model 인자로 다른 모델로 바꿀 수 있게 한다. e5가 아닌 모델에는 passage: 를 붙이지 않는다.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진행률을 표시하고, 마지막 줄에 정확히 "OK: embeddings ({청크수}, {차원}) saved" 를 출력한다.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실행은 uv run python index.py 로 해줘. 수 분 걸리니 끝날 때까지 기다렸다가 전체 출력을 보여줘.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각 요구사항의 목적</a:t>
            </a:r>
            <a:endParaRPr lang="en-US" sz="28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/>
        </p:nvGraphicFramePr>
        <p:xfrm>
          <a:off x="640080" y="1554480"/>
          <a:ext cx="10881360" cy="289884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normalize_embeddings=True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벡터의 길이를 1로 맞춰 둠. </a:t>
                      </a: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질문과 </a:t>
                      </a:r>
                      <a:r>
                        <a:rPr lang="ko-KR" altLang="en-US" sz="1300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</a:t>
                      </a: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계산을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내적만으로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빠르게 계산하기 위한 사전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캐시에서 불러오기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00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네트워크가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불안정해도 멈추지 않게 함. 1강에서 받아 둔 모델을 그대로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행 순서 · meta.json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번호로 청크를 찾아가므로 순서가 어긋나면 출처가 틀어짐. 질문도 같은 모델로 바꿔야 하므로 모델 이름 기록은 필수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--model · passage: 접두어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등으로 바꿀 때 코드 수정 없이 교체. e5 계열은 문서 앞에 passage: 를 붙이도록 </a:t>
                      </a:r>
                      <a:r>
                        <a:rPr lang="en-US" sz="1300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학습된</a:t>
                      </a:r>
                      <a:r>
                        <a:rPr 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이라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 만든 산출물의 역할 — 청크 번호로 연결된 세 파일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109728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56032" indent="-256032" algn="l">
              <a:lnSpc>
                <a:spcPct val="12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인제스트 결과(chunks.jsonl)와 인덱싱 결과(embeddings.npy, meta.json)는 청크 번호 i¹로 서로 연결됨</a:t>
            </a:r>
          </a:p>
          <a:p>
            <a:pPr marL="256032" indent="-256032" algn="l">
              <a:lnSpc>
                <a:spcPct val="12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3강 검색은 세 파일을 함께 읽음. 그래서 세 파일은 항상 같이 만들고 같이 바꿈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965960"/>
            <a:ext cx="3352800" cy="29718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804672" y="2075688"/>
            <a:ext cx="30236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chunks.jsonl</a:t>
            </a:r>
          </a:p>
        </p:txBody>
      </p:sp>
      <p:sp>
        <p:nvSpPr>
          <p:cNvPr id="7" name="Shape 7"/>
          <p:cNvSpPr/>
          <p:nvPr/>
        </p:nvSpPr>
        <p:spPr>
          <a:xfrm>
            <a:off x="4404360" y="1965960"/>
            <a:ext cx="3352800" cy="29718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68952" y="2075688"/>
            <a:ext cx="30236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embeddings.npy</a:t>
            </a:r>
          </a:p>
        </p:txBody>
      </p:sp>
      <p:sp>
        <p:nvSpPr>
          <p:cNvPr id="10" name="Shape 10"/>
          <p:cNvSpPr/>
          <p:nvPr/>
        </p:nvSpPr>
        <p:spPr>
          <a:xfrm>
            <a:off x="8168640" y="1965960"/>
            <a:ext cx="3352800" cy="29718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8333232" y="2075688"/>
            <a:ext cx="30236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meta.json</a:t>
            </a:r>
          </a:p>
        </p:txBody>
      </p:sp>
      <p:sp>
        <p:nvSpPr>
          <p:cNvPr id="13" name="Shape 13"/>
          <p:cNvSpPr/>
          <p:nvPr/>
        </p:nvSpPr>
        <p:spPr>
          <a:xfrm>
            <a:off x="749808" y="3749040"/>
            <a:ext cx="3133344" cy="347472"/>
          </a:xfrm>
          <a:prstGeom prst="rect">
            <a:avLst/>
          </a:prstGeom>
          <a:solidFill>
            <a:srgbClr val="2E2A12"/>
          </a:solidFill>
          <a:ln w="9525">
            <a:solidFill>
              <a:srgbClr val="FFD733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22960" y="283464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0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371600" y="2834640"/>
            <a:ext cx="2484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{"id": 0, "doc": …, "text": …}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22960" y="3145536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1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371600" y="3145536"/>
            <a:ext cx="2484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{"id": 1, "doc": …, "text": …}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" y="3456432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⋮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22960" y="376732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i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371600" y="3767328"/>
            <a:ext cx="2484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{"id": i, "doc": …, "text": …}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078224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⋮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" y="438912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N-1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371600" y="4389120"/>
            <a:ext cx="2484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{"id": N-1, "doc": …, …}</a:t>
            </a:r>
          </a:p>
        </p:txBody>
      </p:sp>
      <p:sp>
        <p:nvSpPr>
          <p:cNvPr id="24" name="Shape 24"/>
          <p:cNvSpPr/>
          <p:nvPr/>
        </p:nvSpPr>
        <p:spPr>
          <a:xfrm>
            <a:off x="4514088" y="3749040"/>
            <a:ext cx="3133344" cy="347472"/>
          </a:xfrm>
          <a:prstGeom prst="rect">
            <a:avLst/>
          </a:prstGeom>
          <a:solidFill>
            <a:srgbClr val="2E2A12"/>
          </a:solidFill>
          <a:ln w="9525">
            <a:solidFill>
              <a:srgbClr val="FFD733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4587240" y="283464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0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135880" y="2834640"/>
            <a:ext cx="2484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[0.062, -0.041, …, 0.060]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587240" y="3145536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1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135880" y="3145536"/>
            <a:ext cx="2484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[0.010, -0.021, …, 0.074]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4587240" y="3456432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⋮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587240" y="376732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i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135880" y="3767328"/>
            <a:ext cx="2484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i번 청크의 벡터 (숫자 384개)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587240" y="4078224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⋮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587240" y="438912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N-1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135880" y="4389120"/>
            <a:ext cx="24841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[0.042, -0.028, …, 0.080]</a:t>
            </a:r>
          </a:p>
        </p:txBody>
      </p:sp>
      <p:sp>
        <p:nvSpPr>
          <p:cNvPr id="35" name="Shape 35"/>
          <p:cNvSpPr/>
          <p:nvPr/>
        </p:nvSpPr>
        <p:spPr>
          <a:xfrm>
            <a:off x="8278368" y="3749040"/>
            <a:ext cx="3133344" cy="347472"/>
          </a:xfrm>
          <a:prstGeom prst="rect">
            <a:avLst/>
          </a:prstGeom>
          <a:solidFill>
            <a:srgbClr val="2E2A12"/>
          </a:solidFill>
          <a:ln w="9525">
            <a:solidFill>
              <a:srgbClr val="FFD733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6" name="Text 36"/>
          <p:cNvSpPr txBox="1"/>
          <p:nvPr/>
        </p:nvSpPr>
        <p:spPr>
          <a:xfrm>
            <a:off x="8397240" y="2834640"/>
            <a:ext cx="298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"model":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397240" y="3145536"/>
            <a:ext cx="298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  "intfloat/multilingual-e5-small",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397240" y="3456432"/>
            <a:ext cx="298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"num_chunks": </a:t>
            </a:r>
            <a:r>
              <a:rPr lang="ko-KR" altLang="en-US" sz="1100" b="0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N</a:t>
            </a: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, "dim": </a:t>
            </a:r>
            <a:r>
              <a:rPr lang="ko-KR" altLang="en-US" sz="1100" b="0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384</a:t>
            </a:r>
            <a:r>
              <a:rPr lang="ko-KR" altLang="en-US" sz="11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,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397240" y="3767328"/>
            <a:ext cx="2987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"ids": [0, 1, …, </a:t>
            </a:r>
            <a:r>
              <a:rPr lang="ko-KR" altLang="en-US" sz="110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i</a:t>
            </a:r>
            <a:r>
              <a:rPr lang="ko-KR" altLang="en-US" sz="1100" b="1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, …, N-1]</a:t>
            </a:r>
          </a:p>
        </p:txBody>
      </p:sp>
      <p:cxnSp>
        <p:nvCxnSpPr>
          <p:cNvPr id="40" name="Connector 40"/>
          <p:cNvCxnSpPr/>
          <p:nvPr/>
        </p:nvCxnSpPr>
        <p:spPr>
          <a:xfrm>
            <a:off x="4029456" y="3922776"/>
            <a:ext cx="33832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41" name="Connector 41"/>
          <p:cNvCxnSpPr/>
          <p:nvPr/>
        </p:nvCxnSpPr>
        <p:spPr>
          <a:xfrm>
            <a:off x="7793736" y="3922776"/>
            <a:ext cx="33832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42" name="Text 42"/>
          <p:cNvSpPr txBox="1"/>
          <p:nvPr/>
        </p:nvSpPr>
        <p:spPr>
          <a:xfrm>
            <a:off x="685800" y="5047488"/>
            <a:ext cx="326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본문·출처 보관. 검색된 청크의 글과 출처를 여기서 꺼내 답변에 씀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4450080" y="5047488"/>
            <a:ext cx="326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청크마다 벡터 보관. 질문 벡터와 비교해 유사도 순위를 계산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214360" y="5047488"/>
            <a:ext cx="326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행렬을 만든 조건 기록. 질문을 같은 모델로 임베딩할 때 필요</a:t>
            </a:r>
          </a:p>
        </p:txBody>
      </p:sp>
      <p:cxnSp>
        <p:nvCxnSpPr>
          <p:cNvPr id="45" name="Connector 45"/>
          <p:cNvCxnSpPr/>
          <p:nvPr/>
        </p:nvCxnSpPr>
        <p:spPr>
          <a:xfrm>
            <a:off x="640080" y="589788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cxnSp>
      <p:sp>
        <p:nvSpPr>
          <p:cNvPr id="46" name="Text 46"/>
          <p:cNvSpPr txBox="1"/>
          <p:nvPr/>
        </p:nvSpPr>
        <p:spPr>
          <a:xfrm>
            <a:off x="640080" y="596188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0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¹ 청크 번호 i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0부터 매긴 번호. chunks.jsonl의 줄 순서 = embeddings.npy의 행 순서 = meta.json ids 목록의 순서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2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embeddings.npy</a:t>
            </a:r>
            <a:endParaRPr lang="ko-KR" altLang="en-US" sz="28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640080" y="109728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56032" indent="-256032" algn="l">
              <a:lnSpc>
                <a:spcPct val="12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청크마다 만든 벡터를 chunks.jsonl 순서대로 한 줄씩 쌓은 숫자 표(행렬). 이름표·본문·출처 없이 숫자만 들어 있음</a:t>
            </a:r>
          </a:p>
          <a:p>
            <a:pPr marL="256032" indent="-256032" algn="l">
              <a:lnSpc>
                <a:spcPct val="12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번 계산해 파일로 저장해 두면, 질문할 때마다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다시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임베딩하지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않아도 됨</a:t>
            </a:r>
          </a:p>
        </p:txBody>
      </p:sp>
      <p:sp>
        <p:nvSpPr>
          <p:cNvPr id="4" name="Shape 4"/>
          <p:cNvSpPr/>
          <p:nvPr/>
        </p:nvSpPr>
        <p:spPr>
          <a:xfrm>
            <a:off x="1417320" y="2057400"/>
            <a:ext cx="868680" cy="365760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열 0</a:t>
            </a:r>
          </a:p>
        </p:txBody>
      </p:sp>
      <p:sp>
        <p:nvSpPr>
          <p:cNvPr id="5" name="Shape 5"/>
          <p:cNvSpPr/>
          <p:nvPr/>
        </p:nvSpPr>
        <p:spPr>
          <a:xfrm>
            <a:off x="2286000" y="2057400"/>
            <a:ext cx="868680" cy="365760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열 1</a:t>
            </a:r>
          </a:p>
        </p:txBody>
      </p:sp>
      <p:sp>
        <p:nvSpPr>
          <p:cNvPr id="6" name="Shape 6"/>
          <p:cNvSpPr/>
          <p:nvPr/>
        </p:nvSpPr>
        <p:spPr>
          <a:xfrm>
            <a:off x="3154680" y="2057400"/>
            <a:ext cx="868680" cy="365760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열 2</a:t>
            </a:r>
          </a:p>
        </p:txBody>
      </p:sp>
      <p:sp>
        <p:nvSpPr>
          <p:cNvPr id="7" name="Shape 7"/>
          <p:cNvSpPr/>
          <p:nvPr/>
        </p:nvSpPr>
        <p:spPr>
          <a:xfrm>
            <a:off x="4023360" y="2057400"/>
            <a:ext cx="868680" cy="365760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…</a:t>
            </a:r>
          </a:p>
        </p:txBody>
      </p:sp>
      <p:sp>
        <p:nvSpPr>
          <p:cNvPr id="8" name="Shape 8"/>
          <p:cNvSpPr/>
          <p:nvPr/>
        </p:nvSpPr>
        <p:spPr>
          <a:xfrm>
            <a:off x="4892040" y="2057400"/>
            <a:ext cx="868680" cy="365760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열 383</a:t>
            </a:r>
          </a:p>
        </p:txBody>
      </p:sp>
      <p:sp>
        <p:nvSpPr>
          <p:cNvPr id="9" name="Shape 9"/>
          <p:cNvSpPr/>
          <p:nvPr/>
        </p:nvSpPr>
        <p:spPr>
          <a:xfrm>
            <a:off x="640080" y="2423160"/>
            <a:ext cx="777240" cy="384048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행 0</a:t>
            </a:r>
          </a:p>
        </p:txBody>
      </p:sp>
      <p:sp>
        <p:nvSpPr>
          <p:cNvPr id="10" name="Shape 10"/>
          <p:cNvSpPr/>
          <p:nvPr/>
        </p:nvSpPr>
        <p:spPr>
          <a:xfrm>
            <a:off x="1417320" y="2423160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0.062</a:t>
            </a:r>
          </a:p>
        </p:txBody>
      </p:sp>
      <p:sp>
        <p:nvSpPr>
          <p:cNvPr id="11" name="Shape 11"/>
          <p:cNvSpPr/>
          <p:nvPr/>
        </p:nvSpPr>
        <p:spPr>
          <a:xfrm>
            <a:off x="2286000" y="2423160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-0.041</a:t>
            </a:r>
          </a:p>
        </p:txBody>
      </p:sp>
      <p:sp>
        <p:nvSpPr>
          <p:cNvPr id="12" name="Shape 12"/>
          <p:cNvSpPr/>
          <p:nvPr/>
        </p:nvSpPr>
        <p:spPr>
          <a:xfrm>
            <a:off x="3154680" y="2423160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-0.045</a:t>
            </a:r>
          </a:p>
        </p:txBody>
      </p:sp>
      <p:sp>
        <p:nvSpPr>
          <p:cNvPr id="13" name="Shape 13"/>
          <p:cNvSpPr/>
          <p:nvPr/>
        </p:nvSpPr>
        <p:spPr>
          <a:xfrm>
            <a:off x="4023360" y="2423160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…</a:t>
            </a:r>
          </a:p>
        </p:txBody>
      </p:sp>
      <p:sp>
        <p:nvSpPr>
          <p:cNvPr id="14" name="Shape 14"/>
          <p:cNvSpPr/>
          <p:nvPr/>
        </p:nvSpPr>
        <p:spPr>
          <a:xfrm>
            <a:off x="4892040" y="2423160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0.060</a:t>
            </a:r>
          </a:p>
        </p:txBody>
      </p:sp>
      <p:sp>
        <p:nvSpPr>
          <p:cNvPr id="15" name="Shape 15"/>
          <p:cNvSpPr/>
          <p:nvPr/>
        </p:nvSpPr>
        <p:spPr>
          <a:xfrm>
            <a:off x="640080" y="2807208"/>
            <a:ext cx="777240" cy="384048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행 1</a:t>
            </a:r>
          </a:p>
        </p:txBody>
      </p:sp>
      <p:sp>
        <p:nvSpPr>
          <p:cNvPr id="16" name="Shape 16"/>
          <p:cNvSpPr/>
          <p:nvPr/>
        </p:nvSpPr>
        <p:spPr>
          <a:xfrm>
            <a:off x="1417320" y="2807208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0.010</a:t>
            </a:r>
          </a:p>
        </p:txBody>
      </p:sp>
      <p:sp>
        <p:nvSpPr>
          <p:cNvPr id="17" name="Shape 17"/>
          <p:cNvSpPr/>
          <p:nvPr/>
        </p:nvSpPr>
        <p:spPr>
          <a:xfrm>
            <a:off x="2286000" y="2807208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-0.021</a:t>
            </a:r>
          </a:p>
        </p:txBody>
      </p:sp>
      <p:sp>
        <p:nvSpPr>
          <p:cNvPr id="18" name="Shape 18"/>
          <p:cNvSpPr/>
          <p:nvPr/>
        </p:nvSpPr>
        <p:spPr>
          <a:xfrm>
            <a:off x="3154680" y="2807208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-0.057</a:t>
            </a:r>
          </a:p>
        </p:txBody>
      </p:sp>
      <p:sp>
        <p:nvSpPr>
          <p:cNvPr id="19" name="Shape 19"/>
          <p:cNvSpPr/>
          <p:nvPr/>
        </p:nvSpPr>
        <p:spPr>
          <a:xfrm>
            <a:off x="4023360" y="2807208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…</a:t>
            </a:r>
          </a:p>
        </p:txBody>
      </p:sp>
      <p:sp>
        <p:nvSpPr>
          <p:cNvPr id="20" name="Shape 20"/>
          <p:cNvSpPr/>
          <p:nvPr/>
        </p:nvSpPr>
        <p:spPr>
          <a:xfrm>
            <a:off x="4892040" y="2807208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0.074</a:t>
            </a:r>
          </a:p>
        </p:txBody>
      </p:sp>
      <p:sp>
        <p:nvSpPr>
          <p:cNvPr id="21" name="Shape 21"/>
          <p:cNvSpPr/>
          <p:nvPr/>
        </p:nvSpPr>
        <p:spPr>
          <a:xfrm>
            <a:off x="640080" y="3191256"/>
            <a:ext cx="777240" cy="384048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행 2</a:t>
            </a:r>
          </a:p>
        </p:txBody>
      </p:sp>
      <p:sp>
        <p:nvSpPr>
          <p:cNvPr id="22" name="Shape 22"/>
          <p:cNvSpPr/>
          <p:nvPr/>
        </p:nvSpPr>
        <p:spPr>
          <a:xfrm>
            <a:off x="1417320" y="3191256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0.020</a:t>
            </a:r>
          </a:p>
        </p:txBody>
      </p:sp>
      <p:sp>
        <p:nvSpPr>
          <p:cNvPr id="23" name="Shape 23"/>
          <p:cNvSpPr/>
          <p:nvPr/>
        </p:nvSpPr>
        <p:spPr>
          <a:xfrm>
            <a:off x="2286000" y="3191256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-0.035</a:t>
            </a:r>
          </a:p>
        </p:txBody>
      </p:sp>
      <p:sp>
        <p:nvSpPr>
          <p:cNvPr id="24" name="Shape 24"/>
          <p:cNvSpPr/>
          <p:nvPr/>
        </p:nvSpPr>
        <p:spPr>
          <a:xfrm>
            <a:off x="3154680" y="3191256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-0.047</a:t>
            </a:r>
          </a:p>
        </p:txBody>
      </p:sp>
      <p:sp>
        <p:nvSpPr>
          <p:cNvPr id="25" name="Shape 25"/>
          <p:cNvSpPr/>
          <p:nvPr/>
        </p:nvSpPr>
        <p:spPr>
          <a:xfrm>
            <a:off x="4023360" y="3191256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…</a:t>
            </a:r>
          </a:p>
        </p:txBody>
      </p:sp>
      <p:sp>
        <p:nvSpPr>
          <p:cNvPr id="26" name="Shape 26"/>
          <p:cNvSpPr/>
          <p:nvPr/>
        </p:nvSpPr>
        <p:spPr>
          <a:xfrm>
            <a:off x="4892040" y="3191256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0.080</a:t>
            </a:r>
          </a:p>
        </p:txBody>
      </p:sp>
      <p:sp>
        <p:nvSpPr>
          <p:cNvPr id="27" name="Shape 27"/>
          <p:cNvSpPr/>
          <p:nvPr/>
        </p:nvSpPr>
        <p:spPr>
          <a:xfrm>
            <a:off x="640080" y="3575304"/>
            <a:ext cx="777240" cy="384048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⋮</a:t>
            </a:r>
          </a:p>
        </p:txBody>
      </p:sp>
      <p:sp>
        <p:nvSpPr>
          <p:cNvPr id="28" name="Shape 28"/>
          <p:cNvSpPr/>
          <p:nvPr/>
        </p:nvSpPr>
        <p:spPr>
          <a:xfrm>
            <a:off x="1417320" y="3575304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⋮</a:t>
            </a:r>
          </a:p>
        </p:txBody>
      </p:sp>
      <p:sp>
        <p:nvSpPr>
          <p:cNvPr id="29" name="Shape 29"/>
          <p:cNvSpPr/>
          <p:nvPr/>
        </p:nvSpPr>
        <p:spPr>
          <a:xfrm>
            <a:off x="2286000" y="3575304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⋮</a:t>
            </a:r>
          </a:p>
        </p:txBody>
      </p:sp>
      <p:sp>
        <p:nvSpPr>
          <p:cNvPr id="30" name="Shape 30"/>
          <p:cNvSpPr/>
          <p:nvPr/>
        </p:nvSpPr>
        <p:spPr>
          <a:xfrm>
            <a:off x="3154680" y="3575304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⋮</a:t>
            </a:r>
          </a:p>
        </p:txBody>
      </p:sp>
      <p:sp>
        <p:nvSpPr>
          <p:cNvPr id="31" name="Shape 31"/>
          <p:cNvSpPr/>
          <p:nvPr/>
        </p:nvSpPr>
        <p:spPr>
          <a:xfrm>
            <a:off x="4023360" y="3575304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⋮</a:t>
            </a:r>
          </a:p>
        </p:txBody>
      </p:sp>
      <p:sp>
        <p:nvSpPr>
          <p:cNvPr id="32" name="Shape 32"/>
          <p:cNvSpPr/>
          <p:nvPr/>
        </p:nvSpPr>
        <p:spPr>
          <a:xfrm>
            <a:off x="4892040" y="3575304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⋮</a:t>
            </a:r>
          </a:p>
        </p:txBody>
      </p:sp>
      <p:sp>
        <p:nvSpPr>
          <p:cNvPr id="33" name="Shape 33"/>
          <p:cNvSpPr/>
          <p:nvPr/>
        </p:nvSpPr>
        <p:spPr>
          <a:xfrm>
            <a:off x="640080" y="3959352"/>
            <a:ext cx="777240" cy="384048"/>
          </a:xfrm>
          <a:prstGeom prst="rect">
            <a:avLst/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행 N-1</a:t>
            </a:r>
          </a:p>
        </p:txBody>
      </p:sp>
      <p:sp>
        <p:nvSpPr>
          <p:cNvPr id="34" name="Shape 34"/>
          <p:cNvSpPr/>
          <p:nvPr/>
        </p:nvSpPr>
        <p:spPr>
          <a:xfrm>
            <a:off x="1417320" y="3959352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0.042</a:t>
            </a:r>
          </a:p>
        </p:txBody>
      </p:sp>
      <p:sp>
        <p:nvSpPr>
          <p:cNvPr id="35" name="Shape 35"/>
          <p:cNvSpPr/>
          <p:nvPr/>
        </p:nvSpPr>
        <p:spPr>
          <a:xfrm>
            <a:off x="2286000" y="3959352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-0.028</a:t>
            </a:r>
          </a:p>
        </p:txBody>
      </p:sp>
      <p:sp>
        <p:nvSpPr>
          <p:cNvPr id="36" name="Shape 36"/>
          <p:cNvSpPr/>
          <p:nvPr/>
        </p:nvSpPr>
        <p:spPr>
          <a:xfrm>
            <a:off x="3154680" y="3959352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-0.066</a:t>
            </a:r>
          </a:p>
        </p:txBody>
      </p:sp>
      <p:sp>
        <p:nvSpPr>
          <p:cNvPr id="37" name="Shape 37"/>
          <p:cNvSpPr/>
          <p:nvPr/>
        </p:nvSpPr>
        <p:spPr>
          <a:xfrm>
            <a:off x="4023360" y="3959352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…</a:t>
            </a:r>
          </a:p>
        </p:txBody>
      </p:sp>
      <p:sp>
        <p:nvSpPr>
          <p:cNvPr id="38" name="Shape 38"/>
          <p:cNvSpPr/>
          <p:nvPr/>
        </p:nvSpPr>
        <p:spPr>
          <a:xfrm>
            <a:off x="4892040" y="3959352"/>
            <a:ext cx="868680" cy="384048"/>
          </a:xfrm>
          <a:prstGeom prst="rect">
            <a:avLst/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20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0.080</a:t>
            </a:r>
          </a:p>
        </p:txBody>
      </p:sp>
      <p:sp>
        <p:nvSpPr>
          <p:cNvPr id="39" name="Shape 39"/>
          <p:cNvSpPr/>
          <p:nvPr/>
        </p:nvSpPr>
        <p:spPr>
          <a:xfrm>
            <a:off x="612648" y="2395728"/>
            <a:ext cx="5175504" cy="438912"/>
          </a:xfrm>
          <a:prstGeom prst="rect">
            <a:avLst/>
          </a:prstGeom>
          <a:noFill/>
          <a:ln w="22225">
            <a:solidFill>
              <a:srgbClr val="FFD733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0" name="Text 40"/>
          <p:cNvSpPr txBox="1"/>
          <p:nvPr/>
        </p:nvSpPr>
        <p:spPr>
          <a:xfrm>
            <a:off x="640080" y="4434840"/>
            <a:ext cx="51206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1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행 1개 = 청크 1개의 벡터 (행 i ↔ chunks.jsonl의 i번째 줄)</a:t>
            </a:r>
          </a:p>
          <a:p>
            <a:pPr marL="228600" indent="-228600" algn="l">
              <a:lnSpc>
                <a:spcPct val="115000"/>
              </a:lnSpc>
              <a:spcAft>
                <a:spcPts val="1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열 1개 = 차원 1칸. 열 수 384는 e5-small이 정한 값</a:t>
            </a:r>
          </a:p>
        </p:txBody>
      </p:sp>
      <p:sp>
        <p:nvSpPr>
          <p:cNvPr id="42" name="Shape 42"/>
          <p:cNvSpPr/>
          <p:nvPr/>
        </p:nvSpPr>
        <p:spPr>
          <a:xfrm>
            <a:off x="640080" y="5138928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  <p:txBody>
          <a:bodyPr wrap="square" lIns="201168" tIns="45720" rIns="182880" bIns="45720" rtlCol="0" anchor="ctr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역할 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검색할 때 질문 벡터 q와 한 번 곱해(E @ q³) 청크 N개의 유사도를 모두 계산. 행의 길이가 1이라 곱한 값이 곧 코사인 유사도</a:t>
            </a:r>
          </a:p>
        </p:txBody>
      </p:sp>
      <p:cxnSp>
        <p:nvCxnSpPr>
          <p:cNvPr id="43" name="Connector 43"/>
          <p:cNvCxnSpPr/>
          <p:nvPr/>
        </p:nvCxnSpPr>
        <p:spPr>
          <a:xfrm>
            <a:off x="640080" y="5897880"/>
            <a:ext cx="10881360" cy="0"/>
          </a:xfrm>
          <a:prstGeom prst="line">
            <a:avLst/>
          </a:prstGeom>
          <a:noFill/>
          <a:ln w="9525">
            <a:solidFill>
              <a:srgbClr val="8A7A2A"/>
            </a:solidFill>
            <a:prstDash val="solid"/>
          </a:ln>
        </p:spPr>
      </p:cxnSp>
      <p:sp>
        <p:nvSpPr>
          <p:cNvPr id="44" name="Text 44"/>
          <p:cNvSpPr txBox="1"/>
          <p:nvPr/>
        </p:nvSpPr>
        <p:spPr>
          <a:xfrm>
            <a:off x="640080" y="596188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0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³ E @ q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numpy의 행렬 곱. 행렬 E의 각 행과 질문 벡터 q의 내적을 한 번에 계산해 숫자 N개(청크별 유사도)를 얻음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meta.json — 행렬을 만든 조건 기록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109728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56032" indent="-256032" algn="l">
              <a:lnSpc>
                <a:spcPct val="12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embeddings.npy에는 숫자만 있어 어떤 모델로, 몇 개를, 어떤 순서로 만들었는지 알 수 없음 → 그 정보를 적어 둔 작은 텍스트 파일</a:t>
            </a:r>
          </a:p>
          <a:p>
            <a:pPr marL="256032" indent="-256032" algn="l">
              <a:lnSpc>
                <a:spcPct val="12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index.py가 embeddings.npy를 저장하는 순간 함께 저장함 (인덱싱 프롬프트 요구사항 2)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2057400"/>
            <a:ext cx="4892040" cy="210312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822960" y="2194560"/>
            <a:ext cx="461772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  "model": </a:t>
            </a:r>
            <a:r>
              <a:rPr lang="ko-KR" altLang="en-US" sz="1250" b="0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"intfloat/multilingual-e5-small"</a:t>
            </a:r>
            <a:r>
              <a:rPr lang="ko-KR" altLang="en-US" sz="125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  "num_chunks": </a:t>
            </a:r>
            <a:r>
              <a:rPr lang="ko-KR" altLang="en-US" sz="1250" b="0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1750</a:t>
            </a:r>
            <a:r>
              <a:rPr lang="ko-KR" altLang="en-US" sz="125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  "dim": </a:t>
            </a:r>
            <a:r>
              <a:rPr lang="ko-KR" altLang="en-US" sz="1250" b="0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384</a:t>
            </a:r>
            <a:r>
              <a:rPr lang="ko-KR" altLang="en-US" sz="125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  "ids": </a:t>
            </a:r>
            <a:r>
              <a:rPr lang="ko-KR" altLang="en-US" sz="1250" b="0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[0, 1, 2, …, 1749]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Consolas"/>
                <a:ea typeface="Malgun Gothic"/>
                <a:cs typeface="Consolas"/>
              </a:rPr>
              <a:t>}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40080" y="4233672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altLang="en-US" sz="1100" b="0" dirty="0">
                <a:solidFill>
                  <a:srgbClr val="B8B8B8"/>
                </a:solidFill>
                <a:latin typeface="Malgun Gothic"/>
                <a:ea typeface="Malgun Gothic"/>
                <a:cs typeface="Malgun Gothic"/>
              </a:rPr>
              <a:t>예: 청크 1,750개를 e5-small로 임베딩한 경우. 실제 파일은 한 줄로 저장되어 ids가 길게 이어짐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760720" y="2057400"/>
          <a:ext cx="5760720" cy="2637093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쓰이는 곳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D733"/>
                          </a:solidFill>
                          <a:latin typeface="Consolas"/>
                          <a:ea typeface="Malgun Gothic"/>
                          <a:cs typeface="Consolas"/>
                        </a:rPr>
                        <a:t>model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청크를 임베딩한 모델 이름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질문할 때도 이 모델을 불러 질문을 임베딩. 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D733"/>
                          </a:solidFill>
                          <a:latin typeface="Consolas"/>
                          <a:ea typeface="Malgun Gothic"/>
                          <a:cs typeface="Consolas"/>
                        </a:rPr>
                        <a:t>num_chunks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벡터 개수 = 행렬의 행 수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chunks.jsonl 줄 수와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같은지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확인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D733"/>
                          </a:solidFill>
                          <a:latin typeface="Consolas"/>
                          <a:ea typeface="Malgun Gothic"/>
                          <a:cs typeface="Consolas"/>
                        </a:rPr>
                        <a:t>dim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벡터 한 줄의 숫자 개수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크기의 모델로 만들었는지 확인. 질문 벡터와 길이가 다르면 곱셈 자체가 실패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D733"/>
                          </a:solidFill>
                          <a:latin typeface="Consolas"/>
                          <a:ea typeface="Malgun Gothic"/>
                          <a:cs typeface="Consolas"/>
                        </a:rPr>
                        <a:t>ids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 순서대로 적은 청크 번호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i번째 행이 몇 번 청크인지의 기록. chunks.jsonl 순서와 같아야 검색 결과의 출처가 맞음</a:t>
                      </a:r>
                    </a:p>
                  </a:txBody>
                  <a:tcPr marL="101600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640080" y="5138928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201168" tIns="45720" rIns="182880" bIns="45720" rtlCol="0" anchor="ctr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실무에서는 더 많이 기록함 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정규화 여부, 접두어 규칙(passage:/query:), 청크 크기 설정, 만든 날짜, 원본 문서 목록. 같은 조건으로 다시 만들거나 문서만 추가할 때 필요. 실습은 최소 항목만 기록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실습에서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 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검색할 때 지금 만든 세 파일이 쓰이는 순서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1097279"/>
            <a:ext cx="10881360" cy="5943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56032" indent="-256032" algn="l">
              <a:lnSpc>
                <a:spcPct val="12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강의에서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검색이 세 파일을 읽는 순서. 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783080"/>
            <a:ext cx="1920240" cy="205740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15875">
            <a:solidFill>
              <a:srgbClr val="FFD733"/>
            </a:solidFill>
            <a:prstDash val="solid"/>
          </a:ln>
        </p:spPr>
        <p:txBody>
          <a:bodyPr wrap="square" lIns="146304" tIns="146304" rIns="128016" bIns="9144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모델 확인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meta.json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model에 적힌 모델을 불러옴. 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2596896" y="2811780"/>
            <a:ext cx="24688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6" name="Shape 6"/>
          <p:cNvSpPr/>
          <p:nvPr/>
        </p:nvSpPr>
        <p:spPr>
          <a:xfrm>
            <a:off x="2880360" y="1783080"/>
            <a:ext cx="1920240" cy="205740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146304" tIns="146304" rIns="128016" bIns="9144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질문 임베딩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250" b="1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e5-small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 앞에 query: 를 붙여 숫자 384개짜리 질문 벡터 q를 만듦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4837176" y="2811780"/>
            <a:ext cx="24688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8" name="Shape 8"/>
          <p:cNvSpPr/>
          <p:nvPr/>
        </p:nvSpPr>
        <p:spPr>
          <a:xfrm>
            <a:off x="5120640" y="1783080"/>
            <a:ext cx="1920240" cy="205740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15875">
            <a:solidFill>
              <a:srgbClr val="FFD733"/>
            </a:solidFill>
            <a:prstDash val="solid"/>
          </a:ln>
        </p:spPr>
        <p:txBody>
          <a:bodyPr wrap="square" lIns="146304" tIns="146304" rIns="128016" bIns="9144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유사도 계산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embeddings.npy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 @ q 한 번으로 청크 N개의 유사도를 모두 계산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7077456" y="2811780"/>
            <a:ext cx="24688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10" name="Shape 10"/>
          <p:cNvSpPr/>
          <p:nvPr/>
        </p:nvSpPr>
        <p:spPr>
          <a:xfrm>
            <a:off x="7360920" y="1783080"/>
            <a:ext cx="1920240" cy="205740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146304" tIns="146304" rIns="128016" bIns="9144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순위 매기기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250" b="1" dirty="0">
                <a:solidFill>
                  <a:srgbClr val="B8B8B8"/>
                </a:solidFill>
                <a:latin typeface="Consolas"/>
                <a:ea typeface="Malgun Gothic"/>
                <a:cs typeface="Consolas"/>
              </a:rPr>
              <a:t>—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유사도가 큰 순서로 행 번호 상위 k개를 고름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9317736" y="2811780"/>
            <a:ext cx="246888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 w="med" len="med"/>
          </a:ln>
        </p:spPr>
      </p:cxnSp>
      <p:sp>
        <p:nvSpPr>
          <p:cNvPr id="12" name="Shape 12"/>
          <p:cNvSpPr/>
          <p:nvPr/>
        </p:nvSpPr>
        <p:spPr>
          <a:xfrm>
            <a:off x="9601200" y="1783080"/>
            <a:ext cx="1920240" cy="205740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15875">
            <a:solidFill>
              <a:srgbClr val="FFD733"/>
            </a:solidFill>
            <a:prstDash val="solid"/>
          </a:ln>
        </p:spPr>
        <p:txBody>
          <a:bodyPr wrap="square" lIns="146304" tIns="146304" rIns="128016" bIns="9144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⑤ 본문 꺼내기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ko-KR" altLang="en-US" sz="1250" b="1" dirty="0">
                <a:solidFill>
                  <a:srgbClr val="FFD733"/>
                </a:solidFill>
                <a:latin typeface="Consolas"/>
                <a:ea typeface="Malgun Gothic"/>
                <a:cs typeface="Consolas"/>
              </a:rPr>
              <a:t>chunks.jsonl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행 번호 i → i번째 줄의 text·doc·page를 꺼내 답변 프롬프트에 넣음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인덱스 저장 방식은 서비스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구축 목적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환경마다 다름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1207006"/>
            <a:ext cx="10881360" cy="14599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만든 </a:t>
            </a:r>
            <a:r>
              <a:rPr lang="en-US" altLang="ko-KR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chunks.jsonl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en-US" altLang="ko-KR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embeddings.npy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en-US" altLang="ko-KR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meta.json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은 인덱스를 위해 미리 만들어 놓은 파일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 algn="l">
              <a:lnSpc>
                <a:spcPct val="15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이처럼 벡터, 본문·출처, 벡터↔청크 대응, 모델 정보를 저장하는 역할은 벡터 검색을 쓰는 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라면 어디에나 필요함. 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 algn="l">
              <a:lnSpc>
                <a:spcPct val="150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다만 지금 작업한 파일 이름과 형식은 이 강의가 정한 것으로 표준이 아님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규모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도구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방식에 따라 파일로 둘지 벡터 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DB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넣을지부터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달라짐</a:t>
            </a:r>
          </a:p>
        </p:txBody>
      </p:sp>
      <p:sp>
        <p:nvSpPr>
          <p:cNvPr id="4" name="Shape 4"/>
          <p:cNvSpPr/>
          <p:nvPr/>
        </p:nvSpPr>
        <p:spPr>
          <a:xfrm>
            <a:off x="475488" y="2900341"/>
            <a:ext cx="3474720" cy="16916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19050">
            <a:solidFill>
              <a:srgbClr val="FFD733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40080" y="3010069"/>
            <a:ext cx="31455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실습에서 쓰는 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40080" y="3430693"/>
            <a:ext cx="3145536" cy="1069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파일 3개로 나눠 저장 (chunks.jsonl · embeddings.npy · meta.json)</a:t>
            </a:r>
          </a:p>
          <a:p>
            <a:pPr marL="228600" indent="-228600" algn="l">
              <a:lnSpc>
                <a:spcPct val="115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검색할 때 전체 행렬과 전수 비교</a:t>
            </a:r>
          </a:p>
        </p:txBody>
      </p:sp>
      <p:sp>
        <p:nvSpPr>
          <p:cNvPr id="7" name="Shape 7"/>
          <p:cNvSpPr/>
          <p:nvPr/>
        </p:nvSpPr>
        <p:spPr>
          <a:xfrm>
            <a:off x="4178808" y="2900341"/>
            <a:ext cx="3474720" cy="1691640"/>
          </a:xfrm>
          <a:prstGeom prst="roundRect">
            <a:avLst>
              <a:gd name="adj" fmla="val 5000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343400" y="3010069"/>
            <a:ext cx="31455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실습을 하는 이유 (개념 학습)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43400" y="3430693"/>
            <a:ext cx="3145536" cy="1069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벡터·본문·조건이 각각 무엇인지 파일을 열어 직접 확인</a:t>
            </a:r>
          </a:p>
          <a:p>
            <a:pPr marL="228600" indent="-228600" algn="l">
              <a:lnSpc>
                <a:spcPct val="115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행 번호로 연결되는 구조가 그대로 보임</a:t>
            </a:r>
          </a:p>
        </p:txBody>
      </p:sp>
      <p:sp>
        <p:nvSpPr>
          <p:cNvPr id="10" name="Shape 10"/>
          <p:cNvSpPr/>
          <p:nvPr/>
        </p:nvSpPr>
        <p:spPr>
          <a:xfrm>
            <a:off x="7882128" y="2900341"/>
            <a:ext cx="3474720" cy="1691640"/>
          </a:xfrm>
          <a:prstGeom prst="roundRect">
            <a:avLst>
              <a:gd name="adj" fmla="val 5000"/>
            </a:avLst>
          </a:prstGeom>
          <a:solidFill>
            <a:srgbClr val="1D1D1D"/>
          </a:solidFill>
          <a:ln w="9525">
            <a:solidFill>
              <a:srgbClr val="3C3C3C"/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8046720" y="3010069"/>
            <a:ext cx="31455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자원이 충분하면 써 볼 것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046720" y="3430693"/>
            <a:ext cx="3145536" cy="1069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벡터 DB 하나에 벡터·본문·출처를 함께 저장</a:t>
            </a:r>
          </a:p>
          <a:p>
            <a:pPr marL="228600" indent="-228600" algn="l">
              <a:lnSpc>
                <a:spcPct val="115000"/>
              </a:lnSpc>
              <a:spcAft>
                <a:spcPts val="2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 추가·삭제, 조건 검색(문서·연도 필터)을 </a:t>
            </a:r>
            <a:r>
              <a:rPr lang="ko-KR" altLang="en-US" sz="12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DB가</a:t>
            </a: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3598</Words>
  <Application>Microsoft Office PowerPoint</Application>
  <PresentationFormat>와이드스크린</PresentationFormat>
  <Paragraphs>458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Malgun Gothic</vt:lpstr>
      <vt:lpstr>Malgun Gothic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2026-09-20T14:21:50Z</dcterms:created>
  <dcterms:modified xsi:type="dcterms:W3CDTF">2026-09-20T14:22:30Z</dcterms:modified>
</cp:coreProperties>
</file>