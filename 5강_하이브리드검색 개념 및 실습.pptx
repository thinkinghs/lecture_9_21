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0" r:id="rId4"/>
    <p:sldId id="261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2" r:id="rId18"/>
    <p:sldId id="284" r:id="rId19"/>
    <p:sldId id="285" r:id="rId20"/>
    <p:sldId id="286" r:id="rId21"/>
    <p:sldId id="287" r:id="rId22"/>
    <p:sldId id="289" r:id="rId23"/>
    <p:sldId id="292" r:id="rId24"/>
    <p:sldId id="294" r:id="rId25"/>
    <p:sldId id="296" r:id="rId26"/>
    <p:sldId id="300" r:id="rId27"/>
    <p:sldId id="301" r:id="rId28"/>
    <p:sldId id="302" r:id="rId29"/>
    <p:sldId id="303" r:id="rId30"/>
    <p:sldId id="304" r:id="rId31"/>
    <p:sldId id="30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3강. 실습 5단계(①~⑤). 2강 결과물(chunks.jsonl, embeddings.npy, meta.json)이 있어야 시작 가능.</a:t>
            </a:r>
          </a:p>
          <a:p>
            <a:r>
              <a:t>2강 모델 변경 반영: 기본 임베딩 모델은 multilingual-e5-small(384차원, passage:/query: 접두어). BGE-M3는 선택.</a:t>
            </a:r>
          </a:p>
          <a:p>
            <a:r>
              <a:t>이 자료의 실측 수치(리랭킹 시간, 유사도 범위, 비교 실험 순위)는 2026-09-19 강사 노트북(i5-10210U, RAM 8GB, GPU 없음)에서 2강 사양대로 만든 청크 1,748개로 측정한 값임.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 리허설: 청크 1,748개, e5-small, 2026-09-19. 순위는 정답 논문(Chen2024_BGE_M3.pdf) 청크가 처음 나온 순위. 수강생마다 청크가 조금씩 달라 순위도 조금 달라질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 리허설 결과. 순위는 정답 논문 청크가 처음 나온 순위. 실습 ③에서 이 두 질문과 앞 장의 고유명사 질문을 그대로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강사가 한국어 질문 16개(정답이 영어 논문에만 있는 질문)로 e5-small 임베딩 검색을 확인한 결과. 표본이 작으므로 비율보다 경향을 볼 것. BGE-M3로 같은 확인을 하려면 청크 전체를 다시 임베딩해야 하므로(강사 노트북 1시간 반 이상) 리허설에서는 하지 않았음.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 실측(질문 'retrieval failure'): e5 유사도 1위 0.866, 5위 0.855, 30위 0.846, 전체 청크 중앙값 0.811. BM25 1위 9.85, 5위 6.90. 관련 없는 질문('김치 발효')의 e5 1위도 0.808.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예시 수치: 1/61=0.0164, 1/62=0.0161, 1/63=0.0159, 1/80=0.0125.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2026-09 확인: Elasticsearch rrf retriever(k=60 기본, linear retriever도 있음), OpenSearch score-ranker-processor(2.19+, RRF), Qdrant Query API rrf/dbsf/가중 RRF(기본 k=2), Weaviate hybrid(v1.24부터 relativeScoreFusion 기본), Milvus RRFRanker(k=60)/WeightedRanker, Azure AI Search RRF, LanceDB RRFReranker 기본, pgvector는 내장 결합 없음(SQL로 직접).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arXiv:2604.01733 Section IV 'Reranker depth': 후보 20개 0.458(정답이 후보에 없는 경우가 많아 효과 없음), 50개 0.826, 100개 0.888 (Recall@5 기준, top-10 반환). arXiv:2411.11767은 후보를 수백~수천 개로 늘리면 오히려 성능이 떨어질 수 있음을 보고.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2026-09 확인: Qwen3-Reranker(2025.6, Apache 2.0, 지시문 지원), mxbai-rerank-v2(2025.3, Apache 2.0), zerank-2(4B, 2025.11 공개, 2026.7 Apache 2.0로 라이선스 변경), jina-reranker-v3.5(arXiv 2607.18152, 2026.7, 0.6B, CC BY-NC-SA 4.0), Cohere Rerank 4(2025.12), Voyage rerank-2.5(2025.8, rerank-3는 미리보기).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2강 대비 변경: 모델 기본값이 e5-small이므로 질의 접두어 규칙(2번)이 핵심. '직접 붙인다'는 encode_query()에 맡기지 말라는 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2026-09 수정: (1) 모델·색인 1회 로드(4강 에이전트가 search()를 여러 번 부름), (2) UTF-8 출력(Windows 한글 환경에서 파이썬 3.14의 기본 출력이 cp949라 '—' 같은 문자에서 오류), (3) 시험 질의를 'hybrid retrieval with reranking'으로 교체(강사 리허설에서 5개 모두 관련 청크).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강사 노트북 실제 출력(2026-09-19, 청크 1,748개). 1위 청크의 본문 앞부분에는 저자 소속과 이메일이 들어 있어 슬라이드에서는 줄임표로 생략.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3개는 강사 노트북에서 2026-09-19 확인(청크 1,748개). 수강생 청크가 조금 달라도 경향은 같게 나올 것으로 예상하지만, 리허설에서 한 번 더 확인할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RAG 첫 구축과 내부 동작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하이브리드 검색 개념과 실습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13248" y="3840480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검색한 문서를 근거로 답하는 RAG 만들기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앞에서 이어지는 부분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앞에서 질문이 오기 전에 문서를 미리 가공해 두는 부분을 만들었음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강의는 질문이 들어온 뒤의 부분. 관련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청크를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찾고(</a:t>
            </a: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), 찾은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청크만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근거로 답을 만듦(</a:t>
            </a: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15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</a:t>
            </a:r>
            <a:endParaRPr lang="ko-KR" altLang="en-US" sz="15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청킹</a:t>
            </a:r>
            <a:endParaRPr lang="ko-KR" altLang="en-US" sz="15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ko-KR" altLang="en-US" sz="11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이전 강의에서 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25040" y="34290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2508504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3368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· 색인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이전 강의에</a:t>
            </a: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 완료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93464" y="34290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4376928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1792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시간에 구현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34290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6245352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시간에 구현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30312" y="34290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8113776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8640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답변 생성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시간에 구현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8736" y="3429000"/>
            <a:ext cx="237743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9982200" y="2880360"/>
            <a:ext cx="1539240" cy="10972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37064" y="2880360"/>
            <a:ext cx="1429512" cy="10972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강의에서 만드는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21031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SEARCH.PY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0292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검색 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502920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질문을 받아 관련 청크 5개를 순위·점수·출처와 함께 돌려줌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 검색 + 단어 일치 검색 → 순위 합치기 → 리랭킹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1031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81328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ASK.PY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0292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질의응답 모듈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76272"/>
            <a:ext cx="502920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search.py로 청크 5개를 찾고, 그 청크만 근거로 답함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 구성 → Claude 호출 → 출처가 붙은 답변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질문에서 답변까지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FLOW</a:t>
            </a:r>
            <a:endParaRPr lang="ko-KR" altLang="en-US" sz="28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 4단계는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search.py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뒤 3단계는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ask.py가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담당. 괄호 안은 각 단계가 넘기는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수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675120" cy="278892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SEARCH.PY  ·  검색  ·  내 노트북 CPU에서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83080"/>
            <a:ext cx="4023360" cy="278892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847088"/>
            <a:ext cx="3749039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ASK.PY  ·  답변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86868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3" y="2788920"/>
            <a:ext cx="758952" cy="7315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24028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0824" y="2240280"/>
            <a:ext cx="1399031" cy="7772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임베딩 검색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뜻이 비슷한 청크 (30)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291840"/>
            <a:ext cx="1508760" cy="7772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20824" y="3291840"/>
            <a:ext cx="1399031" cy="7772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단어 일치 검색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단어가 있는 청크 (30)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664208" y="2651760"/>
            <a:ext cx="274320" cy="41148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1664208" y="3246120"/>
            <a:ext cx="274320" cy="41148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3840480" y="2761488"/>
            <a:ext cx="1508760" cy="786384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95344" y="2761488"/>
            <a:ext cx="1399031" cy="786384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순위 합치기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 → 후보 (30)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3008" y="2651760"/>
            <a:ext cx="320040" cy="36576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 flipV="1">
            <a:off x="3493008" y="3291840"/>
            <a:ext cx="320040" cy="36576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669280" y="2761488"/>
            <a:ext cx="1508760" cy="786384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2761488"/>
            <a:ext cx="1399031" cy="786384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리랭킹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다시 채점 → (5)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67528" y="3154680"/>
            <a:ext cx="2743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7635240" y="2761488"/>
            <a:ext cx="1143000" cy="786384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0104" y="2761488"/>
            <a:ext cx="1033271" cy="786384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프롬프트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규칙 + 청크 5개 + 질문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96328" y="3154680"/>
            <a:ext cx="41148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9006840" y="2761488"/>
            <a:ext cx="1097280" cy="786384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1704" y="2761488"/>
            <a:ext cx="987552" cy="786384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⑥ Claude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 작성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96528" y="3154680"/>
            <a:ext cx="18288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10332720" y="2761488"/>
            <a:ext cx="1097280" cy="786384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87584" y="2761488"/>
            <a:ext cx="987552" cy="786384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⑦ 출력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[번호] + 출처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22408" y="3154680"/>
            <a:ext cx="18288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32" name="TextBox 31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①~④ 검색은 내 노트북에서 실행. 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⑥에서 답변을 쓰는 모델은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Anthropic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서버에서 실행.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  <a:endParaRPr lang="ko-KR" altLang="en-US" sz="4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검색의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검색(</a:t>
            </a:r>
            <a:r>
              <a:rPr lang="ko-KR" altLang="en-US" sz="15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retrieval</a:t>
            </a: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질문과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사이의 관련도 점수를 모든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매긴 뒤, 점수 순으로 정렬해 상위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k개만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돌려주는 작업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1912924" cy="105156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2057400"/>
            <a:ext cx="1803196" cy="10515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“소규모 </a:t>
            </a:r>
            <a:r>
              <a:rPr lang="ko-KR" altLang="en-US" sz="11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 추천해줘"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98724" y="258318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882188" y="2057400"/>
            <a:ext cx="1912924" cy="105156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7052" y="2057400"/>
            <a:ext cx="1803196" cy="10515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점수 매기기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전부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0833" y="258318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5124297" y="2057400"/>
            <a:ext cx="1912924" cy="105156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9161" y="2057400"/>
            <a:ext cx="1803196" cy="10515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정렬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점수가 높은 순서로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2942" y="258318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7366406" y="2057400"/>
            <a:ext cx="1912924" cy="105156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1270" y="2057400"/>
            <a:ext cx="1803196" cy="10515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자르기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상위 k개만 남김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25051" y="258318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9608515" y="2057400"/>
            <a:ext cx="1912924" cy="105156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3379" y="2057400"/>
            <a:ext cx="1803196" cy="10515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검색 결과</a:t>
            </a:r>
          </a:p>
          <a:p>
            <a:pPr marL="0" indent="0"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ko-KR" altLang="en-US" sz="11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 생성 작업으로 이어가기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10881360" cy="22860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관련 자료가 없는 질문에도 항상 </a:t>
            </a:r>
            <a:r>
              <a:rPr lang="ko-KR" altLang="en-US" sz="14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k개가</a:t>
            </a: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나옴</a:t>
            </a: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(모를 때는 모른다고) 필요한 이유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품질을 정하는 두 가지: 점수를 매기는 방식과 검색 상위 </a:t>
            </a:r>
            <a:r>
              <a:rPr lang="ko-KR" altLang="en-US" sz="14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몇 개를 사용할지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강의에서 실습하는 검색 방법 </a:t>
            </a:r>
            <a:r>
              <a:rPr lang="en-US" altLang="ko-KR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</a:t>
            </a:r>
            <a:endParaRPr lang="en-US" altLang="ko-KR" sz="145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뜻이 비슷한 정도(</a:t>
            </a:r>
            <a:r>
              <a:rPr lang="ko-KR" altLang="en-US" sz="14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검색</a:t>
            </a: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en-US" altLang="ko-KR" sz="14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단어가 들어 있는 정도(</a:t>
            </a: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단어 일치 검색</a:t>
            </a:r>
            <a:r>
              <a:rPr lang="ko-KR" altLang="en-US" sz="14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임베딩 검색 (벡터 검색)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참조 자료를 인덱스 처리한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모델과 같은 모델로 질문을 벡터로 바꾸고, 저장해 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벡터 전체와 한꺼번에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en-US" altLang="ko-KR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E5</a:t>
            </a:r>
            <a:r>
              <a:rPr lang="ko-KR" altLang="en-US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 특성 상 앞에 </a:t>
            </a:r>
            <a:r>
              <a:rPr lang="ko-KR" altLang="en-US" sz="11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를 붙임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25040" y="24003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2508504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3368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e5-small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3464" y="24003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4376928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1792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벡터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× 384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61888" y="24003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6245352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행렬 곱¹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행렬과 질문 벡터 내적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30312" y="2400300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113776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8640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유사도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청크마다 1개씩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8736" y="2400300"/>
            <a:ext cx="237743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9982200" y="1828800"/>
            <a:ext cx="1539240" cy="11430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37064" y="1828800"/>
            <a:ext cx="1429512" cy="11430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상위 </a:t>
            </a:r>
            <a:r>
              <a:rPr lang="en-US" altLang="ko-KR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k</a:t>
            </a:r>
            <a:r>
              <a:rPr lang="ko-KR" altLang="en-US" sz="14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합치기 단계로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10881360" cy="24688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벡터는 이전 강의에서 미리 계산해 둠 → 검색할 때는 </a:t>
            </a: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 1개만 </a:t>
            </a:r>
            <a:r>
              <a:rPr lang="ko-KR" altLang="en-US" sz="14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</a:t>
            </a:r>
            <a:endParaRPr lang="ko-KR" altLang="en-US" sz="1400" b="1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코사인 유사도 값이 클수록 뜻이 가까움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40080" y="6053328"/>
            <a:ext cx="10881360" cy="7589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행렬 곱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numpy에서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@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한 줄. 행렬의 각 행(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벡터)과 질문 벡터의 내적을 한 번에 계산해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청크별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유사도를 얻음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단어 일치 검색(BM25¹) ① 단어 나누기와 색인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106070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 없이 단어가 몇 번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나오는지만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세는 검색이라서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글을 단어로 나누고 단어별로 어느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있는지 표로 만들어 둬야 함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5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 검색하기 전에 미리 해 두는 준비 작업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2341031"/>
            <a:ext cx="3246120" cy="16002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341031"/>
            <a:ext cx="3136391" cy="16002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 본문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[Chen2024_BGE_M3.pdf | p.2]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M3-Embedding exhibits a remarkable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versatility … benchmarks like MIRACL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2341031"/>
            <a:ext cx="3246120" cy="16002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61688" y="2341031"/>
            <a:ext cx="3136391" cy="16002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나누기</a:t>
            </a:r>
          </a:p>
          <a:p>
            <a:pPr marL="0" indent="0"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여러 기법이 있으나 한가지 예시를 들면 </a:t>
            </a:r>
            <a:endParaRPr lang="en-US" altLang="ko-KR" sz="10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문장을 각 단어로 쪼개고</a:t>
            </a:r>
            <a:endParaRPr lang="en-US" altLang="ko-KR" sz="10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altLang="ko-KR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‘retrieved → </a:t>
            </a:r>
            <a:r>
              <a:rPr lang="en-US" altLang="ko-KR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retriev</a:t>
            </a:r>
            <a:r>
              <a:rPr lang="en-US" altLang="ko-KR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’ 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처럼 단어의 어간을 제거해서 </a:t>
            </a:r>
            <a:r>
              <a:rPr lang="ko-KR" altLang="en-US" sz="10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단어들을 묶는 방법이 있음</a:t>
            </a:r>
            <a:endParaRPr lang="ko-KR" altLang="en-US" sz="10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18704" y="2341031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73568" y="2341031"/>
            <a:ext cx="3547872" cy="16002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색인 (단어 → </a:t>
            </a:r>
            <a:r>
              <a:rPr lang="ko-KR" altLang="en-US" sz="14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목록)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miracl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19개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retrieval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811개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pdf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0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0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1,748개 전부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8496" y="3136560"/>
            <a:ext cx="310896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7580376" y="3136560"/>
            <a:ext cx="310896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94944" y="4215551"/>
            <a:ext cx="10881360" cy="93302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질문도 같은 규칙으로 나눔: "MIRACL 한국어 검색 성능" →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miracl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· 한국어 · 검색 · 성능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접두어 [파일명 |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p.쪽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]도 단어로 나뉘어 검색 대상이 됨 (chen2024 ·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bge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· m3)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40080" y="6053328"/>
            <a:ext cx="10881360" cy="7589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BM25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Best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Matching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25. 1990년대에 제안된 단어 일치 점수 공식으로, 2026년에도 검색엔진의 기본 점수 방식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단어 일치 검색(BM25) ② 점수를 매기는 세 가지 기준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26060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35607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기준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39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단어가 나온 횟수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3200400" cy="172821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단어가 청크에 많이 나올수록 점수가 오름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단어가 반복될수록 오르는 폭이 줄어듦(포화)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26060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35607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기준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91639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단어가 드문 정도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30552"/>
            <a:ext cx="3200400" cy="172821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적은 청크에만 나오는 단어일수록 점수가 큼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예: miracl(19개) ≫ retrieval(811개)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pdf처럼 모든 청크에 있는 단어는 거의 기여하지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6060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435607"/>
            <a:ext cx="320040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기준 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39"/>
            <a:ext cx="32004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 길이 보정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130552"/>
            <a:ext cx="3200400" cy="172821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평균보다 긴 청크는 단어가 들어갈 기회가 많으므로 점수를 깎음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짧은 청크에 질문 단어가 모여 있으면 유리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19"/>
            <a:ext cx="10881360" cy="1181945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4215383"/>
            <a:ext cx="10552176" cy="105935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285750" indent="-285750">
              <a:lnSpc>
                <a:spcPct val="14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점수 = 질문 단어마다 '드문 정도(②) × 횟수 점수(①, 길이 보정 ③ 반영)'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계산해 모두 더한 값.</a:t>
            </a:r>
            <a:endParaRPr lang="en-US" altLang="ko-KR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Σ (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단어마다</a:t>
            </a: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 IDF × 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횟수 점수</a:t>
            </a:r>
            <a:endParaRPr lang="en-US" altLang="ko-KR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단어가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많을수록</a:t>
            </a: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드문 단어가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많을수록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점수가 높음</a:t>
            </a:r>
            <a:endParaRPr lang="en-US" altLang="ko-KR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13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오늘은 자세한 계산 방법은 안 다룸</a:t>
            </a:r>
            <a:endParaRPr lang="ko-KR" altLang="en-US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40080" y="562356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40080" y="5687568"/>
            <a:ext cx="10881360" cy="1124711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rank_bm25 기본값</a:t>
            </a: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BM25Okapi(k1=1.5, b=0.75). k1은 ①의 포화 정도, b는 ③의 길이 보정 정도. 대부분의 검색엔진도 비슷한 값을 기본으로 씀</a:t>
            </a:r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드문 정도(IDF)</a:t>
            </a: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Inverse Document Frequency. 전체 청크 수 대비 그 단어가 나온 청크 수가 적을수록 커지는 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두 방식이 잘 찾는 것과 놓치는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013" y="1280160"/>
            <a:ext cx="5349240" cy="2103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173" y="1389888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 검색  ·  잘 찾는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173" y="164592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표현이 달라도 뜻이 같은 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173" y="2084832"/>
            <a:ext cx="507492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문서와 다른 단어로 물어도 뜻이 같으면 가까움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다국어 모델이면 언어가 달라도 가까움 (e5-small은 약 100개 언어. 단, 작은 모델이라 한계가 있음 → 뒤에서 확인)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349240" cy="2103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389888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단어 일치 검색  ·  잘 찾는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글자가 그대로 일치하는 경우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84832"/>
            <a:ext cx="507492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고유명사, 모델명, 데이터셋 이름, 수치, 코드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전체에서 드물게 나오는 단어일수록 강하게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013" y="3611880"/>
            <a:ext cx="5349240" cy="2103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173" y="3721608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 검색  ·  놓치는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173" y="397764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글자가 핵심인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173" y="4416552"/>
            <a:ext cx="507492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모델명·데이터셋명·오류 코드·저자명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드문 이름 하나의 흔적이 청크 벡터 1개 안에서 희미해짐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11880"/>
            <a:ext cx="5349240" cy="2103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721608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단어 일치 검색  ·  놓치는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40"/>
            <a:ext cx="507492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뜻의 다른 표현, 다른 언어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16552"/>
            <a:ext cx="5074920" cy="122529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질문과 청크에 겹치는 단어가 없으면 점수 0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한국어는 조사가 붙어 다른 단어가 됨 ('모델을' ≠ '모델')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그래서 둘 다 실행하고 결과를 합침 = </a:t>
            </a: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하이브리드 검색</a:t>
            </a:r>
            <a:endParaRPr lang="ko-KR" altLang="en-US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BB24584-33F6-54DD-D8FE-EE0518D06FCB}"/>
              </a:ext>
            </a:extLst>
          </p:cNvPr>
          <p:cNvCxnSpPr/>
          <p:nvPr/>
        </p:nvCxnSpPr>
        <p:spPr>
          <a:xfrm>
            <a:off x="5935133" y="1280160"/>
            <a:ext cx="0" cy="461772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검색만 하면 왜 놓치는가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고유명사가 들어간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강사 테스트 결과. 정답 = MIRACL 결과가 있는 BGE-M3 논문의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331720"/>
            <a:ext cx="2468880" cy="128016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2331720"/>
            <a:ext cx="2359152" cy="128016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"MIRACL 한국어 검색 성능"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783080"/>
            <a:ext cx="2194560" cy="8686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66744" y="1783080"/>
            <a:ext cx="2084831" cy="8686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 검색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246120"/>
            <a:ext cx="2194560" cy="8686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3246120"/>
            <a:ext cx="2084831" cy="8686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일치 검색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36392" y="2240280"/>
            <a:ext cx="448056" cy="50292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>
            <a:off x="3136392" y="3154680"/>
            <a:ext cx="448056" cy="50292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172200" y="1783080"/>
            <a:ext cx="5349240" cy="8686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12700">
            <a:solidFill>
              <a:srgbClr val="FF7B7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5074920" cy="8686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정답이 들어있는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순위 </a:t>
            </a:r>
            <a:r>
              <a:rPr lang="ko-KR" altLang="en-US" sz="1300" b="1" dirty="0">
                <a:solidFill>
                  <a:srgbClr val="FF7B7B"/>
                </a:solidFill>
                <a:latin typeface="Malgun Gothic"/>
                <a:ea typeface="Malgun Gothic"/>
                <a:cs typeface="Malgun Gothic"/>
              </a:rPr>
              <a:t>15위에 올라옴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한국어 단어가 많은 질문이라 국문 보고서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위로 올라옴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46120"/>
            <a:ext cx="5349240" cy="86868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74920" cy="8686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정답이 들어있는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순위 </a:t>
            </a:r>
            <a:r>
              <a:rPr lang="ko-KR" altLang="en-US" sz="13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3위에 올라옴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드문 단어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miracl이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들어 있는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청크만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높은 점수를 받음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33872" y="2212848"/>
            <a:ext cx="310896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5833872" y="3675887"/>
            <a:ext cx="310896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40080" y="4297679"/>
            <a:ext cx="10881360" cy="156971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임베딩이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놓친 이유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e5-small은 토큰 벡터를 평균 내 벡터 1개를 만듦. 드문 이름 '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MIRACL'의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흔적은 평균 속에서 희미해지고, 나머지 단어(한국어 검색 성능)가 벡터를 좌우함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단어 일치가 찾은 이유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miracl은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약 1,750개 중 19개에만 나오는 드문 단어여서 점수가 큼</a:t>
            </a:r>
            <a:endParaRPr lang="en-US" altLang="ko-KR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0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더 크고 성능이 좋은 다국어 </a:t>
            </a:r>
            <a:r>
              <a:rPr lang="ko-KR" altLang="en-US" sz="135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35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모델을 쓰면 한국어 질문과 영어 </a:t>
            </a:r>
            <a:r>
              <a:rPr lang="ko-KR" altLang="en-US" sz="135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5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더 잘 연결돼서 </a:t>
            </a:r>
            <a:r>
              <a:rPr lang="ko-KR" altLang="en-US" sz="1350" b="0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35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검색 순위도 올라갔을 가능성 큼</a:t>
            </a:r>
            <a:endParaRPr lang="en-US" altLang="ko-KR" sz="1350" b="0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다만 성능 좋은 모델이더라도 지금처럼 하이브리드 검색을 사용하는 것이 표준</a:t>
            </a:r>
            <a:endParaRPr lang="ko-KR" altLang="en-US" sz="1350" b="0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0813" y="6049602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404" y="6104465"/>
            <a:ext cx="10552176" cy="45720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하이브리드(합치기 +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결과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단어 일치 검색 덕분에 필요한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찾아 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검색만 하면 왜 놓치는가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표현과 언어가 다른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강사 테스트 결과. 이번에는 단어 일치 검색이 놓치고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검색이 찾는 경우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15276"/>
              </p:ext>
            </p:extLst>
          </p:nvPr>
        </p:nvGraphicFramePr>
        <p:xfrm>
          <a:off x="640080" y="1645920"/>
          <a:ext cx="10881359" cy="29260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유형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 (정답 논문)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단어 일치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 dirty="0" err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청크와</a:t>
                      </a:r>
                      <a:r>
                        <a:rPr lang="ko-KR" altLang="en-US" sz="125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다른 표현의 질문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"Answer quality drops when the key passage sits halfway through the context"
(Liu2023_LostInTheMiddle)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논문은 '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lost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the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middle'로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표현. </a:t>
                      </a:r>
                      <a:endParaRPr lang="en-US" altLang="ko-KR" sz="1250" b="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겹치는 단어가 적어 BM25 점수가 낮음.</a:t>
                      </a:r>
                      <a:endParaRPr lang="en-US" altLang="ko-KR" sz="1250" b="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임베딩은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뜻이 같으면 벡터가 가까움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 dirty="0" err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청크와</a:t>
                      </a:r>
                      <a:r>
                        <a:rPr lang="ko-KR" altLang="en-US" sz="125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다른 언어로 질문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"여러 턴에 걸친 대화형 RAG를 평가하는 벤치마크"
(Katsis2025_MTRAG)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찾지 못함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영어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청크와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겹치는 단어가 없음. '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RAG를'도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조사가 붙어 </a:t>
                      </a:r>
                      <a:r>
                        <a:rPr lang="ko-KR" altLang="en-US" sz="125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rag와</a:t>
                      </a: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다른 단어가 됨. </a:t>
                      </a:r>
                      <a:endParaRPr lang="en-US" altLang="ko-KR" sz="1250" b="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다국어 모델은 언어가 달라도 뜻이 같으면 가까움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언어가 다른 질문이 성립하는 것은 e5-small이 다국어 모델이기 때문. 영어 전용 모델이면 엉뚱한 결과만 나옴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작은 모델의 한계: 한국어로 질문해서 영어 논문 찾기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6400"/>
            <a:ext cx="10881360" cy="16916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e5-small은 약 100개 언어를 지원하지만 1.2억 파라미터의 작은 모델. </a:t>
            </a:r>
            <a:endParaRPr lang="en-US" altLang="ko-KR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질문에는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같은 언어(국문 보고서) </a:t>
            </a:r>
            <a:r>
              <a:rPr lang="ko-KR" altLang="en-US" sz="13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먼저 올라오는 경향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일치 검색도 겹치는 단어가 없어 도와주지 못함 →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하이브리드로도 해결되지 않는 실패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 방법: 다국어 성능이 높은 큰 모델로 교체, 또는 질문을 영어로 바꿔 한 번 더 검색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순위 합치기 (RRF)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371600" y="3886200"/>
            <a:ext cx="941832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40000"/>
              </a:lnSpc>
              <a:spcAft>
                <a:spcPts val="400"/>
              </a:spcAft>
              <a:buNone/>
            </a:pPr>
            <a:r>
              <a:rPr lang="ko-KR" altLang="en-US" sz="16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점수 단위가 다른 두 검색 결과를 하나의 순위로 합치는 단계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검색 결과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유사도값을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합칠 때 산출 단위가 달라 문제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749039" cy="10058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1325880"/>
            <a:ext cx="3639311" cy="10058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검색 결과 30개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실습으로 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강사가 테스트한 결과 값 범위 0.8</a:t>
            </a:r>
            <a:r>
              <a:rPr lang="en-US" altLang="ko-KR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~0.87 (1위와 </a:t>
            </a:r>
            <a:r>
              <a:rPr lang="en-US" altLang="ko-KR" sz="12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 차이 약 0.0</a:t>
            </a:r>
            <a:r>
              <a:rPr lang="en-US" altLang="ko-KR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749039" cy="10058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560320"/>
            <a:ext cx="3639311" cy="10058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일치 검색 결과 30개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ko-KR" altLang="en-US" sz="12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실습으로 강사가 테스트한 </a:t>
            </a: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 점수 범위</a:t>
            </a:r>
            <a:endParaRPr lang="en-US" altLang="ko-KR" sz="12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ko-KR" altLang="en-US" sz="12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1위 약 10점, 5위 약 7점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828800"/>
            <a:ext cx="2011680" cy="1234440"/>
          </a:xfrm>
          <a:prstGeom prst="roundRect">
            <a:avLst>
              <a:gd name="adj" fmla="val 10000"/>
            </a:avLst>
          </a:prstGeom>
          <a:solidFill>
            <a:srgbClr val="2A1A1A"/>
          </a:solidFill>
          <a:ln w="12700">
            <a:solidFill>
              <a:srgbClr val="FF7B7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1828800"/>
            <a:ext cx="2011680" cy="12344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50" b="1">
                <a:solidFill>
                  <a:srgbClr val="FF7B7B"/>
                </a:solidFill>
                <a:latin typeface="Malgun Gothic"/>
                <a:ea typeface="Malgun Gothic"/>
                <a:cs typeface="Malgun Gothic"/>
              </a:rPr>
              <a:t>점수를 그대로 더하면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34840" y="1828800"/>
            <a:ext cx="429768" cy="41148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 flipV="1">
            <a:off x="4434840" y="2697480"/>
            <a:ext cx="429768" cy="36576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7360920" y="1783080"/>
            <a:ext cx="4160520" cy="13258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12700">
            <a:solidFill>
              <a:srgbClr val="FF7B7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783080"/>
            <a:ext cx="3886200" cy="13258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 점수가 최종 검색 결과를 거의 결정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31152" y="2441448"/>
            <a:ext cx="402336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640080" y="3886200"/>
            <a:ext cx="10881360" cy="19659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 점수는 계산 방식이 달라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단위가 맞지 않음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e5-small 유사도는 좁은 구간에 몰림. 관련 없는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청크도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0.7 이상(학습 방식 때문</a:t>
            </a: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lang="ko-KR" altLang="en-US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0~1로 맞춰도 두 분포의 모양이 달라, 어느 쪽에 얼마나 비중을 둘지 따로 정해야 함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해결: 점수는 버리고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순위만 사용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RRF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RRF¹, 순위만으로 합치기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7"/>
            <a:ext cx="10881360" cy="60316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청크의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RRF 점수 = 각 검색에서의 순위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r마다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1 ÷ (60 +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)을 더한 값. 목록에 없으면 0을 더함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은 뒷장에서 설명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23774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 순위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단어 일치 순위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합친 순위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1/63 + 1/62 = 0.0159 + 0.0161 = </a:t>
                      </a: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0.0320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1/62 + 1/80 = 0.0161 + 0.0125 = 0.0286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30위 밖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1/61 = 0.0164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30위 밖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1/61 = 0.0164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3위 (같은 값)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480560"/>
            <a:ext cx="10881360" cy="10058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4535424"/>
            <a:ext cx="10552176" cy="896112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A는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어느 쪽에서도 1위가 아니지만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두 검색 모두에서 상위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 1위.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B와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C는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한쪽에서 1위였지만 다른 쪽 목록에 없어 아래로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내려감</a:t>
            </a:r>
            <a:endParaRPr lang="ko-KR" altLang="en-US" sz="135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40080" y="598932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40080" y="6053328"/>
            <a:ext cx="10881360" cy="75895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RRF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Reciprocal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Rank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Fusion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0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역순위</a:t>
            </a:r>
            <a:r>
              <a:rPr lang="ko-KR" altLang="en-US" sz="10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결합). 점수 대신 순위의 역수를 더해 여러 검색 결과를 합치는 방법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 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60이라는 숫자의 역할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566928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÷ 순위 (60 없음)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÷ (60 + 순위)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0.0164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0.500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0.0161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0.333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0.0159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0.100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0.0143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0.033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3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0.0111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325880"/>
            <a:ext cx="4937760" cy="28346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60이 없으면 1위가 2위의 2배로 </a:t>
            </a: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위의 점수가 너무 높아짐 → 한쪽 검색의 1위가 결과를 좌우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60을 더하면 1위와 2위의 차이가 약 2% → 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두 검색 모두에서 위쪽인 </a:t>
            </a:r>
            <a:r>
              <a:rPr lang="ko-KR" altLang="en-US" sz="13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유리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60은 원 논문이 예비 실험으로 정한 값. 논문은 ＇값에 크게 민감하지 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않다＇고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하고 다른 값을 써도 된다고 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4398264"/>
            <a:ext cx="10552176" cy="1078992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ko-KR" altLang="en-US" sz="135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RRF를</a:t>
            </a:r>
            <a:r>
              <a:rPr lang="ko-KR" altLang="en-US" sz="135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먼저 쓰는 이유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조정할 값이 없고, 점수 범위를 맞출 필요도 없음. 코드 10줄 안팎이고 문서가 바뀌어도 동작이 안정적</a:t>
            </a:r>
          </a:p>
          <a:p>
            <a:pPr marL="0" indent="0">
              <a:lnSpc>
                <a:spcPct val="140000"/>
              </a:lnSpc>
              <a:spcAft>
                <a:spcPts val="300"/>
              </a:spcAft>
              <a:buNone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lang="en-US" altLang="ko-KR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 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성능 평가 세트가 없는 처음 단계의 기본 선택. 평가 세트가 생기면 다음 장의 방법으로 조정해 볼 수 있음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2026년에도 </a:t>
            </a:r>
            <a:r>
              <a:rPr lang="en-US" altLang="ko-KR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 기본으로 사용됨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560" y="1782063"/>
            <a:ext cx="3429000" cy="38862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7720" y="1891791"/>
            <a:ext cx="315468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이번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720" y="2147823"/>
            <a:ext cx="315468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실습에서 쓰는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2586735"/>
            <a:ext cx="3154680" cy="300837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RRF(k=60)</a:t>
            </a:r>
            <a:r>
              <a:rPr lang="ko-KR" altLang="en-US" sz="13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직접 구현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2026년에도 하이브리드 검색의 기본 결합 방식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9122" y="1782063"/>
            <a:ext cx="3712463" cy="3886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283" y="1891791"/>
            <a:ext cx="3438144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현업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6283" y="2147823"/>
            <a:ext cx="343814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자원이 충분하면 써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6283" y="2586735"/>
            <a:ext cx="3438144" cy="300837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벡터 DB·검색엔진 내장 하이브리드: Elasticsearch, OpenSearch, Milvus, Qdrant, Weaviate, Azure AI Search 등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제품마다 기본값이 다름: Qdrant는 RRF 기본 k=2, Weaviate는 점수 기반 결합이 기본 → 설정 확인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 세트가 있으면 가중 합·가중 RRF로 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" y="1123695"/>
            <a:ext cx="10881360" cy="5486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실습 방식도 현업에서 많이 쓰임. 직접 구현하느냐, </a:t>
            </a:r>
            <a:r>
              <a:rPr lang="ko-KR" altLang="en-US" sz="14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DB의</a:t>
            </a: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 옵션을 사용하느냐 차이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endParaRPr lang="ko-KR" altLang="en-US" sz="4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</a:t>
            </a:r>
            <a:r>
              <a:rPr lang="ko-KR" altLang="en-US" sz="28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정의</a:t>
            </a:r>
          </a:p>
        </p:txBody>
      </p:sp>
      <p:sp>
        <p:nvSpPr>
          <p:cNvPr id="40" name="Definition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ko-KR" altLang="en-US" sz="15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500" b="1" dirty="0" err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reranking</a:t>
            </a:r>
            <a:r>
              <a:rPr lang="ko-KR" altLang="en-US" sz="15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1단계 검색이 추린 후보에만 더 정밀한 모델로 관련도 점수를 다시 매긴 뒤, 그 점수 순으로 다시 정렬해 상위 </a:t>
            </a:r>
            <a:r>
              <a:rPr lang="ko-KR" altLang="en-US" sz="15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k개를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고르는 작업</a:t>
            </a:r>
            <a:r>
              <a:rPr lang="en-US" altLang="ko-KR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5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아래 예시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0980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1단계  ·  빠른 방식으로 후보를 줄임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209800"/>
            <a:ext cx="475488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2단계  ·  후보만 정밀하게 채점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75560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575560"/>
            <a:ext cx="1490472" cy="9601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청크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 1,750개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2575560"/>
            <a:ext cx="2148840" cy="960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60904" y="2575560"/>
            <a:ext cx="2039112" cy="9601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 + 단어 일치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→ 순위 합치기(RRF)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575560"/>
            <a:ext cx="1325880" cy="9601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75503" y="2575560"/>
            <a:ext cx="1216152" cy="9601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후보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575560"/>
            <a:ext cx="2743200" cy="960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67144" y="2575560"/>
            <a:ext cx="2633472" cy="9601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 모델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질문과 청크를 한 쌍으로 묶어 30번 채점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575560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76104" y="2575560"/>
            <a:ext cx="1490472" cy="9601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4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최종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58568" y="3055619"/>
            <a:ext cx="32004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4773168" y="3055619"/>
            <a:ext cx="32004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6464808" y="3055619"/>
            <a:ext cx="32004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9573768" y="3055619"/>
            <a:ext cx="32004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640080" y="3810000"/>
            <a:ext cx="10881360" cy="185928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1단계는 빠르지만 거친 방식으로 후보를 줄이고, 2단계는 느리지만 정확한 방식으로 최종 순서를 정함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 예시: </a:t>
            </a: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BAAI/bge-reranker-v2-m3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(2024년, 약 5.7억 파라미터, Apache 2.0, 다국어)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점수(0~1)는 '이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이 질문에 답하는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정도'의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추정치. 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676656" lvl="1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계산 방식이 달라 임베딩·BM25 점수와 비교하지 않음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모드에서 최종적으로 사용할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청크는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점수 기준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검색 모델과 리랭킹 모델은 구조가 다름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0352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임베딩 검색에 쓰는 모델  ·  바이 인코더¹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1645920"/>
            <a:ext cx="1261872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560320"/>
            <a:ext cx="1261872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6459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86584" y="1645920"/>
            <a:ext cx="1261872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벡터화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56032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86584" y="2560320"/>
            <a:ext cx="1261872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벡터화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29968" y="1965960"/>
            <a:ext cx="2743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2029968" y="2880360"/>
            <a:ext cx="2743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4069080" y="205740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23944" y="2057400"/>
            <a:ext cx="1673352" cy="73152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코사인 유사도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21608" y="1965960"/>
            <a:ext cx="320040" cy="32004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721608" y="2560320"/>
            <a:ext cx="320040" cy="32004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355080" y="1234440"/>
            <a:ext cx="516636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1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리랭킹에 쓰는 모델  ·  크로스 인코더²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874519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1874519"/>
            <a:ext cx="1764791" cy="10058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+ 청크</a:t>
            </a:r>
          </a:p>
          <a:p>
            <a:pPr marL="0" indent="0" algn="ctr">
              <a:lnSpc>
                <a:spcPct val="120000"/>
              </a:lnSpc>
              <a:spcAft>
                <a:spcPts val="100"/>
              </a:spcAft>
              <a:buNone/>
            </a:pPr>
            <a:r>
              <a:rPr lang="ko-KR" altLang="en-US"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입력으로 이어 붙임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874519"/>
            <a:ext cx="1554480" cy="100584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04504" y="1874519"/>
            <a:ext cx="1444752" cy="10058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모델이 질문과 </a:t>
            </a:r>
            <a:r>
              <a:rPr lang="ko-KR" altLang="en-US" sz="13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함께 읽음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1874519"/>
            <a:ext cx="1097280" cy="100584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79024" y="1874519"/>
            <a:ext cx="987552" cy="100584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2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관련도 점수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47888" y="2377440"/>
            <a:ext cx="2743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0122408" y="2377440"/>
            <a:ext cx="27432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640080" y="3520440"/>
            <a:ext cx="5303520" cy="21945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 벡터를 미리 계산해 둘 수 있음 → 검색 때는 질문 1개만 계산. 빠름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질문과 청크를 따로 읽으므로 '이 청크가 이 질문에 실제로 답하는가'까지는 판단하지 못함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40"/>
            <a:ext cx="5166360" cy="21945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어텐션으로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질문의 단어와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청크의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단어를 직접 대조 → 더 정확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질문이 입력에 들어가므로 미리 계산할 수 없고, 한 쌍마다 모델을 실행 → 느림. 그래서 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단계에서 추린 </a:t>
            </a:r>
            <a:r>
              <a:rPr lang="ko-KR" altLang="en-US" sz="13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청크들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대상으로만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사용</a:t>
            </a:r>
            <a:endParaRPr lang="en-US" altLang="ko-KR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답이 들어 있는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쌍에는 높은 점수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(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없는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쌍에는 낮은 점수가 나오도록 수많은 쌍으로 미리 훈련된 모델을 사용해서 관련도 점수 계산</a:t>
            </a:r>
          </a:p>
          <a:p>
            <a:pPr marL="219456" indent="-219456">
              <a:lnSpc>
                <a:spcPct val="140000"/>
              </a:lnSpc>
              <a:spcAft>
                <a:spcPts val="500"/>
              </a:spcAft>
              <a:buClr>
                <a:srgbClr val="FFFFFF"/>
              </a:buClr>
              <a:buSzPct val="100000"/>
              <a:buFont typeface="Arial"/>
              <a:buChar char="•"/>
            </a:pPr>
            <a:endParaRPr lang="ko-KR" altLang="en-US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5852160"/>
            <a:ext cx="10881360" cy="0"/>
          </a:xfrm>
          <a:prstGeom prst="line">
            <a:avLst/>
          </a:prstGeom>
          <a:ln w="9525">
            <a:solidFill>
              <a:srgbClr val="8A7A2A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40080" y="5916168"/>
            <a:ext cx="10881360" cy="896111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¹ 바이 인코더(bi-encoder)</a:t>
            </a: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질문과 문서를 각각 따로 벡터로 바꾸는 구조.  </a:t>
            </a:r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0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² 크로스 인코더(cross-encoder)</a:t>
            </a:r>
            <a:r>
              <a:rPr lang="ko-KR" altLang="en-US" sz="1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질문과 문서를 한 입력으로 함께 읽어 점수 하나를 내는 구조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정리 — 리랭킹 후보는 몇 개가 적당한가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58147"/>
            <a:ext cx="10281920" cy="2560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본인 프로젝트 상황에 맞춰 조정해 나가면 됨</a:t>
            </a:r>
            <a:endParaRPr lang="en-US" altLang="ko-KR" sz="1400" b="1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현업에서 자원이 충분하면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GPU나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API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리랭커로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50~100개에서 시작하고, </a:t>
            </a:r>
            <a:r>
              <a:rPr lang="ko-KR" altLang="en-US" sz="140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최적값은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평가 세트로 측정해가며 정함</a:t>
            </a:r>
            <a:endParaRPr lang="en-US" altLang="ko-KR" sz="140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검색에서 추리는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후보가 적으면 정답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후보에 들어오지 못해 리랭킹이 고칠 기회가 없음</a:t>
            </a:r>
          </a:p>
          <a:p>
            <a:pPr marL="219456" indent="-219456">
              <a:lnSpc>
                <a:spcPct val="140000"/>
              </a:lnSpc>
              <a:spcAft>
                <a:spcPts val="6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반대로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수백~수천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개로 늘리면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리랭커가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엉뚱한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청크를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위로 올려 오히려 나빠질 수 있다는 연구도 있음(arXiv:2411.11767)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2026년 9월 동향 — 리랭킹: 실습 선택과 현업 대안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82706"/>
            <a:ext cx="3429000" cy="388620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292434"/>
            <a:ext cx="3154680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이번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48466"/>
            <a:ext cx="315468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실습에서 쓰는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87378"/>
            <a:ext cx="3154680" cy="300837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bge-reranker-v2-m3 (2024년, 5.7억 파라미터, Apache 2.0)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노트북 CPU에서 후보 30개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최신 모델은 아니지만 공개 다국어 리랭커의 기준선으로 계속 쓰임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0175" y="2182706"/>
            <a:ext cx="3712463" cy="38862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7336" y="2292434"/>
            <a:ext cx="3438144" cy="25603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현업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7336" y="2548466"/>
            <a:ext cx="3438144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5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자원이 충분하면 써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7336" y="2987378"/>
            <a:ext cx="3438144" cy="300837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GPU + 공개 모델: Qwen3-Reranker 4B/8B(지시문 지원), mxbai-rerank-v2, zerank-2(4B, 2026.7부터 Apache 2.0)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 여러 개를 한 번에 읽는 방식: jina-reranker-v3.5(2026.7, 0.6B, 비상업 라이선스)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관리형 API: Cohere Rerank 4, Voyage rerank-2.5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 50~100개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6638D-73FF-BF8C-3968-E0EDF30A46BF}"/>
              </a:ext>
            </a:extLst>
          </p:cNvPr>
          <p:cNvSpPr txBox="1"/>
          <p:nvPr/>
        </p:nvSpPr>
        <p:spPr>
          <a:xfrm>
            <a:off x="634999" y="1103364"/>
            <a:ext cx="10684933" cy="79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이번 실습도 구조(후보를 다시 채점)는 현업과 같음. </a:t>
            </a:r>
            <a:endParaRPr lang="en-US" altLang="ko-KR" sz="1600" b="1" dirty="0">
              <a:solidFill>
                <a:srgbClr val="FFD733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자원이 있으면 모델만 더 크고 정확한 것으로 교체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 algn="ctr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기능 만들기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13248" y="3730752"/>
            <a:ext cx="1371600" cy="0"/>
          </a:xfrm>
          <a:prstGeom prst="line">
            <a:avLst/>
          </a:prstGeom>
          <a:ln w="19050">
            <a:solidFill>
              <a:srgbClr val="FFD733"/>
            </a:solidFill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우리가 만들 search.py 파일의 입력과 출력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017520" cy="3246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27048"/>
            <a:ext cx="27432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743200" cy="26243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(명령행)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chunks.jsonl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embeddings.npy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meta.json (모델 이름)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3017520"/>
            <a:ext cx="548641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4389120" y="1417320"/>
            <a:ext cx="3383280" cy="324612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 w="19050">
            <a:solidFill>
              <a:srgbClr val="FFD733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10896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search.py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26243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청크와</a:t>
            </a:r>
            <a:r>
              <a:rPr lang="ko-KR" altLang="en-US" sz="12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동일한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모델로 질문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임베딩하고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질문 벡터 간의 유사도 계산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BM25 점수 계산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RRF로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후보 30개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리랭킹으로 최종 5개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3017520"/>
            <a:ext cx="548640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8503920" y="1417320"/>
            <a:ext cx="3017520" cy="324612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41080" y="1527048"/>
            <a:ext cx="2743200" cy="38404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ko-KR" altLang="en-US"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965960"/>
            <a:ext cx="2743200" cy="262432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줄에 청크 하나, 5줄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순위 · 점수 · [파일명 | p.쪽] · 본문 앞 200자</a:t>
            </a:r>
          </a:p>
          <a:p>
            <a:pPr marL="219456" indent="-219456">
              <a:lnSpc>
                <a:spcPct val="135000"/>
              </a:lnSpc>
              <a:spcAft>
                <a:spcPts val="400"/>
              </a:spcAft>
              <a:buClr>
                <a:srgbClr val="FFFFFF"/>
              </a:buClr>
              <a:buSzPct val="100000"/>
              <a:buFont typeface="Arial"/>
              <a:buChar char="•"/>
            </a:pPr>
            <a:r>
              <a:rPr lang="ko-KR" altLang="en-US"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함수 search()는 같은 내용을 list[dict]로 돌려줌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search.py 작성 프롬프트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33855"/>
            <a:ext cx="10881360" cy="94047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우리가 지금까지 배운 것을 코드로 구현하고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검색을 실행해보라고 프롬프트로 시키는 것 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장까지 이어서 한 번에 붙여 넣기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 가량 소요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5320" y="2280920"/>
            <a:ext cx="10881360" cy="416052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199" y="239064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PROMPT (1/2)  ·  다음 장까지 이어서 한 번에 붙여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99" y="2701544"/>
            <a:ext cx="10515600" cy="36667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아래 조건으로 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를 검색하는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search.py를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개발하고 실행해줘</a:t>
            </a:r>
            <a:r>
              <a:rPr lang="en-US" altLang="ko-KR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3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소요시간이 어느정도 걸렸는지 기록하고 말해줘</a:t>
            </a:r>
            <a:endParaRPr lang="ko-KR" altLang="en-US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명령행에서 질의와 --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(vector|bm25|hybrid, 기본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), --k (기본 5)를 받는다.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meta.json에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적힌 모델 이름으로 질의를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임베딩하고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normalize_embeddings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True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embeddings.npy와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내적(=코사인 유사도)을 계산해 상위 30개를 뽑는다. e5 모델은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앞에 "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passage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"를 붙여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임베딩했으므로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모델 이름에 "e5"가 들어 있으면 질의 앞에 "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"를 직접 붙이고 그 외 모델(BGE-M3 등)에는 붙이지 않는다.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모델도 캐시에 있으면 인터넷 없이 불러온다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bm25: rank_bm25의 BM25Okapi로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chunks.jsonl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전체에 대해 상위 30개를 뽑는다. 단어 나누기는 문서와 질의에 같은 규칙을 쓴다: 소문자로 바꾼 뒤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영문·숫자·한글이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이어진 구간을 단어 하나로 본다(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정규식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[0-9a-z가-힣]+).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text에는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2강에서 붙인 "[파일명 |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p.쪽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]" 접두어가 포함되어 있으니 그대로 사용한다.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search.py 작성 프롬프트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 장에 이어서 붙여 넣기. 여기까지가 전체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4160520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PROMPT (2/2)  ·  앞 장에 이어서 붙여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20824"/>
            <a:ext cx="10515600" cy="3666744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: 2와 3의 결과를 RRF(점수 = 각 순위마다 1/(60+순위)를 더한 값)로 합쳐 상위 30개를 만들고,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sentence-transformers의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CrossEncoder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("BAAI/bge-reranker-v2-m3",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max_length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=512)로 다시 채점해 상위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k개를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확정한다.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모델도 캐시에 있으면 인터넷 없이 불러온다.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bm25 방식은 해당 검색 결과 상위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k개를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그대로 출력한다.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함수 이름과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시그니처는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다음으로 고정한다(다른 파일에서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불러다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쓴다):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vector_search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=30), bm25_search(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=30),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rrf_fuse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rankings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k=60),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rerank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candidates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k),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진입점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query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="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", k=5) -&gt;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list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dict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]. 각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dict는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doc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page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text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score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rank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키를 가진다.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모델,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모델, BM25 색인은 처음 필요할 때 한 번만 만들어 재사용한다.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화면 출력: 순위, 점수, [파일명 |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p.페이지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], 본문 앞 200자. 한글과 특수문자가 깨지지 않도록 출력은 UTF-8로 한다.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실행은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uv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python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search.py 로 해줘. 기존 파일은 수정하지 말 것.</a:t>
            </a:r>
          </a:p>
          <a:p>
            <a:pPr marL="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작성이 끝나면 "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retrieval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with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reranking"을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방식으로 직접 실행해 전체 출력을 보여줘. </a:t>
            </a:r>
            <a:r>
              <a:rPr lang="ko-KR" altLang="en-US" sz="125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모델을 불러오고 후보 30개를 채점하는 데 몇 분 걸릴 수 있으니 타임아웃을 1</a:t>
            </a:r>
            <a:r>
              <a:rPr lang="en-US" altLang="ko-KR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lang="ko-KR" altLang="en-US" sz="125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분으로 잡아줘.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프롬프트를 이렇게 쓴 이유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질문 임베딩 · 단어 나누기. 2강 65쪽과 같은 방식으로, 각 지시가 무엇을 보장하거나 막는지 정리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071166"/>
              </p:ext>
            </p:extLst>
          </p:nvPr>
        </p:nvGraphicFramePr>
        <p:xfrm>
          <a:off x="640080" y="1645920"/>
          <a:ext cx="10881360" cy="2881567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 지시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이렇게 썼나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meta.json의 모델 이름으로 질의 임베딩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질문과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청크가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같은 모델로 만든 벡터여야 비교가 성립. 모델이 다르면 차원(384/1,024)이 맞지 않아 오류가 나거나 결과가 무의미해짐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e5 계열이면 질의 앞에 query: 를 '직접'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색인(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passage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:)과 짝을 맞춤. 빼도 오류 없이 품질만 떨어지므로 판정표에서 따로 확인.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sentence-transformers의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encode_query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()는 모델에 접두어가 등록되어 있어야 자동으로 붙이는데 e5-small에는 없음 → 직접 붙이라고 명시</a:t>
                      </a:r>
                      <a:endParaRPr lang="en-US" altLang="ko-KR" sz="1200" b="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소문자 + </a:t>
                      </a:r>
                      <a:r>
                        <a:rPr lang="ko-KR" altLang="en-US" sz="1200" b="1" dirty="0" err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영문·숫자·한글</a:t>
                      </a: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구간을 단어로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Retrieval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retrieval이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같은 단어로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세어짐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접두어의 파일명도 chen2024 ·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bge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· m3 ·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pdf로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나뉘어 검색에 걸림. 한국어 조사 문제는 실습에서는 해결하지 않음</a:t>
                      </a:r>
                      <a:r>
                        <a:rPr lang="en-US" altLang="ko-KR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명사 </a:t>
                      </a:r>
                      <a:r>
                        <a:rPr lang="en-US" altLang="ko-KR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구조에서 명사</a:t>
                      </a:r>
                      <a:r>
                        <a:rPr lang="en-US" altLang="ko-KR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조사가 한번에 단어로 인식되는 이슈</a:t>
                      </a:r>
                      <a:r>
                        <a:rPr lang="en-US" altLang="ko-KR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endParaRPr lang="ko-KR" altLang="en-US" sz="1200" b="0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프롬프트를 이렇게 쓴 이유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86822"/>
              </p:ext>
            </p:extLst>
          </p:nvPr>
        </p:nvGraphicFramePr>
        <p:xfrm>
          <a:off x="640080" y="1645920"/>
          <a:ext cx="10881360" cy="39776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 지시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5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이렇게 썼나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후보 30개만 리랭킹 · max_length=512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리랭킹은 한 쌍마다 모델을 실행해 느리므로 후보에만 사용. 길이 상한은 유난히 긴 청크 하나가 채점 시간을 늘리지 않게 하기 위함(청크는 약 350토큰이라 대부분 이 안에 들어감)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함수 </a:t>
                      </a:r>
                      <a:r>
                        <a:rPr lang="ko-KR" altLang="en-US" sz="1200" b="1" dirty="0" err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이름·시그니처</a:t>
                      </a: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고정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다음에 실습할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ask.py와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에이전트가 이 이름 그대로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불러다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씀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모델과 색인은 한 번만 만들어 재사용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search()를 부를 때마다 모델을 다시 불러오면 매번 수십 초가 더 걸림. 4강 에이전트는 search()를 여러 번 부름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 출력은 UTF-8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한글 환경의 파이썬 3.14는 출력 인코딩이 기본 cp949. 논문의 '—' 같은 문자를 출력하다 오류로 멈출 수 있음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1">
                          <a:solidFill>
                            <a:srgbClr val="FFD7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질의 · 타임아웃 10분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100"/>
                        </a:spcAft>
                        <a:buNone/>
                      </a:pP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리랭킹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모델을 불러오고 후보 30개를 채점하는 시간이 </a:t>
                      </a:r>
                      <a:r>
                        <a:rPr lang="ko-KR" altLang="en-US" sz="1200" b="0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Code</a:t>
                      </a:r>
                      <a:r>
                        <a:rPr lang="ko-KR" altLang="en-US" sz="1200" b="0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탭 기본 제한(2분)을 넘길 수 있음</a:t>
                      </a:r>
                    </a:p>
                  </a:txBody>
                  <a:tcPr marL="100584" marR="100584" anchor="ctr">
                    <a:lnL w="9525" cap="flat" cmpd="sng" algn="ctr">
                      <a:solidFill>
                        <a:srgbClr val="3C3C3C"/>
                      </a:solidFill>
                      <a:prstDash val="solid"/>
                    </a:lnL>
                    <a:lnR w="9525" cap="flat" cmpd="sng" algn="ctr">
                      <a:solidFill>
                        <a:srgbClr val="3C3C3C"/>
                      </a:solidFill>
                      <a:prstDash val="solid"/>
                    </a:lnR>
                    <a:lnT w="9525" cap="flat" cmpd="sng" algn="ctr">
                      <a:solidFill>
                        <a:srgbClr val="3C3C3C"/>
                      </a:solidFill>
                      <a:prstDash val="solid"/>
                    </a:lnT>
                    <a:lnB w="9525" cap="flat" cmpd="sng" algn="ctr">
                      <a:solidFill>
                        <a:srgbClr val="3C3C3C"/>
                      </a:solidFill>
                      <a:prstDash val="solid"/>
                    </a:lnB>
                    <a:solidFill>
                      <a:srgbClr val="1D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성공한 출력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7"/>
            <a:ext cx="10881360" cy="68579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검색 코드 만든 뒤 </a:t>
            </a:r>
            <a:r>
              <a:rPr lang="ko-KR" altLang="en-US" sz="1400" dirty="0" err="1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hybrid</a:t>
            </a:r>
            <a:r>
              <a:rPr lang="ko-KR" altLang="en-US" sz="1400" dirty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ko-KR" altLang="en-US" sz="1400" dirty="0" err="1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retrieval</a:t>
            </a:r>
            <a:r>
              <a:rPr lang="ko-KR" altLang="en-US" sz="1400" dirty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ko-KR" altLang="en-US" sz="1400" dirty="0" err="1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lang="ko-KR" altLang="en-US" sz="1400" dirty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ko-KR" altLang="en-US" sz="1400" dirty="0" err="1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reranking</a:t>
            </a:r>
            <a:r>
              <a:rPr lang="ko-KR" altLang="en-US" sz="1400" dirty="0">
                <a:solidFill>
                  <a:srgbClr val="FFD733"/>
                </a:solidFill>
                <a:latin typeface="Consolas"/>
                <a:ea typeface="Consolas"/>
                <a:cs typeface="Consolas"/>
              </a:rPr>
              <a:t> 를 검색하라는 프롬프트가 방금 실습에 적혀 있음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파일명·점수·본문은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각자의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청크에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따라 조금씩 다름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5668" y="4803987"/>
            <a:ext cx="2473452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532" y="4803987"/>
            <a:ext cx="2363724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순위 1~5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4840" y="5124026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3448303" y="4803987"/>
            <a:ext cx="2473452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3167" y="4803987"/>
            <a:ext cx="2363724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점수 내림차순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67476" y="5124026"/>
            <a:ext cx="237744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6250940" y="4803987"/>
            <a:ext cx="2473452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5804" y="4803987"/>
            <a:ext cx="2363724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[파일명 | p.페이지]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0112" y="5124026"/>
            <a:ext cx="237743" cy="0"/>
          </a:xfrm>
          <a:prstGeom prst="line">
            <a:avLst/>
          </a:prstGeom>
          <a:ln w="22225">
            <a:solidFill>
              <a:srgbClr val="FFD733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9053576" y="4803987"/>
            <a:ext cx="2473452" cy="640080"/>
          </a:xfrm>
          <a:prstGeom prst="roundRect">
            <a:avLst>
              <a:gd name="adj" fmla="val 10000"/>
            </a:avLst>
          </a:prstGeom>
          <a:solidFill>
            <a:srgbClr val="1D1D1D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8440" y="4803987"/>
            <a:ext cx="2363724" cy="640080"/>
          </a:xfrm>
          <a:prstGeom prst="rect">
            <a:avLst/>
          </a:prstGeom>
          <a:noFill/>
        </p:spPr>
        <p:txBody>
          <a:bodyPr wrap="square" lIns="18288" tIns="18288" rIns="18288" bIns="18288" anchor="ctr"/>
          <a:lstStyle/>
          <a:p>
            <a:pPr marL="0" indent="0" algn="ctr">
              <a:lnSpc>
                <a:spcPct val="114999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본문 앞 200자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0A3986A-C9E1-594C-8F1A-645469A59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13" y="1819653"/>
            <a:ext cx="5283107" cy="27354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실습 — 검색 방법을 달리 했을 때 결과 달라지는 것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15734"/>
            <a:ext cx="10881360" cy="2675467"/>
          </a:xfrm>
          <a:prstGeom prst="rect">
            <a:avLst/>
          </a:prstGeom>
          <a:solidFill>
            <a:srgbClr val="191914"/>
          </a:solidFill>
          <a:ln w="9525">
            <a:solidFill>
              <a:srgbClr val="3C3C3C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3225463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ko-KR" altLang="en-US" sz="1050" b="1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PROMPT  ·  Code 탭에 그대로 붙여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536358"/>
            <a:ext cx="10515600" cy="2153243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질의를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search.py의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세 방식(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bm25,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으로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각각 실행하고, 리랭킹까지 진행한 뒤에 방식별 상위 5개의 차이를 비교 표로 정리해줘. 표의 열은 순위 /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/ bm25 /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hybrid로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하고, 각 칸에는 [파일명 |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p.페이지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]와 본문 앞 60자를 적어줘. </a:t>
            </a:r>
            <a:endParaRPr lang="en-US" altLang="ko-KR" sz="13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정답으로는 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Liu2023_LostInTheMiddle.pdf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논문을 뽑아내야 해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 논문의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청크가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몇 위에 있는지 확인하고</a:t>
            </a:r>
            <a:r>
              <a:rPr lang="en-US" altLang="ko-KR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어떤 방식이 무엇을 놓쳤는지도 한 줄씩 짚어줘. 실행은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uv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3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run으로</a:t>
            </a:r>
            <a:r>
              <a:rPr lang="ko-KR" altLang="en-US" sz="13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해줘.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3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질의: "</a:t>
            </a:r>
            <a:r>
              <a:rPr lang="en-US" altLang="ko-KR" sz="13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Answer quality drops when the key passage sits halfway through the context</a:t>
            </a:r>
            <a:r>
              <a:rPr lang="ko-KR" altLang="en-US" sz="1300" b="0" dirty="0">
                <a:solidFill>
                  <a:srgbClr val="FFD733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B10E4-B640-25EA-197C-F6830C968AE5}"/>
              </a:ext>
            </a:extLst>
          </p:cNvPr>
          <p:cNvSpPr txBox="1"/>
          <p:nvPr/>
        </p:nvSpPr>
        <p:spPr>
          <a:xfrm>
            <a:off x="640080" y="1115567"/>
            <a:ext cx="10881360" cy="16615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우리가 배운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후보 추리는 부분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(1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검색 부분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을 각각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vector)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단어 검색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(bm25), 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하이브리드 방식을 사용했을 때</a:t>
            </a: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결과가 달라지는 것을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확인해보기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부분은 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가지 방법 모두 동일한 방법으로 수행</a:t>
            </a:r>
            <a:r>
              <a:rPr lang="en-US" altLang="ko-KR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아래 프롬프트는 자료 </a:t>
            </a:r>
            <a:r>
              <a:rPr lang="ko-KR" altLang="en-US" sz="1400" b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청크와</a:t>
            </a:r>
            <a:r>
              <a:rPr lang="ko-KR" altLang="en-US" sz="1400" b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동일한 단어 사용하지 않고 유사한 의미를 가진 단어를 사용한 질문을 던짐</a:t>
            </a:r>
            <a:endParaRPr lang="en-US" altLang="ko-KR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>
              <a:lnSpc>
                <a:spcPct val="13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lang="ko-KR" altLang="en-US" sz="140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 가량 소요</a:t>
            </a:r>
            <a:endParaRPr lang="ko-KR" altLang="en-US" sz="1400" b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4206</Words>
  <Application>Microsoft Office PowerPoint</Application>
  <PresentationFormat>와이드스크린</PresentationFormat>
  <Paragraphs>401</Paragraphs>
  <Slides>31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Malgun 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think</cp:lastModifiedBy>
  <cp:revision>6</cp:revision>
  <dcterms:created xsi:type="dcterms:W3CDTF">2026-09-18T04:35:32Z</dcterms:created>
  <dcterms:modified xsi:type="dcterms:W3CDTF">2026-09-20T14:27:40Z</dcterms:modified>
</cp:coreProperties>
</file>